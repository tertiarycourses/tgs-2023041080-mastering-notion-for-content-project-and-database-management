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c:ser>
          <c:idx val="0"/>
          <c:order val="0"/>
          <c:tx>
            <c:strRef>
              <c:f>Sheet1!$B$1</c:f>
              <c:strCache>
                <c:ptCount val="1"/>
                <c:pt idx="0">
                  <c:v>Items</c:v>
                </c:pt>
              </c:strCache>
            </c:strRef>
          </c:tx>
          <c:dPt>
            <c:idx val="0"/>
            <c:spPr>
              <a:solidFill>
                <a:srgbClr val="1F6FEB"/>
              </a:solidFill>
            </c:spPr>
          </c:dPt>
          <c:dPt>
            <c:idx val="1"/>
            <c:spPr>
              <a:solidFill>
                <a:srgbClr val="10B981"/>
              </a:solidFill>
            </c:spPr>
          </c:dPt>
          <c:dPt>
            <c:idx val="2"/>
            <c:spPr>
              <a:solidFill>
                <a:srgbClr val="7C3AED"/>
              </a:solidFill>
            </c:spPr>
          </c:dPt>
          <c:dPt>
            <c:idx val="3"/>
            <c:spPr>
              <a:solidFill>
                <a:srgbClr val="F59E0B"/>
              </a:solidFill>
            </c:spPr>
          </c:dPt>
          <c:dPt>
            <c:idx val="4"/>
            <c:spPr>
              <a:solidFill>
                <a:srgbClr val="DC2626"/>
              </a:solidFill>
            </c:spPr>
          </c:dPt>
          <c:cat>
            <c:strRef>
              <c:f>Sheet1!$A$2:$A$6</c:f>
              <c:strCache>
                <c:ptCount val="5"/>
                <c:pt idx="0">
                  <c:v>Published</c:v>
                </c:pt>
                <c:pt idx="1">
                  <c:v>Scheduled</c:v>
                </c:pt>
                <c:pt idx="2">
                  <c:v>In Review</c:v>
                </c:pt>
                <c:pt idx="3">
                  <c:v>Draft</c:v>
                </c:pt>
                <c:pt idx="4">
                  <c:v>Idea</c:v>
                </c:pt>
              </c:strCache>
            </c:strRef>
          </c:cat>
          <c:val>
            <c:numRef>
              <c:f>Sheet1!$B$2:$B$6</c:f>
              <c:numCache>
                <c:formatCode>General</c:formatCode>
                <c:ptCount val="5"/>
                <c:pt idx="0">
                  <c:v>14</c:v>
                </c:pt>
                <c:pt idx="1">
                  <c:v>6</c:v>
                </c:pt>
                <c:pt idx="2">
                  <c:v>5</c:v>
                </c:pt>
                <c:pt idx="3">
                  <c:v>7</c:v>
                </c:pt>
                <c:pt idx="4">
                  <c:v>4</c:v>
                </c:pt>
              </c:numCache>
            </c:numRef>
          </c:val>
        </c:ser>
        <c:dLbls>
          <c:numFmt formatCode="0%" sourceLinked="0"/>
          <c:txPr>
            <a:bodyPr/>
            <a:lstStyle/>
            <a:p>
              <a:pPr>
                <a:defRPr sz="900">
                  <a:solidFill>
                    <a:srgbClr val="5B6372"/>
                  </a:solidFill>
                </a:defRPr>
              </a:pPr>
            </a:p>
          </c:txPr>
          <c:showLegendKey val="0"/>
          <c:showVal val="0"/>
          <c:showCatName val="0"/>
          <c:showSerName val="0"/>
          <c:showPercent val="1"/>
          <c:showBubbleSize val="0"/>
          <c:showLeaderLines val="1"/>
        </c:dLbls>
        <c:firstSliceAng val="0"/>
        <c:holeSize val="50"/>
      </c:doughnutChart>
    </c:plotArea>
    <c:legend>
      <c:legendPos/>
      <c:layout/>
      <c:overlay val="0"/>
      <c:txPr>
        <a:bodyPr/>
        <a:lstStyle/>
        <a:p>
          <a:pPr>
            <a:defRPr sz="1000"/>
          </a:pPr>
        </a:p>
      </c:txPr>
    </c:legend>
    <c:plotVisOnly val="1"/>
    <c:dispBlanksAs val="gap"/>
    <c:showDLblsOverMax val="0"/>
  </c:chart>
  <c:txPr>
    <a:bodyPr/>
    <a:lstStyle/>
    <a:p>
      <a:pPr>
        <a:defRPr sz="1100">
          <a:latin typeface="Arial"/>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Page history (days)</c:v>
                </c:pt>
              </c:strCache>
            </c:strRef>
          </c:tx>
          <c:spPr>
            <a:solidFill>
              <a:srgbClr val="1F6FEB"/>
            </a:solidFill>
            <a:ln>
              <a:noFill/>
            </a:ln>
          </c:spPr>
          <c:cat>
            <c:strRef>
              <c:f>Sheet1!$A$2:$A$5</c:f>
              <c:strCache>
                <c:ptCount val="4"/>
                <c:pt idx="0">
                  <c:v>Free</c:v>
                </c:pt>
                <c:pt idx="1">
                  <c:v>Plus</c:v>
                </c:pt>
                <c:pt idx="2">
                  <c:v>Business</c:v>
                </c:pt>
                <c:pt idx="3">
                  <c:v>Enterprise</c:v>
                </c:pt>
              </c:strCache>
            </c:strRef>
          </c:cat>
          <c:val>
            <c:numRef>
              <c:f>Sheet1!$B$2:$B$5</c:f>
              <c:numCache>
                <c:formatCode>General</c:formatCode>
                <c:ptCount val="4"/>
                <c:pt idx="0">
                  <c:v>7</c:v>
                </c:pt>
                <c:pt idx="1">
                  <c:v>30</c:v>
                </c:pt>
                <c:pt idx="2">
                  <c:v>90</c:v>
                </c:pt>
                <c:pt idx="3">
                  <c:v>365</c:v>
                </c:pt>
              </c:numCache>
            </c:numRef>
          </c:val>
        </c:ser>
        <c:ser>
          <c:idx val="1"/>
          <c:order val="1"/>
          <c:tx>
            <c:strRef>
              <c:f>Sheet1!$C$1</c:f>
              <c:strCache>
                <c:ptCount val="1"/>
                <c:pt idx="0">
                  <c:v>Guests</c:v>
                </c:pt>
              </c:strCache>
            </c:strRef>
          </c:tx>
          <c:spPr>
            <a:solidFill>
              <a:srgbClr val="10B981"/>
            </a:solidFill>
            <a:ln>
              <a:noFill/>
            </a:ln>
          </c:spPr>
          <c:cat>
            <c:strRef>
              <c:f>Sheet1!$A$2:$A$5</c:f>
              <c:strCache>
                <c:ptCount val="4"/>
                <c:pt idx="0">
                  <c:v>Free</c:v>
                </c:pt>
                <c:pt idx="1">
                  <c:v>Plus</c:v>
                </c:pt>
                <c:pt idx="2">
                  <c:v>Business</c:v>
                </c:pt>
                <c:pt idx="3">
                  <c:v>Enterprise</c:v>
                </c:pt>
              </c:strCache>
            </c:strRef>
          </c:cat>
          <c:val>
            <c:numRef>
              <c:f>Sheet1!$C$2:$C$5</c:f>
              <c:numCache>
                <c:formatCode>General</c:formatCode>
                <c:ptCount val="4"/>
                <c:pt idx="0">
                  <c:v>10</c:v>
                </c:pt>
                <c:pt idx="1">
                  <c:v>100</c:v>
                </c:pt>
                <c:pt idx="2">
                  <c:v>250</c:v>
                </c:pt>
                <c:pt idx="3">
                  <c:v>250</c:v>
                </c:pt>
              </c:numCache>
            </c:numRef>
          </c:val>
        </c:ser>
        <c:dLbls>
          <c:numFmt formatCode="0" sourceLinked="0"/>
          <c:txPr>
            <a:bodyPr/>
            <a:lstStyle/>
            <a:p>
              <a:pPr>
                <a:defRPr sz="900">
                  <a:solidFill>
                    <a:srgbClr val="5B6372"/>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E2E8F0"/>
            </a:solidFill>
          </a:ln>
        </c:spPr>
        <c:txPr>
          <a:bodyPr/>
          <a:lstStyle/>
          <a:p>
            <a:pPr>
              <a:defRPr sz="1000">
                <a:solidFill>
                  <a:srgbClr val="5B6372"/>
                </a:solidFill>
                <a:latin typeface="Arial"/>
              </a:defRPr>
            </a:pPr>
          </a:p>
        </c:txPr>
        <c:crossAx val="-2113994440"/>
        <c:crosses val="autoZero"/>
        <c:auto val="1"/>
        <c:lblAlgn val="ctr"/>
        <c:lblOffset val="100"/>
        <c:noMultiLvlLbl val="0"/>
      </c:catAx>
      <c:valAx>
        <c:axId val="-2113994440"/>
        <c:scaling/>
        <c:delete val="0"/>
        <c:axPos val="l"/>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Views</c:v>
                </c:pt>
              </c:strCache>
            </c:strRef>
          </c:tx>
          <c:spPr>
            <a:ln w="31750">
              <a:solidFill>
                <a:srgbClr val="1F6FEB"/>
              </a:solidFill>
            </a:ln>
          </c:spPr>
          <c:marker>
            <c:spPr>
              <a:solidFill>
                <a:srgbClr val="1F6FEB"/>
              </a:solidFill>
              <a:ln>
                <a:solidFill>
                  <a:srgbClr val="1F6FEB"/>
                </a:solidFill>
              </a:ln>
            </c:spPr>
          </c:marker>
          <c:cat>
            <c:strRef>
              <c:f>Sheet1!$A$2:$A$13</c:f>
              <c:strCache>
                <c:ptCount val="12"/>
                <c:pt idx="0">
                  <c:v>W1</c:v>
                </c:pt>
                <c:pt idx="1">
                  <c:v>W2</c:v>
                </c:pt>
                <c:pt idx="2">
                  <c:v>W3</c:v>
                </c:pt>
                <c:pt idx="3">
                  <c:v>W4</c:v>
                </c:pt>
                <c:pt idx="4">
                  <c:v>W5</c:v>
                </c:pt>
                <c:pt idx="5">
                  <c:v>W6</c:v>
                </c:pt>
                <c:pt idx="6">
                  <c:v>W7</c:v>
                </c:pt>
                <c:pt idx="7">
                  <c:v>W8</c:v>
                </c:pt>
                <c:pt idx="8">
                  <c:v>W9</c:v>
                </c:pt>
                <c:pt idx="9">
                  <c:v>W10</c:v>
                </c:pt>
                <c:pt idx="10">
                  <c:v>W11</c:v>
                </c:pt>
                <c:pt idx="11">
                  <c:v>W12</c:v>
                </c:pt>
              </c:strCache>
            </c:strRef>
          </c:cat>
          <c:val>
            <c:numRef>
              <c:f>Sheet1!$B$2:$B$13</c:f>
              <c:numCache>
                <c:formatCode>General</c:formatCode>
                <c:ptCount val="12"/>
                <c:pt idx="0">
                  <c:v>310</c:v>
                </c:pt>
                <c:pt idx="1">
                  <c:v>342</c:v>
                </c:pt>
                <c:pt idx="2">
                  <c:v>365</c:v>
                </c:pt>
                <c:pt idx="3">
                  <c:v>401</c:v>
                </c:pt>
                <c:pt idx="4">
                  <c:v>398</c:v>
                </c:pt>
                <c:pt idx="5">
                  <c:v>452</c:v>
                </c:pt>
                <c:pt idx="6">
                  <c:v>488</c:v>
                </c:pt>
                <c:pt idx="7">
                  <c:v>530</c:v>
                </c:pt>
                <c:pt idx="8">
                  <c:v>515</c:v>
                </c:pt>
                <c:pt idx="9">
                  <c:v>602</c:v>
                </c:pt>
                <c:pt idx="10">
                  <c:v>648</c:v>
                </c:pt>
                <c:pt idx="11">
                  <c:v>690</c:v>
                </c:pt>
              </c:numCache>
            </c:numRef>
          </c:val>
          <c:smooth val="0"/>
        </c:ser>
        <c:ser>
          <c:idx val="1"/>
          <c:order val="1"/>
          <c:tx>
            <c:strRef>
              <c:f>Sheet1!$C$1</c:f>
              <c:strCache>
                <c:ptCount val="1"/>
                <c:pt idx="0">
                  <c:v>Unique visitors</c:v>
                </c:pt>
              </c:strCache>
            </c:strRef>
          </c:tx>
          <c:spPr>
            <a:ln w="31750">
              <a:solidFill>
                <a:srgbClr val="10B981"/>
              </a:solidFill>
            </a:ln>
          </c:spPr>
          <c:marker>
            <c:spPr>
              <a:solidFill>
                <a:srgbClr val="10B981"/>
              </a:solidFill>
              <a:ln>
                <a:solidFill>
                  <a:srgbClr val="10B981"/>
                </a:solidFill>
              </a:ln>
            </c:spPr>
          </c:marker>
          <c:cat>
            <c:strRef>
              <c:f>Sheet1!$A$2:$A$13</c:f>
              <c:strCache>
                <c:ptCount val="12"/>
                <c:pt idx="0">
                  <c:v>W1</c:v>
                </c:pt>
                <c:pt idx="1">
                  <c:v>W2</c:v>
                </c:pt>
                <c:pt idx="2">
                  <c:v>W3</c:v>
                </c:pt>
                <c:pt idx="3">
                  <c:v>W4</c:v>
                </c:pt>
                <c:pt idx="4">
                  <c:v>W5</c:v>
                </c:pt>
                <c:pt idx="5">
                  <c:v>W6</c:v>
                </c:pt>
                <c:pt idx="6">
                  <c:v>W7</c:v>
                </c:pt>
                <c:pt idx="7">
                  <c:v>W8</c:v>
                </c:pt>
                <c:pt idx="8">
                  <c:v>W9</c:v>
                </c:pt>
                <c:pt idx="9">
                  <c:v>W10</c:v>
                </c:pt>
                <c:pt idx="10">
                  <c:v>W11</c:v>
                </c:pt>
                <c:pt idx="11">
                  <c:v>W12</c:v>
                </c:pt>
              </c:strCache>
            </c:strRef>
          </c:cat>
          <c:val>
            <c:numRef>
              <c:f>Sheet1!$C$2:$C$13</c:f>
              <c:numCache>
                <c:formatCode>General</c:formatCode>
                <c:ptCount val="12"/>
                <c:pt idx="0">
                  <c:v>180</c:v>
                </c:pt>
                <c:pt idx="1">
                  <c:v>196</c:v>
                </c:pt>
                <c:pt idx="2">
                  <c:v>205</c:v>
                </c:pt>
                <c:pt idx="3">
                  <c:v>226</c:v>
                </c:pt>
                <c:pt idx="4">
                  <c:v>230</c:v>
                </c:pt>
                <c:pt idx="5">
                  <c:v>260</c:v>
                </c:pt>
                <c:pt idx="6">
                  <c:v>281</c:v>
                </c:pt>
                <c:pt idx="7">
                  <c:v>305</c:v>
                </c:pt>
                <c:pt idx="8">
                  <c:v>298</c:v>
                </c:pt>
                <c:pt idx="9">
                  <c:v>340</c:v>
                </c:pt>
                <c:pt idx="10">
                  <c:v>372</c:v>
                </c:pt>
                <c:pt idx="11">
                  <c:v>395</c:v>
                </c:pt>
              </c:numCache>
            </c:numRef>
          </c:val>
          <c:smooth val="0"/>
        </c:ser>
        <c:dLbls>
          <c:numFmt formatCode="0" sourceLinked="0"/>
          <c:txPr>
            <a:bodyPr/>
            <a:lstStyle/>
            <a:p>
              <a:pPr>
                <a:defRPr sz="900">
                  <a:solidFill>
                    <a:srgbClr val="5B6372"/>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E2E8F0"/>
            </a:solidFill>
          </a:ln>
        </c:spPr>
        <c:txPr>
          <a:bodyPr/>
          <a:lstStyle/>
          <a:p>
            <a:pPr>
              <a:defRPr sz="1000">
                <a:solidFill>
                  <a:srgbClr val="5B6372"/>
                </a:solidFill>
                <a:latin typeface="Arial"/>
              </a:defRPr>
            </a:pPr>
          </a:p>
        </c:txPr>
        <c:crossAx val="2140495176"/>
        <c:crosses val="autoZero"/>
        <c:auto val="1"/>
        <c:lblAlgn val="ctr"/>
        <c:lblOffset val="100"/>
        <c:noMultiLvlLbl val="0"/>
      </c:catAx>
      <c:valAx>
        <c:axId val="2140495176"/>
        <c:scaling/>
        <c:delete val="0"/>
        <c:axPos val="l"/>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100">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Negative</c:v>
                </c:pt>
              </c:strCache>
            </c:strRef>
          </c:tx>
          <c:spPr>
            <a:solidFill>
              <a:srgbClr val="1F6FEB"/>
            </a:solidFill>
            <a:ln>
              <a:noFill/>
            </a:ln>
          </c:spPr>
          <c:cat>
            <c:strRef>
              <c:f>Sheet1!$A$2:$A$6</c:f>
              <c:strCache>
                <c:ptCount val="5"/>
                <c:pt idx="0">
                  <c:v>Navigation</c:v>
                </c:pt>
                <c:pt idx="1">
                  <c:v>Search</c:v>
                </c:pt>
                <c:pt idx="2">
                  <c:v>Content clarity</c:v>
                </c:pt>
                <c:pt idx="3">
                  <c:v>Missing topic</c:v>
                </c:pt>
                <c:pt idx="4">
                  <c:v>Speed</c:v>
                </c:pt>
              </c:strCache>
            </c:strRef>
          </c:cat>
          <c:val>
            <c:numRef>
              <c:f>Sheet1!$B$2:$B$6</c:f>
              <c:numCache>
                <c:formatCode>General</c:formatCode>
                <c:ptCount val="5"/>
                <c:pt idx="0">
                  <c:v>9</c:v>
                </c:pt>
                <c:pt idx="1">
                  <c:v>6</c:v>
                </c:pt>
                <c:pt idx="2">
                  <c:v>5</c:v>
                </c:pt>
                <c:pt idx="3">
                  <c:v>7</c:v>
                </c:pt>
                <c:pt idx="4">
                  <c:v>2</c:v>
                </c:pt>
              </c:numCache>
            </c:numRef>
          </c:val>
        </c:ser>
        <c:ser>
          <c:idx val="1"/>
          <c:order val="1"/>
          <c:tx>
            <c:strRef>
              <c:f>Sheet1!$C$1</c:f>
              <c:strCache>
                <c:ptCount val="1"/>
                <c:pt idx="0">
                  <c:v>Neutral</c:v>
                </c:pt>
              </c:strCache>
            </c:strRef>
          </c:tx>
          <c:spPr>
            <a:solidFill>
              <a:srgbClr val="10B981"/>
            </a:solidFill>
            <a:ln>
              <a:noFill/>
            </a:ln>
          </c:spPr>
          <c:cat>
            <c:strRef>
              <c:f>Sheet1!$A$2:$A$6</c:f>
              <c:strCache>
                <c:ptCount val="5"/>
                <c:pt idx="0">
                  <c:v>Navigation</c:v>
                </c:pt>
                <c:pt idx="1">
                  <c:v>Search</c:v>
                </c:pt>
                <c:pt idx="2">
                  <c:v>Content clarity</c:v>
                </c:pt>
                <c:pt idx="3">
                  <c:v>Missing topic</c:v>
                </c:pt>
                <c:pt idx="4">
                  <c:v>Speed</c:v>
                </c:pt>
              </c:strCache>
            </c:strRef>
          </c:cat>
          <c:val>
            <c:numRef>
              <c:f>Sheet1!$C$2:$C$6</c:f>
              <c:numCache>
                <c:formatCode>General</c:formatCode>
                <c:ptCount val="5"/>
                <c:pt idx="0">
                  <c:v>3</c:v>
                </c:pt>
                <c:pt idx="1">
                  <c:v>4</c:v>
                </c:pt>
                <c:pt idx="2">
                  <c:v>3</c:v>
                </c:pt>
                <c:pt idx="3">
                  <c:v>2</c:v>
                </c:pt>
                <c:pt idx="4">
                  <c:v>3</c:v>
                </c:pt>
              </c:numCache>
            </c:numRef>
          </c:val>
        </c:ser>
        <c:ser>
          <c:idx val="2"/>
          <c:order val="2"/>
          <c:tx>
            <c:strRef>
              <c:f>Sheet1!$D$1</c:f>
              <c:strCache>
                <c:ptCount val="1"/>
                <c:pt idx="0">
                  <c:v>Positive</c:v>
                </c:pt>
              </c:strCache>
            </c:strRef>
          </c:tx>
          <c:spPr>
            <a:solidFill>
              <a:srgbClr val="7C3AED"/>
            </a:solidFill>
            <a:ln>
              <a:noFill/>
            </a:ln>
          </c:spPr>
          <c:cat>
            <c:strRef>
              <c:f>Sheet1!$A$2:$A$6</c:f>
              <c:strCache>
                <c:ptCount val="5"/>
                <c:pt idx="0">
                  <c:v>Navigation</c:v>
                </c:pt>
                <c:pt idx="1">
                  <c:v>Search</c:v>
                </c:pt>
                <c:pt idx="2">
                  <c:v>Content clarity</c:v>
                </c:pt>
                <c:pt idx="3">
                  <c:v>Missing topic</c:v>
                </c:pt>
                <c:pt idx="4">
                  <c:v>Speed</c:v>
                </c:pt>
              </c:strCache>
            </c:strRef>
          </c:cat>
          <c:val>
            <c:numRef>
              <c:f>Sheet1!$D$2:$D$6</c:f>
              <c:numCache>
                <c:formatCode>General</c:formatCode>
                <c:ptCount val="5"/>
                <c:pt idx="0">
                  <c:v>2</c:v>
                </c:pt>
                <c:pt idx="1">
                  <c:v>3</c:v>
                </c:pt>
                <c:pt idx="2">
                  <c:v>6</c:v>
                </c:pt>
                <c:pt idx="3">
                  <c:v>1</c:v>
                </c:pt>
                <c:pt idx="4">
                  <c:v>4</c:v>
                </c:pt>
              </c:numCache>
            </c:numRef>
          </c:val>
        </c:ser>
        <c:dLbls>
          <c:numFmt formatCode="0" sourceLinked="0"/>
          <c:txPr>
            <a:bodyPr/>
            <a:lstStyle/>
            <a:p>
              <a:pPr>
                <a:defRPr sz="900">
                  <a:solidFill>
                    <a:srgbClr val="5B6372"/>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E2E8F0"/>
            </a:solidFill>
          </a:ln>
        </c:spPr>
        <c:txPr>
          <a:bodyPr/>
          <a:lstStyle/>
          <a:p>
            <a:pPr>
              <a:defRPr sz="1000">
                <a:solidFill>
                  <a:srgbClr val="5B6372"/>
                </a:solidFill>
                <a:latin typeface="Arial"/>
              </a:defRPr>
            </a:pPr>
          </a:p>
        </c:txPr>
        <c:crossAx val="-2113994440"/>
        <c:crosses val="autoZero"/>
        <c:auto val="1"/>
        <c:lblAlgn val="ctr"/>
        <c:lblOffset val="100"/>
        <c:noMultiLvlLbl val="0"/>
      </c:catAx>
      <c:valAx>
        <c:axId val="-2113994440"/>
        <c:scaling/>
        <c:delete val="0"/>
        <c:axPos val="l"/>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3041080-Mastering-Notion-for-Content-Project-and-Database-Managemen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46920" y="658368"/>
            <a:ext cx="1828800" cy="91440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749808"/>
            <a:ext cx="1828800" cy="457200"/>
          </a:xfrm>
          <a:prstGeom prst="rect">
            <a:avLst/>
          </a:prstGeom>
          <a:noFill/>
        </p:spPr>
        <p:txBody>
          <a:bodyPr wrap="square" anchor="t">
            <a:spAutoFit/>
          </a:bodyPr>
          <a:lstStyle/>
          <a:p>
            <a:pPr algn="ctr">
              <a:spcAft>
                <a:spcPts val="400"/>
              </a:spcAft>
            </a:pPr>
            <a:r>
              <a:rPr sz="1900" b="1">
                <a:solidFill>
                  <a:srgbClr val="FFFFFF"/>
                </a:solidFill>
                <a:latin typeface="Arial"/>
              </a:rPr>
              <a:t>NOTION</a:t>
            </a:r>
          </a:p>
        </p:txBody>
      </p:sp>
      <p:sp>
        <p:nvSpPr>
          <p:cNvPr id="8" name="TextBox 7"/>
          <p:cNvSpPr txBox="1"/>
          <p:nvPr/>
        </p:nvSpPr>
        <p:spPr>
          <a:xfrm>
            <a:off x="9646920" y="1170432"/>
            <a:ext cx="1828800" cy="365760"/>
          </a:xfrm>
          <a:prstGeom prst="rect">
            <a:avLst/>
          </a:prstGeom>
          <a:noFill/>
        </p:spPr>
        <p:txBody>
          <a:bodyPr wrap="square" anchor="t">
            <a:spAutoFit/>
          </a:bodyPr>
          <a:lstStyle/>
          <a:p>
            <a:pPr algn="ctr">
              <a:spcAft>
                <a:spcPts val="400"/>
              </a:spcAft>
            </a:pPr>
            <a:r>
              <a:rPr sz="800" b="1">
                <a:solidFill>
                  <a:srgbClr val="FFFFFF"/>
                </a:solidFill>
                <a:latin typeface="Arial"/>
              </a:rPr>
              <a:t>CONTENT · PROJECTS · DATA</a:t>
            </a:r>
          </a:p>
        </p:txBody>
      </p:sp>
      <p:sp>
        <p:nvSpPr>
          <p:cNvPr id="9" name="TextBox 8"/>
          <p:cNvSpPr txBox="1"/>
          <p:nvPr/>
        </p:nvSpPr>
        <p:spPr>
          <a:xfrm>
            <a:off x="822960" y="205740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514600"/>
            <a:ext cx="10607040" cy="1828800"/>
          </a:xfrm>
          <a:prstGeom prst="rect">
            <a:avLst/>
          </a:prstGeom>
          <a:noFill/>
        </p:spPr>
        <p:txBody>
          <a:bodyPr wrap="square" anchor="t">
            <a:spAutoFit/>
          </a:bodyPr>
          <a:lstStyle/>
          <a:p>
            <a:pPr algn="l">
              <a:spcAft>
                <a:spcPts val="400"/>
              </a:spcAft>
            </a:pPr>
            <a:r>
              <a:rPr sz="3700" b="1">
                <a:solidFill>
                  <a:srgbClr val="161B26"/>
                </a:solidFill>
                <a:latin typeface="Arial"/>
              </a:rPr>
              <a:t>Mastering Notion for Content, Project, and Database Management</a:t>
            </a:r>
          </a:p>
        </p:txBody>
      </p:sp>
      <p:sp>
        <p:nvSpPr>
          <p:cNvPr id="11" name="Rectangle 10"/>
          <p:cNvSpPr/>
          <p:nvPr/>
        </p:nvSpPr>
        <p:spPr>
          <a:xfrm>
            <a:off x="841248" y="443484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7091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TGS-2023041080  ·  2-Day Hands-On Training (14 h training + 2 h assessment)</a:t>
            </a:r>
          </a:p>
          <a:p>
            <a:pPr algn="l">
              <a:spcAft>
                <a:spcPts val="600"/>
              </a:spcAft>
            </a:pPr>
            <a:r>
              <a:rPr sz="1400" b="0">
                <a:solidFill>
                  <a:srgbClr val="5B6372"/>
                </a:solidFill>
                <a:latin typeface="Arial"/>
              </a:rPr>
              <a:t>Skills Framework TSC: Content Management (ICT-SNM-3026-1.1)</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v6  ·  5 September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23544" y="361188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2" name="Rectangle 11"/>
          <p:cNvSpPr/>
          <p:nvPr/>
        </p:nvSpPr>
        <p:spPr>
          <a:xfrm>
            <a:off x="3257550" y="3650285"/>
            <a:ext cx="80468" cy="603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3338018" y="3618098"/>
            <a:ext cx="120700" cy="124724"/>
          </a:xfrm>
          <a:custGeom>
            <a:avLst/>
            <a:gdLst/>
            <a:ahLst/>
            <a:cxnLst/>
            <a:rect l="l" t="t" r="r" b="b"/>
            <a:pathLst>
              <a:path w="120700" h="124724">
                <a:moveTo>
                  <a:pt x="0" y="0"/>
                </a:moveTo>
                <a:lnTo>
                  <a:pt x="120700" y="62362"/>
                </a:lnTo>
                <a:lnTo>
                  <a:pt x="0" y="124724"/>
                </a:lnTo>
                <a:close/>
              </a:path>
            </a:pathLst>
          </a:cu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13582"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51401"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51401"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8" name="TextBox 17"/>
          <p:cNvSpPr txBox="1"/>
          <p:nvPr/>
        </p:nvSpPr>
        <p:spPr>
          <a:xfrm>
            <a:off x="3659886" y="361188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Scan it with your phone camera (Singpass app)</a:t>
            </a:r>
          </a:p>
        </p:txBody>
      </p:sp>
      <p:sp>
        <p:nvSpPr>
          <p:cNvPr id="19" name="Rectangle 18"/>
          <p:cNvSpPr/>
          <p:nvPr/>
        </p:nvSpPr>
        <p:spPr>
          <a:xfrm>
            <a:off x="5993892" y="3650285"/>
            <a:ext cx="80468" cy="603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6074360" y="3618098"/>
            <a:ext cx="120700" cy="124724"/>
          </a:xfrm>
          <a:custGeom>
            <a:avLst/>
            <a:gdLst/>
            <a:ahLst/>
            <a:cxnLst/>
            <a:rect l="l" t="t" r="r" b="b"/>
            <a:pathLst>
              <a:path w="120700" h="124724">
                <a:moveTo>
                  <a:pt x="0" y="0"/>
                </a:moveTo>
                <a:lnTo>
                  <a:pt x="120700" y="62362"/>
                </a:lnTo>
                <a:lnTo>
                  <a:pt x="0" y="124724"/>
                </a:lnTo>
                <a:close/>
              </a:path>
            </a:pathLst>
          </a:cu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49924"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087743"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87743"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5" name="TextBox 24"/>
          <p:cNvSpPr txBox="1"/>
          <p:nvPr/>
        </p:nvSpPr>
        <p:spPr>
          <a:xfrm>
            <a:off x="6396228" y="361188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Submit your attendance</a:t>
            </a:r>
          </a:p>
        </p:txBody>
      </p:sp>
      <p:sp>
        <p:nvSpPr>
          <p:cNvPr id="26" name="Rectangle 25"/>
          <p:cNvSpPr/>
          <p:nvPr/>
        </p:nvSpPr>
        <p:spPr>
          <a:xfrm>
            <a:off x="8730234" y="3650285"/>
            <a:ext cx="80468" cy="603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8810702" y="3618098"/>
            <a:ext cx="120700" cy="124724"/>
          </a:xfrm>
          <a:custGeom>
            <a:avLst/>
            <a:gdLst/>
            <a:ahLst/>
            <a:cxnLst/>
            <a:rect l="l" t="t" r="r" b="b"/>
            <a:pathLst>
              <a:path w="120700" h="124724">
                <a:moveTo>
                  <a:pt x="0" y="0"/>
                </a:moveTo>
                <a:lnTo>
                  <a:pt x="120700" y="62362"/>
                </a:lnTo>
                <a:lnTo>
                  <a:pt x="0" y="124724"/>
                </a:lnTo>
                <a:close/>
              </a:path>
            </a:pathLst>
          </a:cu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86266"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24085"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4085"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32" name="TextBox 31"/>
          <p:cNvSpPr txBox="1"/>
          <p:nvPr/>
        </p:nvSpPr>
        <p:spPr>
          <a:xfrm>
            <a:off x="9132570" y="361188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 session</a:t>
            </a:r>
          </a:p>
        </p:txBody>
      </p:sp>
      <p:sp>
        <p:nvSpPr>
          <p:cNvPr id="33" name="TextBox 32"/>
          <p:cNvSpPr txBox="1"/>
          <p:nvPr/>
        </p:nvSpPr>
        <p:spPr>
          <a:xfrm>
            <a:off x="777240" y="5394960"/>
            <a:ext cx="10698480" cy="640080"/>
          </a:xfrm>
          <a:prstGeom prst="rect">
            <a:avLst/>
          </a:prstGeom>
          <a:noFill/>
        </p:spPr>
        <p:txBody>
          <a:bodyPr wrap="square" anchor="t">
            <a:spAutoFit/>
          </a:bodyPr>
          <a:lstStyle/>
          <a:p>
            <a:pPr algn="ctr">
              <a:spcAft>
                <a:spcPts val="400"/>
              </a:spcAft>
            </a:pPr>
            <a:r>
              <a:rPr sz="1300" b="0">
                <a:solidFill>
                  <a:srgbClr val="5B6372"/>
                </a:solidFill>
                <a:latin typeface="Arial"/>
              </a:rPr>
              <a:t>Attendance is taken digitally for every session of a WSQ-funded course; a minimum of 75% attendance is required for assessment and funding.</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t>
            </a:r>
          </a:p>
        </p:txBody>
      </p:sp>
      <p:sp>
        <p:nvSpPr>
          <p:cNvPr id="11" name="TextBox 10"/>
          <p:cNvSpPr txBox="1"/>
          <p:nvPr/>
        </p:nvSpPr>
        <p:spPr>
          <a:xfrm>
            <a:off x="914400" y="4114800"/>
            <a:ext cx="3063240" cy="548640"/>
          </a:xfrm>
          <a:prstGeom prst="rect">
            <a:avLst/>
          </a:prstGeom>
          <a:noFill/>
        </p:spPr>
        <p:txBody>
          <a:bodyPr wrap="square" anchor="t">
            <a:spAutoFit/>
          </a:bodyPr>
          <a:lstStyle/>
          <a:p>
            <a:pPr algn="ctr">
              <a:spcAft>
                <a:spcPts val="400"/>
              </a:spcAft>
            </a:pPr>
            <a:r>
              <a:rPr sz="2000" b="1">
                <a:solidFill>
                  <a:srgbClr val="161B26"/>
                </a:solidFill>
                <a:latin typeface="Arial"/>
              </a:rPr>
              <a:t>Your Trainer</a:t>
            </a:r>
          </a:p>
        </p:txBody>
      </p:sp>
      <p:sp>
        <p:nvSpPr>
          <p:cNvPr id="12" name="TextBox 11"/>
          <p:cNvSpPr txBox="1"/>
          <p:nvPr/>
        </p:nvSpPr>
        <p:spPr>
          <a:xfrm>
            <a:off x="914400" y="4709160"/>
            <a:ext cx="3063240" cy="1097280"/>
          </a:xfrm>
          <a:prstGeom prst="rect">
            <a:avLst/>
          </a:prstGeom>
          <a:noFill/>
        </p:spPr>
        <p:txBody>
          <a:bodyPr wrap="square" anchor="t">
            <a:spAutoFit/>
          </a:bodyPr>
          <a:lstStyle/>
          <a:p>
            <a:pPr algn="ctr">
              <a:spcAft>
                <a:spcPts val="400"/>
              </a:spcAft>
            </a:pPr>
            <a:r>
              <a:rPr sz="12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AA</a:t>
            </a:r>
          </a:p>
        </p:txBody>
      </p:sp>
      <p:sp>
        <p:nvSpPr>
          <p:cNvPr id="11" name="TextBox 10"/>
          <p:cNvSpPr txBox="1"/>
          <p:nvPr/>
        </p:nvSpPr>
        <p:spPr>
          <a:xfrm>
            <a:off x="914400" y="4114800"/>
            <a:ext cx="3063240" cy="548640"/>
          </a:xfrm>
          <a:prstGeom prst="rect">
            <a:avLst/>
          </a:prstGeom>
          <a:noFill/>
        </p:spPr>
        <p:txBody>
          <a:bodyPr wrap="square" anchor="t">
            <a:spAutoFit/>
          </a:bodyPr>
          <a:lstStyle/>
          <a:p>
            <a:pPr algn="ctr">
              <a:spcAft>
                <a:spcPts val="400"/>
              </a:spcAft>
            </a:pPr>
            <a:r>
              <a:rPr sz="2000" b="1">
                <a:solidFill>
                  <a:srgbClr val="161B26"/>
                </a:solidFill>
                <a:latin typeface="Arial"/>
              </a:rPr>
              <a:t>Dr. Alfred Ang</a:t>
            </a:r>
          </a:p>
        </p:txBody>
      </p:sp>
      <p:sp>
        <p:nvSpPr>
          <p:cNvPr id="12" name="TextBox 11"/>
          <p:cNvSpPr txBox="1"/>
          <p:nvPr/>
        </p:nvSpPr>
        <p:spPr>
          <a:xfrm>
            <a:off x="914400" y="4709160"/>
            <a:ext cx="3063240" cy="1097280"/>
          </a:xfrm>
          <a:prstGeom prst="rect">
            <a:avLst/>
          </a:prstGeom>
          <a:noFill/>
        </p:spPr>
        <p:txBody>
          <a:bodyPr wrap="square" anchor="t">
            <a:spAutoFit/>
          </a:bodyPr>
          <a:lstStyle/>
          <a:p>
            <a:pPr algn="ctr">
              <a:spcAft>
                <a:spcPts val="400"/>
              </a:spcAft>
            </a:pPr>
            <a:r>
              <a:rPr sz="12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000" b="1">
                <a:solidFill>
                  <a:srgbClr val="10B981"/>
                </a:solidFill>
                <a:latin typeface="Arial"/>
              </a:rPr>
              <a:t>BACKGROUND</a:t>
            </a:r>
          </a:p>
          <a:p>
            <a:pPr algn="l">
              <a:spcAft>
                <a:spcPts val="300"/>
              </a:spcAft>
            </a:pPr>
            <a:r>
              <a:rPr sz="1300" b="0">
                <a:solidFill>
                  <a:srgbClr val="161B26"/>
                </a:solidFill>
                <a:latin typeface="Arial"/>
              </a:rPr>
              <a:t>PhD — 20+ years of industry and training experience in software, data, AI and digital productivity tools.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Notion, Microsoft 365 and Copilot, data analytics, AI and web technologies.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000" b="1">
                <a:solidFill>
                  <a:srgbClr val="F59E0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938528"/>
          </a:xfrm>
          <a:prstGeom prst="rect">
            <a:avLst/>
          </a:prstGeom>
          <a:noFill/>
        </p:spPr>
        <p:txBody>
          <a:bodyPr wrap="square" anchor="ctr">
            <a:spAutoFit/>
          </a:bodyPr>
          <a:lstStyle/>
          <a:p>
            <a:pPr algn="l">
              <a:spcAft>
                <a:spcPts val="200"/>
              </a:spcAft>
            </a:pPr>
            <a:r>
              <a:rPr sz="1600" b="1">
                <a:solidFill>
                  <a:srgbClr val="161B26"/>
                </a:solidFill>
                <a:latin typeface="Arial"/>
              </a:rPr>
              <a:t>Who you are</a:t>
            </a:r>
          </a:p>
          <a:p>
            <a:pPr algn="l">
              <a:spcAft>
                <a:spcPts val="200"/>
              </a:spcAft>
            </a:pPr>
            <a:r>
              <a:rPr sz="1200" b="0">
                <a:solidFill>
                  <a:srgbClr val="5B6372"/>
                </a:solidFill>
                <a:latin typeface="Arial"/>
              </a:rPr>
              <a:t>Your name, your organisation and your role in 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938528"/>
          </a:xfrm>
          <a:prstGeom prst="rect">
            <a:avLst/>
          </a:prstGeom>
          <a:noFill/>
        </p:spPr>
        <p:txBody>
          <a:bodyPr wrap="square" anchor="ctr">
            <a:spAutoFit/>
          </a:bodyPr>
          <a:lstStyle/>
          <a:p>
            <a:pPr algn="l">
              <a:spcAft>
                <a:spcPts val="200"/>
              </a:spcAft>
            </a:pPr>
            <a:r>
              <a:rPr sz="1600" b="1">
                <a:solidFill>
                  <a:srgbClr val="161B26"/>
                </a:solidFill>
                <a:latin typeface="Arial"/>
              </a:rPr>
              <a:t>Your content today</a:t>
            </a:r>
          </a:p>
          <a:p>
            <a:pPr algn="l">
              <a:spcAft>
                <a:spcPts val="200"/>
              </a:spcAft>
            </a:pPr>
            <a:r>
              <a:rPr sz="1200" b="0">
                <a:solidFill>
                  <a:srgbClr val="5B6372"/>
                </a:solidFill>
                <a:latin typeface="Arial"/>
              </a:rPr>
              <a:t>Where your team's documents, projects and data live right now.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78808"/>
            <a:ext cx="4027932" cy="1938528"/>
          </a:xfrm>
          <a:prstGeom prst="rect">
            <a:avLst/>
          </a:prstGeom>
          <a:noFill/>
        </p:spPr>
        <p:txBody>
          <a:bodyPr wrap="square" anchor="ctr">
            <a:spAutoFit/>
          </a:bodyPr>
          <a:lstStyle/>
          <a:p>
            <a:pPr algn="l">
              <a:spcAft>
                <a:spcPts val="200"/>
              </a:spcAft>
            </a:pPr>
            <a:r>
              <a:rPr sz="1600" b="1">
                <a:solidFill>
                  <a:srgbClr val="161B26"/>
                </a:solidFill>
                <a:latin typeface="Arial"/>
              </a:rPr>
              <a:t>Your Notion experience</a:t>
            </a:r>
          </a:p>
          <a:p>
            <a:pPr algn="l">
              <a:spcAft>
                <a:spcPts val="200"/>
              </a:spcAft>
            </a:pPr>
            <a:r>
              <a:rPr sz="1200" b="0">
                <a:solidFill>
                  <a:srgbClr val="5B6372"/>
                </a:solidFill>
                <a:latin typeface="Arial"/>
              </a:rPr>
              <a:t>Never used it, personal use, or already running a team workspace?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78808"/>
            <a:ext cx="4027932" cy="1938528"/>
          </a:xfrm>
          <a:prstGeom prst="rect">
            <a:avLst/>
          </a:prstGeom>
          <a:noFill/>
        </p:spPr>
        <p:txBody>
          <a:bodyPr wrap="square" anchor="ctr">
            <a:spAutoFit/>
          </a:bodyPr>
          <a:lstStyle/>
          <a:p>
            <a:pPr algn="l">
              <a:spcAft>
                <a:spcPts val="200"/>
              </a:spcAft>
            </a:pPr>
            <a:r>
              <a:rPr sz="1600" b="1">
                <a:solidFill>
                  <a:srgbClr val="161B26"/>
                </a:solidFill>
                <a:latin typeface="Arial"/>
              </a:rPr>
              <a:t>What you want to build</a:t>
            </a:r>
          </a:p>
          <a:p>
            <a:pPr algn="l">
              <a:spcAft>
                <a:spcPts val="200"/>
              </a:spcAft>
            </a:pPr>
            <a:r>
              <a:rPr sz="1200" b="0">
                <a:solidFill>
                  <a:srgbClr val="5B6372"/>
                </a:solidFill>
                <a:latin typeface="Arial"/>
              </a:rPr>
              <a:t>One thing you would like to manage in Notion by the end of Day 2.</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Respect each other's views; one conversation at a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Step out quietly for calls or breaks.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assessment and funding.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577840"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577840" cy="475488"/>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84248"/>
            <a:ext cx="164592" cy="16459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7864" y="1984248"/>
            <a:ext cx="164592" cy="1645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53896" y="1984248"/>
            <a:ext cx="164592" cy="1645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1920240"/>
            <a:ext cx="4206240" cy="3108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1920240"/>
            <a:ext cx="3931920" cy="310896"/>
          </a:xfrm>
          <a:prstGeom prst="rect">
            <a:avLst/>
          </a:prstGeom>
          <a:noFill/>
        </p:spPr>
        <p:txBody>
          <a:bodyPr wrap="square" anchor="ctr">
            <a:spAutoFit/>
          </a:bodyPr>
          <a:lstStyle/>
          <a:p>
            <a:pPr algn="l">
              <a:spcAft>
                <a:spcPts val="400"/>
              </a:spcAft>
            </a:pPr>
            <a:r>
              <a:rPr sz="1250" b="1">
                <a:solidFill>
                  <a:srgbClr val="1F6FEB"/>
                </a:solidFill>
                <a:latin typeface="Arial"/>
                <a:hlinkClick r:id="rId2"/>
              </a:rPr>
              <a:t>https://lms-tms.tertiaryinfotech.com</a:t>
            </a:r>
          </a:p>
        </p:txBody>
      </p:sp>
      <p:sp>
        <p:nvSpPr>
          <p:cNvPr id="14" name="Rectangle 13"/>
          <p:cNvSpPr/>
          <p:nvPr/>
        </p:nvSpPr>
        <p:spPr>
          <a:xfrm>
            <a:off x="1005840" y="2514600"/>
            <a:ext cx="5120640" cy="685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514600"/>
            <a:ext cx="4754880" cy="685800"/>
          </a:xfrm>
          <a:prstGeom prst="rect">
            <a:avLst/>
          </a:prstGeom>
          <a:noFill/>
        </p:spPr>
        <p:txBody>
          <a:bodyPr wrap="square" anchor="ctr">
            <a:spAutoFit/>
          </a:bodyPr>
          <a:lstStyle/>
          <a:p>
            <a:pPr algn="l">
              <a:spcAft>
                <a:spcPts val="200"/>
              </a:spcAft>
            </a:pPr>
            <a:r>
              <a:rPr sz="1500" b="1">
                <a:solidFill>
                  <a:srgbClr val="FFFFFF"/>
                </a:solidFill>
                <a:latin typeface="Arial"/>
              </a:rPr>
              <a:t>Tertiary Infotech LMS/TMS</a:t>
            </a:r>
          </a:p>
          <a:p>
            <a:pPr algn="l">
              <a:spcAft>
                <a:spcPts val="200"/>
              </a:spcAft>
            </a:pPr>
            <a:r>
              <a:rPr sz="1100" b="0">
                <a:solidFill>
                  <a:srgbClr val="B3D4FF"/>
                </a:solidFill>
                <a:latin typeface="Arial"/>
              </a:rPr>
              <a:t>My Courses  ·  Attendance  ·  Assessment</a:t>
            </a:r>
          </a:p>
        </p:txBody>
      </p:sp>
      <p:sp>
        <p:nvSpPr>
          <p:cNvPr id="16" name="Rectangle 15"/>
          <p:cNvSpPr/>
          <p:nvPr/>
        </p:nvSpPr>
        <p:spPr>
          <a:xfrm>
            <a:off x="1005840" y="3364992"/>
            <a:ext cx="5120640" cy="420624"/>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364992"/>
            <a:ext cx="4754880" cy="420624"/>
          </a:xfrm>
          <a:prstGeom prst="rect">
            <a:avLst/>
          </a:prstGeom>
          <a:noFill/>
        </p:spPr>
        <p:txBody>
          <a:bodyPr wrap="square" anchor="ctr">
            <a:spAutoFit/>
          </a:bodyPr>
          <a:lstStyle/>
          <a:p>
            <a:pPr algn="l">
              <a:spcAft>
                <a:spcPts val="400"/>
              </a:spcAft>
            </a:pPr>
            <a:r>
              <a:rPr sz="1150" b="1">
                <a:solidFill>
                  <a:srgbClr val="1F6FEB"/>
                </a:solidFill>
                <a:latin typeface="Arial"/>
              </a:rPr>
              <a:t>Mastering Notion for Content, Project, and Database Management</a:t>
            </a:r>
          </a:p>
        </p:txBody>
      </p:sp>
      <p:sp>
        <p:nvSpPr>
          <p:cNvPr id="18" name="Rectangle 17"/>
          <p:cNvSpPr/>
          <p:nvPr/>
        </p:nvSpPr>
        <p:spPr>
          <a:xfrm>
            <a:off x="1005840" y="3877056"/>
            <a:ext cx="512064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3877056"/>
            <a:ext cx="4754880" cy="420624"/>
          </a:xfrm>
          <a:prstGeom prst="rect">
            <a:avLst/>
          </a:prstGeom>
          <a:noFill/>
        </p:spPr>
        <p:txBody>
          <a:bodyPr wrap="square" anchor="ctr">
            <a:spAutoFit/>
          </a:bodyPr>
          <a:lstStyle/>
          <a:p>
            <a:pPr algn="l">
              <a:spcAft>
                <a:spcPts val="400"/>
              </a:spcAft>
            </a:pPr>
            <a:r>
              <a:rPr sz="1200" b="0">
                <a:solidFill>
                  <a:srgbClr val="161B26"/>
                </a:solidFill>
                <a:latin typeface="Arial"/>
              </a:rPr>
              <a:t>Trainer Slides (PDF)  ⬇</a:t>
            </a:r>
          </a:p>
        </p:txBody>
      </p:sp>
      <p:sp>
        <p:nvSpPr>
          <p:cNvPr id="20" name="Rectangle 19"/>
          <p:cNvSpPr/>
          <p:nvPr/>
        </p:nvSpPr>
        <p:spPr>
          <a:xfrm>
            <a:off x="1005840" y="4389120"/>
            <a:ext cx="512064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389120"/>
            <a:ext cx="4754880" cy="420624"/>
          </a:xfrm>
          <a:prstGeom prst="rect">
            <a:avLst/>
          </a:prstGeom>
          <a:noFill/>
        </p:spPr>
        <p:txBody>
          <a:bodyPr wrap="square" anchor="ctr">
            <a:spAutoFit/>
          </a:bodyPr>
          <a:lstStyle/>
          <a:p>
            <a:pPr algn="l">
              <a:spcAft>
                <a:spcPts val="400"/>
              </a:spcAft>
            </a:pPr>
            <a:r>
              <a:rPr sz="1200" b="0">
                <a:solidFill>
                  <a:srgbClr val="161B26"/>
                </a:solidFill>
                <a:latin typeface="Arial"/>
              </a:rPr>
              <a:t>Learner Guide (PDF)  ⬇</a:t>
            </a:r>
          </a:p>
        </p:txBody>
      </p:sp>
      <p:sp>
        <p:nvSpPr>
          <p:cNvPr id="22" name="Rectangle 21"/>
          <p:cNvSpPr/>
          <p:nvPr/>
        </p:nvSpPr>
        <p:spPr>
          <a:xfrm>
            <a:off x="1005840" y="4901184"/>
            <a:ext cx="512064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4901184"/>
            <a:ext cx="4754880" cy="420624"/>
          </a:xfrm>
          <a:prstGeom prst="rect">
            <a:avLst/>
          </a:prstGeom>
          <a:noFill/>
        </p:spPr>
        <p:txBody>
          <a:bodyPr wrap="square" anchor="ctr">
            <a:spAutoFit/>
          </a:bodyPr>
          <a:lstStyle/>
          <a:p>
            <a:pPr algn="l">
              <a:spcAft>
                <a:spcPts val="400"/>
              </a:spcAft>
            </a:pPr>
            <a:r>
              <a:rPr sz="1200" b="0">
                <a:solidFill>
                  <a:srgbClr val="161B26"/>
                </a:solidFill>
                <a:latin typeface="Arial"/>
              </a:rPr>
              <a:t>Activities / Labs (folder)  ⬇</a:t>
            </a:r>
          </a:p>
        </p:txBody>
      </p:sp>
      <p:sp>
        <p:nvSpPr>
          <p:cNvPr id="24" name="Rectangle 23"/>
          <p:cNvSpPr/>
          <p:nvPr/>
        </p:nvSpPr>
        <p:spPr>
          <a:xfrm>
            <a:off x="1005840" y="5413248"/>
            <a:ext cx="512064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5413248"/>
            <a:ext cx="4754880" cy="420624"/>
          </a:xfrm>
          <a:prstGeom prst="rect">
            <a:avLst/>
          </a:prstGeom>
          <a:noFill/>
        </p:spPr>
        <p:txBody>
          <a:bodyPr wrap="square" anchor="ctr">
            <a:spAutoFit/>
          </a:bodyPr>
          <a:lstStyle/>
          <a:p>
            <a:pPr algn="l">
              <a:spcAft>
                <a:spcPts val="400"/>
              </a:spcAft>
            </a:pPr>
            <a:r>
              <a:rPr sz="1200" b="0">
                <a:solidFill>
                  <a:srgbClr val="161B26"/>
                </a:solidFill>
                <a:latin typeface="Arial"/>
              </a:rPr>
              <a:t>Assessment Submission  ↗</a:t>
            </a:r>
          </a:p>
        </p:txBody>
      </p:sp>
      <p:sp>
        <p:nvSpPr>
          <p:cNvPr id="26" name="Rectangle 25"/>
          <p:cNvSpPr/>
          <p:nvPr/>
        </p:nvSpPr>
        <p:spPr>
          <a:xfrm>
            <a:off x="6675120" y="1828800"/>
            <a:ext cx="475488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675120" y="1828800"/>
            <a:ext cx="82296" cy="9029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858000" y="205168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0" y="2051685"/>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30" name="TextBox 29"/>
          <p:cNvSpPr txBox="1"/>
          <p:nvPr/>
        </p:nvSpPr>
        <p:spPr>
          <a:xfrm>
            <a:off x="7498080" y="1828800"/>
            <a:ext cx="3749040" cy="902970"/>
          </a:xfrm>
          <a:prstGeom prst="rect">
            <a:avLst/>
          </a:prstGeom>
          <a:noFill/>
        </p:spPr>
        <p:txBody>
          <a:bodyPr wrap="square" anchor="ctr">
            <a:spAutoFit/>
          </a:bodyPr>
          <a:lstStyle/>
          <a:p>
            <a:pPr algn="l">
              <a:spcAft>
                <a:spcPts val="200"/>
              </a:spcAft>
            </a:pPr>
            <a:r>
              <a:rPr sz="1400" b="1">
                <a:solidFill>
                  <a:srgbClr val="1F6FEB"/>
                </a:solidFill>
                <a:latin typeface="Arial"/>
              </a:rPr>
              <a:t>Sign in</a:t>
            </a:r>
          </a:p>
          <a:p>
            <a:pPr algn="l">
              <a:spcAft>
                <a:spcPts val="200"/>
              </a:spcAft>
            </a:pPr>
            <a:r>
              <a:rPr sz="1100" b="0">
                <a:solidFill>
                  <a:srgbClr val="161B26"/>
                </a:solidFill>
                <a:latin typeface="Arial"/>
              </a:rPr>
              <a:t>lms-tms.tertiaryinfotech.com — log in with your registered email (OTP or password).</a:t>
            </a:r>
          </a:p>
        </p:txBody>
      </p:sp>
      <p:sp>
        <p:nvSpPr>
          <p:cNvPr id="31" name="Rectangle 30"/>
          <p:cNvSpPr/>
          <p:nvPr/>
        </p:nvSpPr>
        <p:spPr>
          <a:xfrm>
            <a:off x="6675120" y="2914650"/>
            <a:ext cx="475488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675120" y="2914650"/>
            <a:ext cx="82296" cy="90297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858000" y="3137535"/>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0" y="3137535"/>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35" name="TextBox 34"/>
          <p:cNvSpPr txBox="1"/>
          <p:nvPr/>
        </p:nvSpPr>
        <p:spPr>
          <a:xfrm>
            <a:off x="7498080" y="2914650"/>
            <a:ext cx="3749040" cy="902970"/>
          </a:xfrm>
          <a:prstGeom prst="rect">
            <a:avLst/>
          </a:prstGeom>
          <a:noFill/>
        </p:spPr>
        <p:txBody>
          <a:bodyPr wrap="square" anchor="ctr">
            <a:spAutoFit/>
          </a:bodyPr>
          <a:lstStyle/>
          <a:p>
            <a:pPr algn="l">
              <a:spcAft>
                <a:spcPts val="200"/>
              </a:spcAft>
            </a:pPr>
            <a:r>
              <a:rPr sz="1400" b="1">
                <a:solidFill>
                  <a:srgbClr val="10B981"/>
                </a:solidFill>
                <a:latin typeface="Arial"/>
              </a:rPr>
              <a:t>Open your course</a:t>
            </a:r>
          </a:p>
          <a:p>
            <a:pPr algn="l">
              <a:spcAft>
                <a:spcPts val="200"/>
              </a:spcAft>
            </a:pPr>
            <a:r>
              <a:rPr sz="1100" b="0">
                <a:solidFill>
                  <a:srgbClr val="161B26"/>
                </a:solidFill>
                <a:latin typeface="Arial"/>
              </a:rPr>
              <a:t>Select 'Mastering Notion for Content, Project, and Database Management' under My Courses.</a:t>
            </a:r>
          </a:p>
        </p:txBody>
      </p:sp>
      <p:sp>
        <p:nvSpPr>
          <p:cNvPr id="36" name="Rectangle 35"/>
          <p:cNvSpPr/>
          <p:nvPr/>
        </p:nvSpPr>
        <p:spPr>
          <a:xfrm>
            <a:off x="6675120" y="4000500"/>
            <a:ext cx="475488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75120" y="4000500"/>
            <a:ext cx="82296" cy="9029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58000" y="4223385"/>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0" y="4223385"/>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40" name="TextBox 39"/>
          <p:cNvSpPr txBox="1"/>
          <p:nvPr/>
        </p:nvSpPr>
        <p:spPr>
          <a:xfrm>
            <a:off x="7498080" y="4000500"/>
            <a:ext cx="3749040" cy="902970"/>
          </a:xfrm>
          <a:prstGeom prst="rect">
            <a:avLst/>
          </a:prstGeom>
          <a:noFill/>
        </p:spPr>
        <p:txBody>
          <a:bodyPr wrap="square" anchor="ctr">
            <a:spAutoFit/>
          </a:bodyPr>
          <a:lstStyle/>
          <a:p>
            <a:pPr algn="l">
              <a:spcAft>
                <a:spcPts val="200"/>
              </a:spcAft>
            </a:pPr>
            <a:r>
              <a:rPr sz="1400" b="1">
                <a:solidFill>
                  <a:srgbClr val="7C3AED"/>
                </a:solidFill>
                <a:latin typeface="Arial"/>
              </a:rPr>
              <a:t>Download materials</a:t>
            </a:r>
          </a:p>
          <a:p>
            <a:pPr algn="l">
              <a:spcAft>
                <a:spcPts val="200"/>
              </a:spcAft>
            </a:pPr>
            <a:r>
              <a:rPr sz="1100" b="0">
                <a:solidFill>
                  <a:srgbClr val="161B26"/>
                </a:solidFill>
                <a:latin typeface="Arial"/>
              </a:rPr>
              <a:t>Slides, the Learner Guide and the lab folders — your open-book references for the assessment.</a:t>
            </a:r>
          </a:p>
        </p:txBody>
      </p:sp>
      <p:sp>
        <p:nvSpPr>
          <p:cNvPr id="41" name="Rectangle 40"/>
          <p:cNvSpPr/>
          <p:nvPr/>
        </p:nvSpPr>
        <p:spPr>
          <a:xfrm>
            <a:off x="6675120" y="5086350"/>
            <a:ext cx="475488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75120" y="5086350"/>
            <a:ext cx="82296" cy="9029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858000" y="5309235"/>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0" y="5309235"/>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45" name="TextBox 44"/>
          <p:cNvSpPr txBox="1"/>
          <p:nvPr/>
        </p:nvSpPr>
        <p:spPr>
          <a:xfrm>
            <a:off x="7498080" y="5086350"/>
            <a:ext cx="3749040" cy="902970"/>
          </a:xfrm>
          <a:prstGeom prst="rect">
            <a:avLst/>
          </a:prstGeom>
          <a:noFill/>
        </p:spPr>
        <p:txBody>
          <a:bodyPr wrap="square" anchor="ctr">
            <a:spAutoFit/>
          </a:bodyPr>
          <a:lstStyle/>
          <a:p>
            <a:pPr algn="l">
              <a:spcAft>
                <a:spcPts val="200"/>
              </a:spcAft>
            </a:pPr>
            <a:r>
              <a:rPr sz="1400" b="1">
                <a:solidFill>
                  <a:srgbClr val="F59E0B"/>
                </a:solidFill>
                <a:latin typeface="Arial"/>
              </a:rPr>
              <a:t>Submit and survey</a:t>
            </a:r>
          </a:p>
          <a:p>
            <a:pPr algn="l">
              <a:spcAft>
                <a:spcPts val="200"/>
              </a:spcAft>
            </a:pPr>
            <a:r>
              <a:rPr sz="1100" b="0">
                <a:solidFill>
                  <a:srgbClr val="161B26"/>
                </a:solidFill>
                <a:latin typeface="Arial"/>
              </a:rPr>
              <a:t>Upload your assessment answers and complete the TRAQOM survey QR here.</a:t>
            </a:r>
          </a:p>
        </p:txBody>
      </p:sp>
      <p:sp>
        <p:nvSpPr>
          <p:cNvPr id="46" name="TextBox 45"/>
          <p:cNvSpPr txBox="1"/>
          <p:nvPr/>
        </p:nvSpPr>
        <p:spPr>
          <a:xfrm>
            <a:off x="777240" y="6035040"/>
            <a:ext cx="10698480" cy="365760"/>
          </a:xfrm>
          <a:prstGeom prst="rect">
            <a:avLst/>
          </a:prstGeom>
          <a:noFill/>
        </p:spPr>
        <p:txBody>
          <a:bodyPr wrap="square" anchor="t">
            <a:spAutoFit/>
          </a:bodyPr>
          <a:lstStyle/>
          <a:p>
            <a:pPr algn="ctr">
              <a:spcAft>
                <a:spcPts val="400"/>
              </a:spcAft>
            </a:pPr>
            <a:r>
              <a:rPr sz="1300" b="0">
                <a:solidFill>
                  <a:srgbClr val="5B6372"/>
                </a:solidFill>
                <a:latin typeface="Arial"/>
              </a:rPr>
              <a:t>All course material is downloaded from the LMS/TMS portal — keep it handy: the final assessment is open book.</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FILES · GITHUB REPOSITORY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83080"/>
            <a:ext cx="10241280" cy="640080"/>
          </a:xfrm>
          <a:prstGeom prst="rect">
            <a:avLst/>
          </a:prstGeom>
          <a:noFill/>
        </p:spPr>
        <p:txBody>
          <a:bodyPr wrap="square" anchor="ctr">
            <a:spAutoFit/>
          </a:bodyPr>
          <a:lstStyle/>
          <a:p>
            <a:pPr algn="l">
              <a:spcAft>
                <a:spcPts val="400"/>
              </a:spcAft>
            </a:pPr>
            <a:r>
              <a:rPr sz="1300" b="1">
                <a:solidFill>
                  <a:srgbClr val="5B6372"/>
                </a:solidFill>
                <a:latin typeface="Arial"/>
              </a:rPr>
              <a:t>Repository:  </a:t>
            </a:r>
            <a:r>
              <a:rPr sz="1300" b="1">
                <a:solidFill>
                  <a:srgbClr val="1F6FEB"/>
                </a:solidFill>
                <a:latin typeface="Arial"/>
                <a:hlinkClick r:id="rId2"/>
              </a:rPr>
              <a:t>https://github.com/tertiarycourses/TGS-2023041080-Mastering-Notion-for-Content-Project-and-Database-Management</a:t>
            </a:r>
          </a:p>
        </p:txBody>
      </p:sp>
      <p:sp>
        <p:nvSpPr>
          <p:cNvPr id="9" name="Rectangle 8"/>
          <p:cNvSpPr/>
          <p:nvPr/>
        </p:nvSpPr>
        <p:spPr>
          <a:xfrm>
            <a:off x="777240" y="2606040"/>
            <a:ext cx="3337560"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60604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788920"/>
            <a:ext cx="2971800" cy="457200"/>
          </a:xfrm>
          <a:prstGeom prst="rect">
            <a:avLst/>
          </a:prstGeom>
          <a:noFill/>
        </p:spPr>
        <p:txBody>
          <a:bodyPr wrap="square" anchor="t">
            <a:spAutoFit/>
          </a:bodyPr>
          <a:lstStyle/>
          <a:p>
            <a:pPr algn="l">
              <a:spcAft>
                <a:spcPts val="400"/>
              </a:spcAft>
            </a:pPr>
            <a:r>
              <a:rPr sz="1600" b="1">
                <a:solidFill>
                  <a:srgbClr val="1F6FEB"/>
                </a:solidFill>
                <a:latin typeface="Arial"/>
              </a:rPr>
              <a:t>Option A — Clone</a:t>
            </a:r>
          </a:p>
        </p:txBody>
      </p:sp>
      <p:sp>
        <p:nvSpPr>
          <p:cNvPr id="12" name="TextBox 11"/>
          <p:cNvSpPr txBox="1"/>
          <p:nvPr/>
        </p:nvSpPr>
        <p:spPr>
          <a:xfrm>
            <a:off x="978408" y="3291840"/>
            <a:ext cx="2971800" cy="2377440"/>
          </a:xfrm>
          <a:prstGeom prst="rect">
            <a:avLst/>
          </a:prstGeom>
          <a:noFill/>
        </p:spPr>
        <p:txBody>
          <a:bodyPr wrap="square">
            <a:spAutoFit/>
          </a:bodyPr>
          <a:lstStyle/>
          <a:p>
            <a:pPr>
              <a:spcAft>
                <a:spcPts val="600"/>
              </a:spcAft>
            </a:pPr>
            <a:r>
              <a:rPr sz="1150" b="0">
                <a:solidFill>
                  <a:srgbClr val="161B26"/>
                </a:solidFill>
                <a:latin typeface="Arial"/>
              </a:rPr>
              <a:t>•  Install Git, then in a terminal run:</a:t>
            </a:r>
          </a:p>
          <a:p>
            <a:pPr>
              <a:spcAft>
                <a:spcPts val="600"/>
              </a:spcAft>
            </a:pPr>
            <a:r>
              <a:rPr sz="1150" b="0">
                <a:solidFill>
                  <a:srgbClr val="161B26"/>
                </a:solidFill>
                <a:latin typeface="Arial"/>
              </a:rPr>
              <a:t>•  git clone https://github.com/tertiarycourses/TGS-2023041080-Mastering-Notion-for-Content-Project-and-Database-Management.git</a:t>
            </a:r>
          </a:p>
          <a:p>
            <a:pPr>
              <a:spcAft>
                <a:spcPts val="600"/>
              </a:spcAft>
            </a:pPr>
            <a:r>
              <a:rPr sz="1150" b="0">
                <a:solidFill>
                  <a:srgbClr val="161B26"/>
                </a:solidFill>
                <a:latin typeface="Arial"/>
              </a:rPr>
              <a:t>•  Open the labs/ folder — one sub-folder per lab.</a:t>
            </a:r>
          </a:p>
        </p:txBody>
      </p:sp>
      <p:sp>
        <p:nvSpPr>
          <p:cNvPr id="13" name="Rectangle 12"/>
          <p:cNvSpPr/>
          <p:nvPr/>
        </p:nvSpPr>
        <p:spPr>
          <a:xfrm>
            <a:off x="4434840" y="2606040"/>
            <a:ext cx="3337560"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260604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6008" y="2788920"/>
            <a:ext cx="2971800" cy="457200"/>
          </a:xfrm>
          <a:prstGeom prst="rect">
            <a:avLst/>
          </a:prstGeom>
          <a:noFill/>
        </p:spPr>
        <p:txBody>
          <a:bodyPr wrap="square" anchor="t">
            <a:spAutoFit/>
          </a:bodyPr>
          <a:lstStyle/>
          <a:p>
            <a:pPr algn="l">
              <a:spcAft>
                <a:spcPts val="400"/>
              </a:spcAft>
            </a:pPr>
            <a:r>
              <a:rPr sz="1600" b="1">
                <a:solidFill>
                  <a:srgbClr val="10B981"/>
                </a:solidFill>
                <a:latin typeface="Arial"/>
              </a:rPr>
              <a:t>Option B — Download ZIP</a:t>
            </a:r>
          </a:p>
        </p:txBody>
      </p:sp>
      <p:sp>
        <p:nvSpPr>
          <p:cNvPr id="16" name="TextBox 15"/>
          <p:cNvSpPr txBox="1"/>
          <p:nvPr/>
        </p:nvSpPr>
        <p:spPr>
          <a:xfrm>
            <a:off x="4636008" y="3291840"/>
            <a:ext cx="2971800" cy="2377440"/>
          </a:xfrm>
          <a:prstGeom prst="rect">
            <a:avLst/>
          </a:prstGeom>
          <a:noFill/>
        </p:spPr>
        <p:txBody>
          <a:bodyPr wrap="square">
            <a:spAutoFit/>
          </a:bodyPr>
          <a:lstStyle/>
          <a:p>
            <a:pPr>
              <a:spcAft>
                <a:spcPts val="600"/>
              </a:spcAft>
            </a:pPr>
            <a:r>
              <a:rPr sz="1150" b="0">
                <a:solidFill>
                  <a:srgbClr val="161B26"/>
                </a:solidFill>
                <a:latin typeface="Arial"/>
              </a:rPr>
              <a:t>•  On GitHub click Code → Download ZIP.</a:t>
            </a:r>
          </a:p>
          <a:p>
            <a:pPr>
              <a:spcAft>
                <a:spcPts val="600"/>
              </a:spcAft>
            </a:pPr>
            <a:r>
              <a:rPr sz="1150" b="0">
                <a:solidFill>
                  <a:srgbClr val="161B26"/>
                </a:solidFill>
                <a:latin typeface="Arial"/>
              </a:rPr>
              <a:t>•  Unzip anywhere on your laptop.</a:t>
            </a:r>
          </a:p>
          <a:p>
            <a:pPr>
              <a:spcAft>
                <a:spcPts val="600"/>
              </a:spcAft>
            </a:pPr>
            <a:r>
              <a:rPr sz="1150" b="0">
                <a:solidFill>
                  <a:srgbClr val="161B26"/>
                </a:solidFill>
                <a:latin typeface="Arial"/>
              </a:rPr>
              <a:t>•  Open labs/ — no tools to install.</a:t>
            </a:r>
          </a:p>
        </p:txBody>
      </p:sp>
      <p:sp>
        <p:nvSpPr>
          <p:cNvPr id="17" name="Rectangle 16"/>
          <p:cNvSpPr/>
          <p:nvPr/>
        </p:nvSpPr>
        <p:spPr>
          <a:xfrm>
            <a:off x="8092440" y="2606040"/>
            <a:ext cx="3337560"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260604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2788920"/>
            <a:ext cx="2971800" cy="457200"/>
          </a:xfrm>
          <a:prstGeom prst="rect">
            <a:avLst/>
          </a:prstGeom>
          <a:noFill/>
        </p:spPr>
        <p:txBody>
          <a:bodyPr wrap="square" anchor="t">
            <a:spAutoFit/>
          </a:bodyPr>
          <a:lstStyle/>
          <a:p>
            <a:pPr algn="l">
              <a:spcAft>
                <a:spcPts val="400"/>
              </a:spcAft>
            </a:pPr>
            <a:r>
              <a:rPr sz="1600" b="1">
                <a:solidFill>
                  <a:srgbClr val="7C3AED"/>
                </a:solidFill>
                <a:latin typeface="Arial"/>
              </a:rPr>
              <a:t>What each lab folder holds</a:t>
            </a:r>
          </a:p>
        </p:txBody>
      </p:sp>
      <p:sp>
        <p:nvSpPr>
          <p:cNvPr id="20" name="TextBox 19"/>
          <p:cNvSpPr txBox="1"/>
          <p:nvPr/>
        </p:nvSpPr>
        <p:spPr>
          <a:xfrm>
            <a:off x="8293608" y="3291840"/>
            <a:ext cx="2971800" cy="2377440"/>
          </a:xfrm>
          <a:prstGeom prst="rect">
            <a:avLst/>
          </a:prstGeom>
          <a:noFill/>
        </p:spPr>
        <p:txBody>
          <a:bodyPr wrap="square">
            <a:spAutoFit/>
          </a:bodyPr>
          <a:lstStyle/>
          <a:p>
            <a:pPr>
              <a:spcAft>
                <a:spcPts val="600"/>
              </a:spcAft>
            </a:pPr>
            <a:r>
              <a:rPr sz="1150" b="0">
                <a:solidFill>
                  <a:srgbClr val="161B26"/>
                </a:solidFill>
                <a:latin typeface="Arial"/>
              </a:rPr>
              <a:t>•  README.md — brief, procedure, acceptance test</a:t>
            </a:r>
          </a:p>
          <a:p>
            <a:pPr>
              <a:spcAft>
                <a:spcPts val="600"/>
              </a:spcAft>
            </a:pPr>
            <a:r>
              <a:rPr sz="1150" b="0">
                <a:solidFill>
                  <a:srgbClr val="161B26"/>
                </a:solidFill>
                <a:latin typeface="Arial"/>
              </a:rPr>
              <a:t>•  lab.yaml — metadata, K/A codes, files</a:t>
            </a:r>
          </a:p>
          <a:p>
            <a:pPr>
              <a:spcAft>
                <a:spcPts val="600"/>
              </a:spcAft>
            </a:pPr>
            <a:r>
              <a:rPr sz="1150" b="0">
                <a:solidFill>
                  <a:srgbClr val="161B26"/>
                </a:solidFill>
                <a:latin typeface="Arial"/>
              </a:rPr>
              <a:t>•  Mock data: CSV, Markdown, JSON, images</a:t>
            </a:r>
          </a:p>
          <a:p>
            <a:pPr>
              <a:spcAft>
                <a:spcPts val="600"/>
              </a:spcAft>
            </a:pPr>
            <a:r>
              <a:rPr sz="1150" b="0">
                <a:solidFill>
                  <a:srgbClr val="161B26"/>
                </a:solidFill>
                <a:latin typeface="Arial"/>
              </a:rPr>
              <a:t>•  LAB-NN-Instructions.pdf + workflow PNG</a:t>
            </a:r>
          </a:p>
        </p:txBody>
      </p:sp>
      <p:sp>
        <p:nvSpPr>
          <p:cNvPr id="21" name="Rectangle 20"/>
          <p:cNvSpPr/>
          <p:nvPr/>
        </p:nvSpPr>
        <p:spPr>
          <a:xfrm>
            <a:off x="777240" y="5806440"/>
            <a:ext cx="10634472" cy="502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806440"/>
            <a:ext cx="10241280" cy="502920"/>
          </a:xfrm>
          <a:prstGeom prst="rect">
            <a:avLst/>
          </a:prstGeom>
          <a:noFill/>
        </p:spPr>
        <p:txBody>
          <a:bodyPr wrap="square" anchor="ctr">
            <a:spAutoFit/>
          </a:bodyPr>
          <a:lstStyle/>
          <a:p>
            <a:pPr algn="l">
              <a:spcAft>
                <a:spcPts val="400"/>
              </a:spcAft>
            </a:pPr>
            <a:r>
              <a:rPr sz="1250" b="1">
                <a:solidFill>
                  <a:srgbClr val="127A3E"/>
                </a:solidFill>
                <a:latin typeface="Arial"/>
              </a:rPr>
              <a:t>12 labs · all run in Notion in your browser on a free account · the same folders are on the LMS under Activities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 STORY, TWELVE LABS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Course Scenario — Brightwave Media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Brightwave Media Pte Ltd</a:t>
            </a:r>
          </a:p>
          <a:p>
            <a:pPr algn="l">
              <a:spcAft>
                <a:spcPts val="200"/>
              </a:spcAft>
            </a:pPr>
            <a:r>
              <a:rPr sz="1100" b="0">
                <a:solidFill>
                  <a:srgbClr val="5B6372"/>
                </a:solidFill>
                <a:latin typeface="Arial"/>
              </a:rPr>
              <a:t>A twelve-person Singapore content and digital-marketing agency.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The move to Notion</a:t>
            </a:r>
          </a:p>
          <a:p>
            <a:pPr algn="l">
              <a:spcAft>
                <a:spcPts val="200"/>
              </a:spcAft>
            </a:pPr>
            <a:r>
              <a:rPr sz="1100" b="0">
                <a:solidFill>
                  <a:srgbClr val="5B6372"/>
                </a:solidFill>
                <a:latin typeface="Arial"/>
              </a:rPr>
              <a:t>Company wiki, content operations, client projects and a public help centre in one workspace.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Day 1 — build the content system</a:t>
            </a:r>
          </a:p>
          <a:p>
            <a:pPr algn="l">
              <a:spcAft>
                <a:spcPts val="200"/>
              </a:spcAft>
            </a:pPr>
            <a:r>
              <a:rPr sz="1100" b="0">
                <a:solidFill>
                  <a:srgbClr val="5B6372"/>
                </a:solidFill>
                <a:latin typeface="Arial"/>
              </a:rPr>
              <a:t>Workspace, wiki, policies, collaboration and rich, styled content (Labs 1–6).</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Day 2 — run it as a CMS</a:t>
            </a:r>
          </a:p>
          <a:p>
            <a:pPr algn="l">
              <a:spcAft>
                <a:spcPts val="200"/>
              </a:spcAft>
            </a:pPr>
            <a:r>
              <a:rPr sz="1100" b="0">
                <a:solidFill>
                  <a:srgbClr val="5B6372"/>
                </a:solidFill>
                <a:latin typeface="Arial"/>
              </a:rPr>
              <a:t>Databases, permissions, publishing, analytics, integrations and Notion AI (Labs 7–12).</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One connected story</a:t>
            </a:r>
          </a:p>
          <a:p>
            <a:pPr algn="l">
              <a:spcAft>
                <a:spcPts val="200"/>
              </a:spcAft>
            </a:pPr>
            <a:r>
              <a:rPr sz="1100" b="0">
                <a:solidFill>
                  <a:srgbClr val="5B6372"/>
                </a:solidFill>
                <a:latin typeface="Arial"/>
              </a:rPr>
              <a:t>Every lab adds to the same workspace, so the final result is a complete, governed CMS.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Mock data supplied</a:t>
            </a:r>
          </a:p>
          <a:p>
            <a:pPr algn="l">
              <a:spcAft>
                <a:spcPts val="200"/>
              </a:spcAft>
            </a:pPr>
            <a:r>
              <a:rPr sz="1100" b="0">
                <a:solidFill>
                  <a:srgbClr val="5B6372"/>
                </a:solidFill>
                <a:latin typeface="Arial"/>
              </a:rPr>
              <a:t>Each lab folder carries the CSV, Markdown, JSON and images the lab needs.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ALIGNMENT · PART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Skills Framework — Content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TSC element</a:t>
            </a:r>
          </a:p>
        </p:txBody>
      </p:sp>
      <p:sp>
        <p:nvSpPr>
          <p:cNvPr id="9" name="Rectangle 8"/>
          <p:cNvSpPr/>
          <p:nvPr/>
        </p:nvSpPr>
        <p:spPr>
          <a:xfrm>
            <a:off x="3329513" y="1828800"/>
            <a:ext cx="80821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7862743" cy="502920"/>
          </a:xfrm>
          <a:prstGeom prst="rect">
            <a:avLst/>
          </a:prstGeom>
          <a:noFill/>
        </p:spPr>
        <p:txBody>
          <a:bodyPr wrap="square" anchor="ctr">
            <a:spAutoFit/>
          </a:bodyPr>
          <a:lstStyle/>
          <a:p>
            <a:pPr algn="ctr">
              <a:spcAft>
                <a:spcPts val="400"/>
              </a:spcAft>
            </a:pPr>
            <a:r>
              <a:rPr sz="1250" b="1">
                <a:solidFill>
                  <a:srgbClr val="FFFFFF"/>
                </a:solidFill>
                <a:latin typeface="Arial"/>
              </a:rPr>
              <a:t>Detail</a:t>
            </a:r>
          </a:p>
        </p:txBody>
      </p:sp>
      <p:sp>
        <p:nvSpPr>
          <p:cNvPr id="11" name="Rectangle 10"/>
          <p:cNvSpPr/>
          <p:nvPr/>
        </p:nvSpPr>
        <p:spPr>
          <a:xfrm>
            <a:off x="777240" y="2331720"/>
            <a:ext cx="2552273" cy="31623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331720"/>
            <a:ext cx="2277953" cy="316230"/>
          </a:xfrm>
          <a:prstGeom prst="rect">
            <a:avLst/>
          </a:prstGeom>
          <a:noFill/>
        </p:spPr>
        <p:txBody>
          <a:bodyPr wrap="square" anchor="ctr">
            <a:spAutoFit/>
          </a:bodyPr>
          <a:lstStyle/>
          <a:p>
            <a:pPr algn="l">
              <a:spcAft>
                <a:spcPts val="400"/>
              </a:spcAft>
            </a:pPr>
            <a:r>
              <a:rPr sz="1050" b="1">
                <a:solidFill>
                  <a:srgbClr val="161B26"/>
                </a:solidFill>
                <a:latin typeface="Arial"/>
              </a:rPr>
              <a:t>TSC Title / Code</a:t>
            </a:r>
          </a:p>
        </p:txBody>
      </p:sp>
      <p:sp>
        <p:nvSpPr>
          <p:cNvPr id="13" name="Rectangle 12"/>
          <p:cNvSpPr/>
          <p:nvPr/>
        </p:nvSpPr>
        <p:spPr>
          <a:xfrm>
            <a:off x="3329513" y="2331720"/>
            <a:ext cx="8082199" cy="31623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39241" y="2331720"/>
            <a:ext cx="7862743" cy="316230"/>
          </a:xfrm>
          <a:prstGeom prst="rect">
            <a:avLst/>
          </a:prstGeom>
          <a:noFill/>
        </p:spPr>
        <p:txBody>
          <a:bodyPr wrap="square" anchor="ctr">
            <a:spAutoFit/>
          </a:bodyPr>
          <a:lstStyle/>
          <a:p>
            <a:pPr algn="ctr">
              <a:spcAft>
                <a:spcPts val="400"/>
              </a:spcAft>
            </a:pPr>
            <a:r>
              <a:rPr sz="1000" b="0">
                <a:solidFill>
                  <a:srgbClr val="5B6372"/>
                </a:solidFill>
                <a:latin typeface="Arial"/>
              </a:rPr>
              <a:t>Content Management  ·  ICT-SNM-3026-1.1</a:t>
            </a:r>
          </a:p>
        </p:txBody>
      </p:sp>
      <p:sp>
        <p:nvSpPr>
          <p:cNvPr id="15" name="Rectangle 14"/>
          <p:cNvSpPr/>
          <p:nvPr/>
        </p:nvSpPr>
        <p:spPr>
          <a:xfrm>
            <a:off x="777240" y="2647950"/>
            <a:ext cx="2552273" cy="31623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647950"/>
            <a:ext cx="2277953" cy="316230"/>
          </a:xfrm>
          <a:prstGeom prst="rect">
            <a:avLst/>
          </a:prstGeom>
          <a:noFill/>
        </p:spPr>
        <p:txBody>
          <a:bodyPr wrap="square" anchor="ctr">
            <a:spAutoFit/>
          </a:bodyPr>
          <a:lstStyle/>
          <a:p>
            <a:pPr algn="l">
              <a:spcAft>
                <a:spcPts val="400"/>
              </a:spcAft>
            </a:pPr>
            <a:r>
              <a:rPr sz="1050" b="1">
                <a:solidFill>
                  <a:srgbClr val="161B26"/>
                </a:solidFill>
                <a:latin typeface="Arial"/>
              </a:rPr>
              <a:t>Ability A1</a:t>
            </a:r>
          </a:p>
        </p:txBody>
      </p:sp>
      <p:sp>
        <p:nvSpPr>
          <p:cNvPr id="17" name="Rectangle 16"/>
          <p:cNvSpPr/>
          <p:nvPr/>
        </p:nvSpPr>
        <p:spPr>
          <a:xfrm>
            <a:off x="3329513" y="2647950"/>
            <a:ext cx="8082199" cy="31623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9241" y="2647950"/>
            <a:ext cx="7862743" cy="316230"/>
          </a:xfrm>
          <a:prstGeom prst="rect">
            <a:avLst/>
          </a:prstGeom>
          <a:noFill/>
        </p:spPr>
        <p:txBody>
          <a:bodyPr wrap="square" anchor="ctr">
            <a:spAutoFit/>
          </a:bodyPr>
          <a:lstStyle/>
          <a:p>
            <a:pPr algn="ctr">
              <a:spcAft>
                <a:spcPts val="400"/>
              </a:spcAft>
            </a:pPr>
            <a:r>
              <a:rPr sz="1000" b="0">
                <a:solidFill>
                  <a:srgbClr val="5B6372"/>
                </a:solidFill>
                <a:latin typeface="Arial"/>
              </a:rPr>
              <a:t>Implement content management policies, guidelines and permissions on content management</a:t>
            </a:r>
          </a:p>
        </p:txBody>
      </p:sp>
      <p:sp>
        <p:nvSpPr>
          <p:cNvPr id="19" name="Rectangle 18"/>
          <p:cNvSpPr/>
          <p:nvPr/>
        </p:nvSpPr>
        <p:spPr>
          <a:xfrm>
            <a:off x="777240" y="2964180"/>
            <a:ext cx="2552273" cy="31623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964180"/>
            <a:ext cx="2277953" cy="316230"/>
          </a:xfrm>
          <a:prstGeom prst="rect">
            <a:avLst/>
          </a:prstGeom>
          <a:noFill/>
        </p:spPr>
        <p:txBody>
          <a:bodyPr wrap="square" anchor="ctr">
            <a:spAutoFit/>
          </a:bodyPr>
          <a:lstStyle/>
          <a:p>
            <a:pPr algn="l">
              <a:spcAft>
                <a:spcPts val="400"/>
              </a:spcAft>
            </a:pPr>
            <a:r>
              <a:rPr sz="1050" b="1">
                <a:solidFill>
                  <a:srgbClr val="161B26"/>
                </a:solidFill>
                <a:latin typeface="Arial"/>
              </a:rPr>
              <a:t>Ability A2</a:t>
            </a:r>
          </a:p>
        </p:txBody>
      </p:sp>
      <p:sp>
        <p:nvSpPr>
          <p:cNvPr id="21" name="Rectangle 20"/>
          <p:cNvSpPr/>
          <p:nvPr/>
        </p:nvSpPr>
        <p:spPr>
          <a:xfrm>
            <a:off x="3329513" y="2964180"/>
            <a:ext cx="8082199" cy="31623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2964180"/>
            <a:ext cx="7862743" cy="316230"/>
          </a:xfrm>
          <a:prstGeom prst="rect">
            <a:avLst/>
          </a:prstGeom>
          <a:noFill/>
        </p:spPr>
        <p:txBody>
          <a:bodyPr wrap="square" anchor="ctr">
            <a:spAutoFit/>
          </a:bodyPr>
          <a:lstStyle/>
          <a:p>
            <a:pPr algn="ctr">
              <a:spcAft>
                <a:spcPts val="400"/>
              </a:spcAft>
            </a:pPr>
            <a:r>
              <a:rPr sz="1000" b="0">
                <a:solidFill>
                  <a:srgbClr val="5B6372"/>
                </a:solidFill>
                <a:latin typeface="Arial"/>
              </a:rPr>
              <a:t>Post and update content on content management systems</a:t>
            </a:r>
          </a:p>
        </p:txBody>
      </p:sp>
      <p:sp>
        <p:nvSpPr>
          <p:cNvPr id="23" name="Rectangle 22"/>
          <p:cNvSpPr/>
          <p:nvPr/>
        </p:nvSpPr>
        <p:spPr>
          <a:xfrm>
            <a:off x="777240" y="3280410"/>
            <a:ext cx="2552273" cy="31623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280410"/>
            <a:ext cx="2277953" cy="316230"/>
          </a:xfrm>
          <a:prstGeom prst="rect">
            <a:avLst/>
          </a:prstGeom>
          <a:noFill/>
        </p:spPr>
        <p:txBody>
          <a:bodyPr wrap="square" anchor="ctr">
            <a:spAutoFit/>
          </a:bodyPr>
          <a:lstStyle/>
          <a:p>
            <a:pPr algn="l">
              <a:spcAft>
                <a:spcPts val="400"/>
              </a:spcAft>
            </a:pPr>
            <a:r>
              <a:rPr sz="1050" b="1">
                <a:solidFill>
                  <a:srgbClr val="161B26"/>
                </a:solidFill>
                <a:latin typeface="Arial"/>
              </a:rPr>
              <a:t>Ability A3</a:t>
            </a:r>
          </a:p>
        </p:txBody>
      </p:sp>
      <p:sp>
        <p:nvSpPr>
          <p:cNvPr id="25" name="Rectangle 24"/>
          <p:cNvSpPr/>
          <p:nvPr/>
        </p:nvSpPr>
        <p:spPr>
          <a:xfrm>
            <a:off x="3329513" y="3280410"/>
            <a:ext cx="8082199" cy="31623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39241" y="3280410"/>
            <a:ext cx="7862743" cy="316230"/>
          </a:xfrm>
          <a:prstGeom prst="rect">
            <a:avLst/>
          </a:prstGeom>
          <a:noFill/>
        </p:spPr>
        <p:txBody>
          <a:bodyPr wrap="square" anchor="ctr">
            <a:spAutoFit/>
          </a:bodyPr>
          <a:lstStyle/>
          <a:p>
            <a:pPr algn="ctr">
              <a:spcAft>
                <a:spcPts val="400"/>
              </a:spcAft>
            </a:pPr>
            <a:r>
              <a:rPr sz="1000" b="0">
                <a:solidFill>
                  <a:srgbClr val="5B6372"/>
                </a:solidFill>
                <a:latin typeface="Arial"/>
              </a:rPr>
              <a:t>Maintain web properties and assets to uphold standards on user experience</a:t>
            </a:r>
          </a:p>
        </p:txBody>
      </p:sp>
      <p:sp>
        <p:nvSpPr>
          <p:cNvPr id="27" name="Rectangle 26"/>
          <p:cNvSpPr/>
          <p:nvPr/>
        </p:nvSpPr>
        <p:spPr>
          <a:xfrm>
            <a:off x="777240" y="3596640"/>
            <a:ext cx="2552273" cy="31623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3596640"/>
            <a:ext cx="2277953" cy="316230"/>
          </a:xfrm>
          <a:prstGeom prst="rect">
            <a:avLst/>
          </a:prstGeom>
          <a:noFill/>
        </p:spPr>
        <p:txBody>
          <a:bodyPr wrap="square" anchor="ctr">
            <a:spAutoFit/>
          </a:bodyPr>
          <a:lstStyle/>
          <a:p>
            <a:pPr algn="l">
              <a:spcAft>
                <a:spcPts val="400"/>
              </a:spcAft>
            </a:pPr>
            <a:r>
              <a:rPr sz="1050" b="1">
                <a:solidFill>
                  <a:srgbClr val="161B26"/>
                </a:solidFill>
                <a:latin typeface="Arial"/>
              </a:rPr>
              <a:t>Ability A4</a:t>
            </a:r>
          </a:p>
        </p:txBody>
      </p:sp>
      <p:sp>
        <p:nvSpPr>
          <p:cNvPr id="29" name="Rectangle 28"/>
          <p:cNvSpPr/>
          <p:nvPr/>
        </p:nvSpPr>
        <p:spPr>
          <a:xfrm>
            <a:off x="3329513" y="3596640"/>
            <a:ext cx="8082199" cy="31623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39241" y="3596640"/>
            <a:ext cx="7862743" cy="316230"/>
          </a:xfrm>
          <a:prstGeom prst="rect">
            <a:avLst/>
          </a:prstGeom>
          <a:noFill/>
        </p:spPr>
        <p:txBody>
          <a:bodyPr wrap="square" anchor="ctr">
            <a:spAutoFit/>
          </a:bodyPr>
          <a:lstStyle/>
          <a:p>
            <a:pPr algn="ctr">
              <a:spcAft>
                <a:spcPts val="400"/>
              </a:spcAft>
            </a:pPr>
            <a:r>
              <a:rPr sz="1000" b="0">
                <a:solidFill>
                  <a:srgbClr val="5B6372"/>
                </a:solidFill>
                <a:latin typeface="Arial"/>
              </a:rPr>
              <a:t>Maintain awareness of market offerings on content management systems</a:t>
            </a:r>
          </a:p>
        </p:txBody>
      </p:sp>
      <p:sp>
        <p:nvSpPr>
          <p:cNvPr id="31" name="Rectangle 30"/>
          <p:cNvSpPr/>
          <p:nvPr/>
        </p:nvSpPr>
        <p:spPr>
          <a:xfrm>
            <a:off x="777240" y="3912870"/>
            <a:ext cx="2552273" cy="31623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912870"/>
            <a:ext cx="2277953" cy="316230"/>
          </a:xfrm>
          <a:prstGeom prst="rect">
            <a:avLst/>
          </a:prstGeom>
          <a:noFill/>
        </p:spPr>
        <p:txBody>
          <a:bodyPr wrap="square" anchor="ctr">
            <a:spAutoFit/>
          </a:bodyPr>
          <a:lstStyle/>
          <a:p>
            <a:pPr algn="l">
              <a:spcAft>
                <a:spcPts val="400"/>
              </a:spcAft>
            </a:pPr>
            <a:r>
              <a:rPr sz="1050" b="1">
                <a:solidFill>
                  <a:srgbClr val="161B26"/>
                </a:solidFill>
                <a:latin typeface="Arial"/>
              </a:rPr>
              <a:t>Ability A5</a:t>
            </a:r>
          </a:p>
        </p:txBody>
      </p:sp>
      <p:sp>
        <p:nvSpPr>
          <p:cNvPr id="33" name="Rectangle 32"/>
          <p:cNvSpPr/>
          <p:nvPr/>
        </p:nvSpPr>
        <p:spPr>
          <a:xfrm>
            <a:off x="3329513" y="3912870"/>
            <a:ext cx="8082199" cy="31623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3912870"/>
            <a:ext cx="7862743" cy="316230"/>
          </a:xfrm>
          <a:prstGeom prst="rect">
            <a:avLst/>
          </a:prstGeom>
          <a:noFill/>
        </p:spPr>
        <p:txBody>
          <a:bodyPr wrap="square" anchor="ctr">
            <a:spAutoFit/>
          </a:bodyPr>
          <a:lstStyle/>
          <a:p>
            <a:pPr algn="ctr">
              <a:spcAft>
                <a:spcPts val="400"/>
              </a:spcAft>
            </a:pPr>
            <a:r>
              <a:rPr sz="1000" b="0">
                <a:solidFill>
                  <a:srgbClr val="5B6372"/>
                </a:solidFill>
                <a:latin typeface="Arial"/>
              </a:rPr>
              <a:t>Report on metrics to measure performance of content management systems</a:t>
            </a:r>
          </a:p>
        </p:txBody>
      </p:sp>
      <p:sp>
        <p:nvSpPr>
          <p:cNvPr id="35" name="Rectangle 34"/>
          <p:cNvSpPr/>
          <p:nvPr/>
        </p:nvSpPr>
        <p:spPr>
          <a:xfrm>
            <a:off x="777240" y="4229100"/>
            <a:ext cx="2552273" cy="31623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229100"/>
            <a:ext cx="2277953" cy="316230"/>
          </a:xfrm>
          <a:prstGeom prst="rect">
            <a:avLst/>
          </a:prstGeom>
          <a:noFill/>
        </p:spPr>
        <p:txBody>
          <a:bodyPr wrap="square" anchor="ctr">
            <a:spAutoFit/>
          </a:bodyPr>
          <a:lstStyle/>
          <a:p>
            <a:pPr algn="l">
              <a:spcAft>
                <a:spcPts val="400"/>
              </a:spcAft>
            </a:pPr>
            <a:r>
              <a:rPr sz="1050" b="1">
                <a:solidFill>
                  <a:srgbClr val="161B26"/>
                </a:solidFill>
                <a:latin typeface="Arial"/>
              </a:rPr>
              <a:t>Ability A6</a:t>
            </a:r>
          </a:p>
        </p:txBody>
      </p:sp>
      <p:sp>
        <p:nvSpPr>
          <p:cNvPr id="37" name="Rectangle 36"/>
          <p:cNvSpPr/>
          <p:nvPr/>
        </p:nvSpPr>
        <p:spPr>
          <a:xfrm>
            <a:off x="3329513" y="4229100"/>
            <a:ext cx="8082199" cy="31623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39241" y="4229100"/>
            <a:ext cx="7862743" cy="316230"/>
          </a:xfrm>
          <a:prstGeom prst="rect">
            <a:avLst/>
          </a:prstGeom>
          <a:noFill/>
        </p:spPr>
        <p:txBody>
          <a:bodyPr wrap="square" anchor="ctr">
            <a:spAutoFit/>
          </a:bodyPr>
          <a:lstStyle/>
          <a:p>
            <a:pPr algn="ctr">
              <a:spcAft>
                <a:spcPts val="400"/>
              </a:spcAft>
            </a:pPr>
            <a:r>
              <a:rPr sz="1000" b="0">
                <a:solidFill>
                  <a:srgbClr val="5B6372"/>
                </a:solidFill>
                <a:latin typeface="Arial"/>
              </a:rPr>
              <a:t>Recommend the adoption of appropriate plug-ins to manage and maintain the organisation's web properties and assets</a:t>
            </a:r>
          </a:p>
        </p:txBody>
      </p:sp>
      <p:sp>
        <p:nvSpPr>
          <p:cNvPr id="39" name="Rectangle 38"/>
          <p:cNvSpPr/>
          <p:nvPr/>
        </p:nvSpPr>
        <p:spPr>
          <a:xfrm>
            <a:off x="777240" y="4545330"/>
            <a:ext cx="2552273" cy="31623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545330"/>
            <a:ext cx="2277953" cy="316230"/>
          </a:xfrm>
          <a:prstGeom prst="rect">
            <a:avLst/>
          </a:prstGeom>
          <a:noFill/>
        </p:spPr>
        <p:txBody>
          <a:bodyPr wrap="square" anchor="ctr">
            <a:spAutoFit/>
          </a:bodyPr>
          <a:lstStyle/>
          <a:p>
            <a:pPr algn="l">
              <a:spcAft>
                <a:spcPts val="400"/>
              </a:spcAft>
            </a:pPr>
            <a:r>
              <a:rPr sz="1050" b="1">
                <a:solidFill>
                  <a:srgbClr val="161B26"/>
                </a:solidFill>
                <a:latin typeface="Arial"/>
              </a:rPr>
              <a:t>Ability A7</a:t>
            </a:r>
          </a:p>
        </p:txBody>
      </p:sp>
      <p:sp>
        <p:nvSpPr>
          <p:cNvPr id="41" name="Rectangle 40"/>
          <p:cNvSpPr/>
          <p:nvPr/>
        </p:nvSpPr>
        <p:spPr>
          <a:xfrm>
            <a:off x="3329513" y="4545330"/>
            <a:ext cx="8082199" cy="31623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39241" y="4545330"/>
            <a:ext cx="7862743" cy="316230"/>
          </a:xfrm>
          <a:prstGeom prst="rect">
            <a:avLst/>
          </a:prstGeom>
          <a:noFill/>
        </p:spPr>
        <p:txBody>
          <a:bodyPr wrap="square" anchor="ctr">
            <a:spAutoFit/>
          </a:bodyPr>
          <a:lstStyle/>
          <a:p>
            <a:pPr algn="ctr">
              <a:spcAft>
                <a:spcPts val="400"/>
              </a:spcAft>
            </a:pPr>
            <a:r>
              <a:rPr sz="1000" b="0">
                <a:solidFill>
                  <a:srgbClr val="5B6372"/>
                </a:solidFill>
                <a:latin typeface="Arial"/>
              </a:rPr>
              <a:t>Generate ideas to improve customer and visitor experience on web properties and assets</a:t>
            </a:r>
          </a:p>
        </p:txBody>
      </p:sp>
      <p:sp>
        <p:nvSpPr>
          <p:cNvPr id="43" name="Rectangle 42"/>
          <p:cNvSpPr/>
          <p:nvPr/>
        </p:nvSpPr>
        <p:spPr>
          <a:xfrm>
            <a:off x="777240" y="4861560"/>
            <a:ext cx="2552273" cy="31623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4861560"/>
            <a:ext cx="2277953" cy="316230"/>
          </a:xfrm>
          <a:prstGeom prst="rect">
            <a:avLst/>
          </a:prstGeom>
          <a:noFill/>
        </p:spPr>
        <p:txBody>
          <a:bodyPr wrap="square" anchor="ctr">
            <a:spAutoFit/>
          </a:bodyPr>
          <a:lstStyle/>
          <a:p>
            <a:pPr algn="l">
              <a:spcAft>
                <a:spcPts val="400"/>
              </a:spcAft>
            </a:pPr>
            <a:r>
              <a:rPr sz="1050" b="1">
                <a:solidFill>
                  <a:srgbClr val="161B26"/>
                </a:solidFill>
                <a:latin typeface="Arial"/>
              </a:rPr>
              <a:t>Knowledge K1</a:t>
            </a:r>
          </a:p>
        </p:txBody>
      </p:sp>
      <p:sp>
        <p:nvSpPr>
          <p:cNvPr id="45" name="Rectangle 44"/>
          <p:cNvSpPr/>
          <p:nvPr/>
        </p:nvSpPr>
        <p:spPr>
          <a:xfrm>
            <a:off x="3329513" y="4861560"/>
            <a:ext cx="8082199" cy="31623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39241" y="4861560"/>
            <a:ext cx="7862743" cy="316230"/>
          </a:xfrm>
          <a:prstGeom prst="rect">
            <a:avLst/>
          </a:prstGeom>
          <a:noFill/>
        </p:spPr>
        <p:txBody>
          <a:bodyPr wrap="square" anchor="ctr">
            <a:spAutoFit/>
          </a:bodyPr>
          <a:lstStyle/>
          <a:p>
            <a:pPr algn="ctr">
              <a:spcAft>
                <a:spcPts val="400"/>
              </a:spcAft>
            </a:pPr>
            <a:r>
              <a:rPr sz="1000" b="0">
                <a:solidFill>
                  <a:srgbClr val="5B6372"/>
                </a:solidFill>
                <a:latin typeface="Arial"/>
              </a:rPr>
              <a:t>Content management policies, guidelines and permissions on content management</a:t>
            </a:r>
          </a:p>
        </p:txBody>
      </p:sp>
      <p:sp>
        <p:nvSpPr>
          <p:cNvPr id="47" name="Rectangle 46"/>
          <p:cNvSpPr/>
          <p:nvPr/>
        </p:nvSpPr>
        <p:spPr>
          <a:xfrm>
            <a:off x="777240" y="5177790"/>
            <a:ext cx="2552273" cy="31623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5177790"/>
            <a:ext cx="2277953" cy="316230"/>
          </a:xfrm>
          <a:prstGeom prst="rect">
            <a:avLst/>
          </a:prstGeom>
          <a:noFill/>
        </p:spPr>
        <p:txBody>
          <a:bodyPr wrap="square" anchor="ctr">
            <a:spAutoFit/>
          </a:bodyPr>
          <a:lstStyle/>
          <a:p>
            <a:pPr algn="l">
              <a:spcAft>
                <a:spcPts val="400"/>
              </a:spcAft>
            </a:pPr>
            <a:r>
              <a:rPr sz="1050" b="1">
                <a:solidFill>
                  <a:srgbClr val="161B26"/>
                </a:solidFill>
                <a:latin typeface="Arial"/>
              </a:rPr>
              <a:t>Knowledge K2</a:t>
            </a:r>
          </a:p>
        </p:txBody>
      </p:sp>
      <p:sp>
        <p:nvSpPr>
          <p:cNvPr id="49" name="Rectangle 48"/>
          <p:cNvSpPr/>
          <p:nvPr/>
        </p:nvSpPr>
        <p:spPr>
          <a:xfrm>
            <a:off x="3329513" y="5177790"/>
            <a:ext cx="8082199" cy="31623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9241" y="5177790"/>
            <a:ext cx="7862743" cy="316230"/>
          </a:xfrm>
          <a:prstGeom prst="rect">
            <a:avLst/>
          </a:prstGeom>
          <a:noFill/>
        </p:spPr>
        <p:txBody>
          <a:bodyPr wrap="square" anchor="ctr">
            <a:spAutoFit/>
          </a:bodyPr>
          <a:lstStyle/>
          <a:p>
            <a:pPr algn="ctr">
              <a:spcAft>
                <a:spcPts val="400"/>
              </a:spcAft>
            </a:pPr>
            <a:r>
              <a:rPr sz="1000" b="0">
                <a:solidFill>
                  <a:srgbClr val="5B6372"/>
                </a:solidFill>
                <a:latin typeface="Arial"/>
              </a:rPr>
              <a:t>Web content for deployment</a:t>
            </a:r>
          </a:p>
        </p:txBody>
      </p:sp>
      <p:sp>
        <p:nvSpPr>
          <p:cNvPr id="51" name="Rectangle 50"/>
          <p:cNvSpPr/>
          <p:nvPr/>
        </p:nvSpPr>
        <p:spPr>
          <a:xfrm>
            <a:off x="777240" y="5494020"/>
            <a:ext cx="2552273" cy="31623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5494020"/>
            <a:ext cx="2277953" cy="316230"/>
          </a:xfrm>
          <a:prstGeom prst="rect">
            <a:avLst/>
          </a:prstGeom>
          <a:noFill/>
        </p:spPr>
        <p:txBody>
          <a:bodyPr wrap="square" anchor="ctr">
            <a:spAutoFit/>
          </a:bodyPr>
          <a:lstStyle/>
          <a:p>
            <a:pPr algn="l">
              <a:spcAft>
                <a:spcPts val="400"/>
              </a:spcAft>
            </a:pPr>
            <a:r>
              <a:rPr sz="1050" b="1">
                <a:solidFill>
                  <a:srgbClr val="161B26"/>
                </a:solidFill>
                <a:latin typeface="Arial"/>
              </a:rPr>
              <a:t>Knowledge K3</a:t>
            </a:r>
          </a:p>
        </p:txBody>
      </p:sp>
      <p:sp>
        <p:nvSpPr>
          <p:cNvPr id="53" name="Rectangle 52"/>
          <p:cNvSpPr/>
          <p:nvPr/>
        </p:nvSpPr>
        <p:spPr>
          <a:xfrm>
            <a:off x="3329513" y="5494020"/>
            <a:ext cx="8082199" cy="31623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39241" y="5494020"/>
            <a:ext cx="7862743" cy="316230"/>
          </a:xfrm>
          <a:prstGeom prst="rect">
            <a:avLst/>
          </a:prstGeom>
          <a:noFill/>
        </p:spPr>
        <p:txBody>
          <a:bodyPr wrap="square" anchor="ctr">
            <a:spAutoFit/>
          </a:bodyPr>
          <a:lstStyle/>
          <a:p>
            <a:pPr algn="ctr">
              <a:spcAft>
                <a:spcPts val="400"/>
              </a:spcAft>
            </a:pPr>
            <a:r>
              <a:rPr sz="1000" b="0">
                <a:solidFill>
                  <a:srgbClr val="5B6372"/>
                </a:solidFill>
                <a:latin typeface="Arial"/>
              </a:rPr>
              <a:t>Organisation's web properties and assets</a:t>
            </a:r>
          </a:p>
        </p:txBody>
      </p:sp>
      <p:sp>
        <p:nvSpPr>
          <p:cNvPr id="55" name="Rectangle 54"/>
          <p:cNvSpPr/>
          <p:nvPr/>
        </p:nvSpPr>
        <p:spPr>
          <a:xfrm>
            <a:off x="777240" y="5810250"/>
            <a:ext cx="2552273" cy="31623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5810250"/>
            <a:ext cx="2277953" cy="316230"/>
          </a:xfrm>
          <a:prstGeom prst="rect">
            <a:avLst/>
          </a:prstGeom>
          <a:noFill/>
        </p:spPr>
        <p:txBody>
          <a:bodyPr wrap="square" anchor="ctr">
            <a:spAutoFit/>
          </a:bodyPr>
          <a:lstStyle/>
          <a:p>
            <a:pPr algn="l">
              <a:spcAft>
                <a:spcPts val="400"/>
              </a:spcAft>
            </a:pPr>
            <a:r>
              <a:rPr sz="1050" b="1">
                <a:solidFill>
                  <a:srgbClr val="161B26"/>
                </a:solidFill>
                <a:latin typeface="Arial"/>
              </a:rPr>
              <a:t>Knowledge K4</a:t>
            </a:r>
          </a:p>
        </p:txBody>
      </p:sp>
      <p:sp>
        <p:nvSpPr>
          <p:cNvPr id="57" name="Rectangle 56"/>
          <p:cNvSpPr/>
          <p:nvPr/>
        </p:nvSpPr>
        <p:spPr>
          <a:xfrm>
            <a:off x="3329513" y="5810250"/>
            <a:ext cx="8082199" cy="31623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39241" y="5810250"/>
            <a:ext cx="7862743" cy="316230"/>
          </a:xfrm>
          <a:prstGeom prst="rect">
            <a:avLst/>
          </a:prstGeom>
          <a:noFill/>
        </p:spPr>
        <p:txBody>
          <a:bodyPr wrap="square" anchor="ctr">
            <a:spAutoFit/>
          </a:bodyPr>
          <a:lstStyle/>
          <a:p>
            <a:pPr algn="ctr">
              <a:spcAft>
                <a:spcPts val="400"/>
              </a:spcAft>
            </a:pPr>
            <a:r>
              <a:rPr sz="1000" b="0">
                <a:solidFill>
                  <a:srgbClr val="5B6372"/>
                </a:solidFill>
                <a:latin typeface="Arial"/>
              </a:rPr>
              <a:t>Creation and curation of web content guidelines</a:t>
            </a:r>
          </a:p>
        </p:txBody>
      </p:sp>
      <p:sp>
        <p:nvSpPr>
          <p:cNvPr id="59" name="TextBox 5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60" name="TextBox 5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1" name="TextBox 6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ALIGNMENT · PART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Skills Framework — Knowledge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Code</a:t>
            </a:r>
          </a:p>
        </p:txBody>
      </p:sp>
      <p:sp>
        <p:nvSpPr>
          <p:cNvPr id="9" name="Rectangle 8"/>
          <p:cNvSpPr/>
          <p:nvPr/>
        </p:nvSpPr>
        <p:spPr>
          <a:xfrm>
            <a:off x="3329513"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Knowledge statement</a:t>
            </a:r>
          </a:p>
        </p:txBody>
      </p:sp>
      <p:sp>
        <p:nvSpPr>
          <p:cNvPr id="11" name="Rectangle 10"/>
          <p:cNvSpPr/>
          <p:nvPr/>
        </p:nvSpPr>
        <p:spPr>
          <a:xfrm>
            <a:off x="7370612"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0340"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Taught in</a:t>
            </a:r>
          </a:p>
        </p:txBody>
      </p:sp>
      <p:sp>
        <p:nvSpPr>
          <p:cNvPr id="13" name="Rectangle 12"/>
          <p:cNvSpPr/>
          <p:nvPr/>
        </p:nvSpPr>
        <p:spPr>
          <a:xfrm>
            <a:off x="777240" y="2331720"/>
            <a:ext cx="2552273"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31720"/>
            <a:ext cx="2277953" cy="421640"/>
          </a:xfrm>
          <a:prstGeom prst="rect">
            <a:avLst/>
          </a:prstGeom>
          <a:noFill/>
        </p:spPr>
        <p:txBody>
          <a:bodyPr wrap="square" anchor="ctr">
            <a:spAutoFit/>
          </a:bodyPr>
          <a:lstStyle/>
          <a:p>
            <a:pPr algn="l">
              <a:spcAft>
                <a:spcPts val="400"/>
              </a:spcAft>
            </a:pPr>
            <a:r>
              <a:rPr sz="1100" b="1">
                <a:solidFill>
                  <a:srgbClr val="161B26"/>
                </a:solidFill>
                <a:latin typeface="Arial"/>
              </a:rPr>
              <a:t>K1</a:t>
            </a:r>
          </a:p>
        </p:txBody>
      </p:sp>
      <p:sp>
        <p:nvSpPr>
          <p:cNvPr id="15" name="Rectangle 14"/>
          <p:cNvSpPr/>
          <p:nvPr/>
        </p:nvSpPr>
        <p:spPr>
          <a:xfrm>
            <a:off x="3329513" y="2331720"/>
            <a:ext cx="4041099"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33172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Content management policies, guidelines and permissions on content management</a:t>
            </a:r>
          </a:p>
        </p:txBody>
      </p:sp>
      <p:sp>
        <p:nvSpPr>
          <p:cNvPr id="17" name="Rectangle 16"/>
          <p:cNvSpPr/>
          <p:nvPr/>
        </p:nvSpPr>
        <p:spPr>
          <a:xfrm>
            <a:off x="7370612" y="2331720"/>
            <a:ext cx="4041099"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0340" y="233172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Topics 1–2 · Lab 2</a:t>
            </a:r>
          </a:p>
        </p:txBody>
      </p:sp>
      <p:sp>
        <p:nvSpPr>
          <p:cNvPr id="19" name="Rectangle 18"/>
          <p:cNvSpPr/>
          <p:nvPr/>
        </p:nvSpPr>
        <p:spPr>
          <a:xfrm>
            <a:off x="777240" y="2753360"/>
            <a:ext cx="2552273" cy="421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753360"/>
            <a:ext cx="2277953" cy="421640"/>
          </a:xfrm>
          <a:prstGeom prst="rect">
            <a:avLst/>
          </a:prstGeom>
          <a:noFill/>
        </p:spPr>
        <p:txBody>
          <a:bodyPr wrap="square" anchor="ctr">
            <a:spAutoFit/>
          </a:bodyPr>
          <a:lstStyle/>
          <a:p>
            <a:pPr algn="l">
              <a:spcAft>
                <a:spcPts val="400"/>
              </a:spcAft>
            </a:pPr>
            <a:r>
              <a:rPr sz="1100" b="1">
                <a:solidFill>
                  <a:srgbClr val="161B26"/>
                </a:solidFill>
                <a:latin typeface="Arial"/>
              </a:rPr>
              <a:t>K2</a:t>
            </a:r>
          </a:p>
        </p:txBody>
      </p:sp>
      <p:sp>
        <p:nvSpPr>
          <p:cNvPr id="21" name="Rectangle 20"/>
          <p:cNvSpPr/>
          <p:nvPr/>
        </p:nvSpPr>
        <p:spPr>
          <a:xfrm>
            <a:off x="3329513" y="2753360"/>
            <a:ext cx="4041099" cy="421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275336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Web content for deployment</a:t>
            </a:r>
          </a:p>
        </p:txBody>
      </p:sp>
      <p:sp>
        <p:nvSpPr>
          <p:cNvPr id="23" name="Rectangle 22"/>
          <p:cNvSpPr/>
          <p:nvPr/>
        </p:nvSpPr>
        <p:spPr>
          <a:xfrm>
            <a:off x="7370612" y="2753360"/>
            <a:ext cx="4041099" cy="421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0340" y="275336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Topic 3 · Labs 4–5</a:t>
            </a:r>
          </a:p>
        </p:txBody>
      </p:sp>
      <p:sp>
        <p:nvSpPr>
          <p:cNvPr id="25" name="Rectangle 24"/>
          <p:cNvSpPr/>
          <p:nvPr/>
        </p:nvSpPr>
        <p:spPr>
          <a:xfrm>
            <a:off x="777240" y="3175000"/>
            <a:ext cx="2552273"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175000"/>
            <a:ext cx="2277953" cy="421640"/>
          </a:xfrm>
          <a:prstGeom prst="rect">
            <a:avLst/>
          </a:prstGeom>
          <a:noFill/>
        </p:spPr>
        <p:txBody>
          <a:bodyPr wrap="square" anchor="ctr">
            <a:spAutoFit/>
          </a:bodyPr>
          <a:lstStyle/>
          <a:p>
            <a:pPr algn="l">
              <a:spcAft>
                <a:spcPts val="400"/>
              </a:spcAft>
            </a:pPr>
            <a:r>
              <a:rPr sz="1100" b="1">
                <a:solidFill>
                  <a:srgbClr val="161B26"/>
                </a:solidFill>
                <a:latin typeface="Arial"/>
              </a:rPr>
              <a:t>K3</a:t>
            </a:r>
          </a:p>
        </p:txBody>
      </p:sp>
      <p:sp>
        <p:nvSpPr>
          <p:cNvPr id="27" name="Rectangle 26"/>
          <p:cNvSpPr/>
          <p:nvPr/>
        </p:nvSpPr>
        <p:spPr>
          <a:xfrm>
            <a:off x="3329513" y="3175000"/>
            <a:ext cx="4041099"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17500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Organisation's web properties and assets</a:t>
            </a:r>
          </a:p>
        </p:txBody>
      </p:sp>
      <p:sp>
        <p:nvSpPr>
          <p:cNvPr id="29" name="Rectangle 28"/>
          <p:cNvSpPr/>
          <p:nvPr/>
        </p:nvSpPr>
        <p:spPr>
          <a:xfrm>
            <a:off x="7370612" y="3175000"/>
            <a:ext cx="4041099"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0340" y="317500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Topic 5 · Labs 7–8</a:t>
            </a:r>
          </a:p>
        </p:txBody>
      </p:sp>
      <p:sp>
        <p:nvSpPr>
          <p:cNvPr id="31" name="Rectangle 30"/>
          <p:cNvSpPr/>
          <p:nvPr/>
        </p:nvSpPr>
        <p:spPr>
          <a:xfrm>
            <a:off x="777240" y="3596640"/>
            <a:ext cx="2552273" cy="421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596640"/>
            <a:ext cx="2277953" cy="421640"/>
          </a:xfrm>
          <a:prstGeom prst="rect">
            <a:avLst/>
          </a:prstGeom>
          <a:noFill/>
        </p:spPr>
        <p:txBody>
          <a:bodyPr wrap="square" anchor="ctr">
            <a:spAutoFit/>
          </a:bodyPr>
          <a:lstStyle/>
          <a:p>
            <a:pPr algn="l">
              <a:spcAft>
                <a:spcPts val="400"/>
              </a:spcAft>
            </a:pPr>
            <a:r>
              <a:rPr sz="1100" b="1">
                <a:solidFill>
                  <a:srgbClr val="161B26"/>
                </a:solidFill>
                <a:latin typeface="Arial"/>
              </a:rPr>
              <a:t>K4</a:t>
            </a:r>
          </a:p>
        </p:txBody>
      </p:sp>
      <p:sp>
        <p:nvSpPr>
          <p:cNvPr id="33" name="Rectangle 32"/>
          <p:cNvSpPr/>
          <p:nvPr/>
        </p:nvSpPr>
        <p:spPr>
          <a:xfrm>
            <a:off x="3329513" y="3596640"/>
            <a:ext cx="4041099" cy="421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359664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Creation and curation of web content guidelines</a:t>
            </a:r>
          </a:p>
        </p:txBody>
      </p:sp>
      <p:sp>
        <p:nvSpPr>
          <p:cNvPr id="35" name="Rectangle 34"/>
          <p:cNvSpPr/>
          <p:nvPr/>
        </p:nvSpPr>
        <p:spPr>
          <a:xfrm>
            <a:off x="7370612" y="3596640"/>
            <a:ext cx="4041099" cy="421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0340" y="359664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Topic 4 · Lab 6</a:t>
            </a:r>
          </a:p>
        </p:txBody>
      </p:sp>
      <p:sp>
        <p:nvSpPr>
          <p:cNvPr id="37" name="Rectangle 36"/>
          <p:cNvSpPr/>
          <p:nvPr/>
        </p:nvSpPr>
        <p:spPr>
          <a:xfrm>
            <a:off x="777240" y="4018280"/>
            <a:ext cx="2552273"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018280"/>
            <a:ext cx="2277953" cy="421640"/>
          </a:xfrm>
          <a:prstGeom prst="rect">
            <a:avLst/>
          </a:prstGeom>
          <a:noFill/>
        </p:spPr>
        <p:txBody>
          <a:bodyPr wrap="square" anchor="ctr">
            <a:spAutoFit/>
          </a:bodyPr>
          <a:lstStyle/>
          <a:p>
            <a:pPr algn="l">
              <a:spcAft>
                <a:spcPts val="400"/>
              </a:spcAft>
            </a:pPr>
            <a:r>
              <a:rPr sz="1100" b="1">
                <a:solidFill>
                  <a:srgbClr val="161B26"/>
                </a:solidFill>
                <a:latin typeface="Arial"/>
              </a:rPr>
              <a:t>K5</a:t>
            </a:r>
          </a:p>
        </p:txBody>
      </p:sp>
      <p:sp>
        <p:nvSpPr>
          <p:cNvPr id="39" name="Rectangle 38"/>
          <p:cNvSpPr/>
          <p:nvPr/>
        </p:nvSpPr>
        <p:spPr>
          <a:xfrm>
            <a:off x="3329513" y="4018280"/>
            <a:ext cx="4041099"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39241" y="401828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Web content and platform management systems</a:t>
            </a:r>
          </a:p>
        </p:txBody>
      </p:sp>
      <p:sp>
        <p:nvSpPr>
          <p:cNvPr id="41" name="Rectangle 40"/>
          <p:cNvSpPr/>
          <p:nvPr/>
        </p:nvSpPr>
        <p:spPr>
          <a:xfrm>
            <a:off x="7370612" y="4018280"/>
            <a:ext cx="4041099"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0340" y="401828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Topic 2 · Lab 3</a:t>
            </a:r>
          </a:p>
        </p:txBody>
      </p:sp>
      <p:sp>
        <p:nvSpPr>
          <p:cNvPr id="43" name="Rectangle 42"/>
          <p:cNvSpPr/>
          <p:nvPr/>
        </p:nvSpPr>
        <p:spPr>
          <a:xfrm>
            <a:off x="777240" y="4439920"/>
            <a:ext cx="2552273" cy="421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4439920"/>
            <a:ext cx="2277953" cy="421640"/>
          </a:xfrm>
          <a:prstGeom prst="rect">
            <a:avLst/>
          </a:prstGeom>
          <a:noFill/>
        </p:spPr>
        <p:txBody>
          <a:bodyPr wrap="square" anchor="ctr">
            <a:spAutoFit/>
          </a:bodyPr>
          <a:lstStyle/>
          <a:p>
            <a:pPr algn="l">
              <a:spcAft>
                <a:spcPts val="400"/>
              </a:spcAft>
            </a:pPr>
            <a:r>
              <a:rPr sz="1100" b="1">
                <a:solidFill>
                  <a:srgbClr val="161B26"/>
                </a:solidFill>
                <a:latin typeface="Arial"/>
              </a:rPr>
              <a:t>K6</a:t>
            </a:r>
          </a:p>
        </p:txBody>
      </p:sp>
      <p:sp>
        <p:nvSpPr>
          <p:cNvPr id="45" name="Rectangle 44"/>
          <p:cNvSpPr/>
          <p:nvPr/>
        </p:nvSpPr>
        <p:spPr>
          <a:xfrm>
            <a:off x="3329513" y="4439920"/>
            <a:ext cx="4041099" cy="421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39241" y="443992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Types of performance metrics of content management systems</a:t>
            </a:r>
          </a:p>
        </p:txBody>
      </p:sp>
      <p:sp>
        <p:nvSpPr>
          <p:cNvPr id="47" name="Rectangle 46"/>
          <p:cNvSpPr/>
          <p:nvPr/>
        </p:nvSpPr>
        <p:spPr>
          <a:xfrm>
            <a:off x="7370612" y="4439920"/>
            <a:ext cx="4041099" cy="421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80340" y="443992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Topic 7 · Lab 10</a:t>
            </a:r>
          </a:p>
        </p:txBody>
      </p:sp>
      <p:sp>
        <p:nvSpPr>
          <p:cNvPr id="49" name="Rectangle 48"/>
          <p:cNvSpPr/>
          <p:nvPr/>
        </p:nvSpPr>
        <p:spPr>
          <a:xfrm>
            <a:off x="777240" y="4861560"/>
            <a:ext cx="2552273"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4861560"/>
            <a:ext cx="2277953" cy="421640"/>
          </a:xfrm>
          <a:prstGeom prst="rect">
            <a:avLst/>
          </a:prstGeom>
          <a:noFill/>
        </p:spPr>
        <p:txBody>
          <a:bodyPr wrap="square" anchor="ctr">
            <a:spAutoFit/>
          </a:bodyPr>
          <a:lstStyle/>
          <a:p>
            <a:pPr algn="l">
              <a:spcAft>
                <a:spcPts val="400"/>
              </a:spcAft>
            </a:pPr>
            <a:r>
              <a:rPr sz="1100" b="1">
                <a:solidFill>
                  <a:srgbClr val="161B26"/>
                </a:solidFill>
                <a:latin typeface="Arial"/>
              </a:rPr>
              <a:t>K7</a:t>
            </a:r>
          </a:p>
        </p:txBody>
      </p:sp>
      <p:sp>
        <p:nvSpPr>
          <p:cNvPr id="51" name="Rectangle 50"/>
          <p:cNvSpPr/>
          <p:nvPr/>
        </p:nvSpPr>
        <p:spPr>
          <a:xfrm>
            <a:off x="3329513" y="4861560"/>
            <a:ext cx="4041099"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39241" y="486156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Customer and visitor experience on web properties and assets</a:t>
            </a:r>
          </a:p>
        </p:txBody>
      </p:sp>
      <p:sp>
        <p:nvSpPr>
          <p:cNvPr id="53" name="Rectangle 52"/>
          <p:cNvSpPr/>
          <p:nvPr/>
        </p:nvSpPr>
        <p:spPr>
          <a:xfrm>
            <a:off x="7370612" y="4861560"/>
            <a:ext cx="4041099"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80340" y="486156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Topic 6 · Lab 9</a:t>
            </a:r>
          </a:p>
        </p:txBody>
      </p:sp>
      <p:sp>
        <p:nvSpPr>
          <p:cNvPr id="55" name="Rectangle 54"/>
          <p:cNvSpPr/>
          <p:nvPr/>
        </p:nvSpPr>
        <p:spPr>
          <a:xfrm>
            <a:off x="777240" y="5283200"/>
            <a:ext cx="2552273" cy="421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5283200"/>
            <a:ext cx="2277953" cy="421640"/>
          </a:xfrm>
          <a:prstGeom prst="rect">
            <a:avLst/>
          </a:prstGeom>
          <a:noFill/>
        </p:spPr>
        <p:txBody>
          <a:bodyPr wrap="square" anchor="ctr">
            <a:spAutoFit/>
          </a:bodyPr>
          <a:lstStyle/>
          <a:p>
            <a:pPr algn="l">
              <a:spcAft>
                <a:spcPts val="400"/>
              </a:spcAft>
            </a:pPr>
            <a:r>
              <a:rPr sz="1100" b="1">
                <a:solidFill>
                  <a:srgbClr val="161B26"/>
                </a:solidFill>
                <a:latin typeface="Arial"/>
              </a:rPr>
              <a:t>K8</a:t>
            </a:r>
          </a:p>
        </p:txBody>
      </p:sp>
      <p:sp>
        <p:nvSpPr>
          <p:cNvPr id="57" name="Rectangle 56"/>
          <p:cNvSpPr/>
          <p:nvPr/>
        </p:nvSpPr>
        <p:spPr>
          <a:xfrm>
            <a:off x="3329513" y="5283200"/>
            <a:ext cx="4041099" cy="421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39241" y="528320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Types of market offerings on content management systems</a:t>
            </a:r>
          </a:p>
        </p:txBody>
      </p:sp>
      <p:sp>
        <p:nvSpPr>
          <p:cNvPr id="59" name="Rectangle 58"/>
          <p:cNvSpPr/>
          <p:nvPr/>
        </p:nvSpPr>
        <p:spPr>
          <a:xfrm>
            <a:off x="7370612" y="5283200"/>
            <a:ext cx="4041099" cy="421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80340" y="528320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Topics 6, 9 · Lab 12</a:t>
            </a:r>
          </a:p>
        </p:txBody>
      </p:sp>
      <p:sp>
        <p:nvSpPr>
          <p:cNvPr id="61" name="Rectangle 60"/>
          <p:cNvSpPr/>
          <p:nvPr/>
        </p:nvSpPr>
        <p:spPr>
          <a:xfrm>
            <a:off x="777240" y="5704840"/>
            <a:ext cx="2552273"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4400" y="5704840"/>
            <a:ext cx="2277953" cy="421640"/>
          </a:xfrm>
          <a:prstGeom prst="rect">
            <a:avLst/>
          </a:prstGeom>
          <a:noFill/>
        </p:spPr>
        <p:txBody>
          <a:bodyPr wrap="square" anchor="ctr">
            <a:spAutoFit/>
          </a:bodyPr>
          <a:lstStyle/>
          <a:p>
            <a:pPr algn="l">
              <a:spcAft>
                <a:spcPts val="400"/>
              </a:spcAft>
            </a:pPr>
            <a:r>
              <a:rPr sz="1100" b="1">
                <a:solidFill>
                  <a:srgbClr val="161B26"/>
                </a:solidFill>
                <a:latin typeface="Arial"/>
              </a:rPr>
              <a:t>K9</a:t>
            </a:r>
          </a:p>
        </p:txBody>
      </p:sp>
      <p:sp>
        <p:nvSpPr>
          <p:cNvPr id="63" name="Rectangle 62"/>
          <p:cNvSpPr/>
          <p:nvPr/>
        </p:nvSpPr>
        <p:spPr>
          <a:xfrm>
            <a:off x="3329513" y="5704840"/>
            <a:ext cx="4041099"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39241" y="570484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Types of plug-ins to manage the organisation's web properties and assets</a:t>
            </a:r>
          </a:p>
        </p:txBody>
      </p:sp>
      <p:sp>
        <p:nvSpPr>
          <p:cNvPr id="65" name="Rectangle 64"/>
          <p:cNvSpPr/>
          <p:nvPr/>
        </p:nvSpPr>
        <p:spPr>
          <a:xfrm>
            <a:off x="7370612" y="5704840"/>
            <a:ext cx="4041099" cy="4216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480340" y="5704840"/>
            <a:ext cx="3821643" cy="421640"/>
          </a:xfrm>
          <a:prstGeom prst="rect">
            <a:avLst/>
          </a:prstGeom>
          <a:noFill/>
        </p:spPr>
        <p:txBody>
          <a:bodyPr wrap="square" anchor="ctr">
            <a:spAutoFit/>
          </a:bodyPr>
          <a:lstStyle/>
          <a:p>
            <a:pPr algn="ctr">
              <a:spcAft>
                <a:spcPts val="400"/>
              </a:spcAft>
            </a:pPr>
            <a:r>
              <a:rPr sz="1050" b="0">
                <a:solidFill>
                  <a:srgbClr val="5B6372"/>
                </a:solidFill>
                <a:latin typeface="Arial"/>
              </a:rPr>
              <a:t>Topic 8 · Lab 11</a:t>
            </a:r>
          </a:p>
        </p:txBody>
      </p:sp>
      <p:sp>
        <p:nvSpPr>
          <p:cNvPr id="67" name="TextBox 6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68" name="TextBox 6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9" name="TextBox 6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BY THE END OF THIS COURSE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9482328" cy="786384"/>
          </a:xfrm>
          <a:prstGeom prst="rect">
            <a:avLst/>
          </a:prstGeom>
          <a:noFill/>
        </p:spPr>
        <p:txBody>
          <a:bodyPr wrap="square" anchor="ctr">
            <a:spAutoFit/>
          </a:bodyPr>
          <a:lstStyle/>
          <a:p>
            <a:pPr algn="l">
              <a:spcAft>
                <a:spcPts val="200"/>
              </a:spcAft>
            </a:pPr>
            <a:r>
              <a:rPr sz="1500" b="1">
                <a:solidFill>
                  <a:srgbClr val="161B26"/>
                </a:solidFill>
                <a:latin typeface="Arial"/>
              </a:rPr>
              <a:t>LO1</a:t>
            </a:r>
          </a:p>
          <a:p>
            <a:pPr algn="l">
              <a:spcAft>
                <a:spcPts val="200"/>
              </a:spcAft>
            </a:pPr>
            <a:r>
              <a:rPr sz="1100" b="0">
                <a:solidFill>
                  <a:srgbClr val="5B6372"/>
                </a:solidFill>
                <a:latin typeface="Arial"/>
              </a:rPr>
              <a:t>Implement content management policies on Notion adhering to organizational guidelines and permissions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026664"/>
            <a:ext cx="9482328" cy="786384"/>
          </a:xfrm>
          <a:prstGeom prst="rect">
            <a:avLst/>
          </a:prstGeom>
          <a:noFill/>
        </p:spPr>
        <p:txBody>
          <a:bodyPr wrap="square" anchor="ctr">
            <a:spAutoFit/>
          </a:bodyPr>
          <a:lstStyle/>
          <a:p>
            <a:pPr algn="l">
              <a:spcAft>
                <a:spcPts val="200"/>
              </a:spcAft>
            </a:pPr>
            <a:r>
              <a:rPr sz="1500" b="1">
                <a:solidFill>
                  <a:srgbClr val="161B26"/>
                </a:solidFill>
                <a:latin typeface="Arial"/>
              </a:rPr>
              <a:t>LO2</a:t>
            </a:r>
          </a:p>
          <a:p>
            <a:pPr algn="l">
              <a:spcAft>
                <a:spcPts val="200"/>
              </a:spcAft>
            </a:pPr>
            <a:r>
              <a:rPr sz="1100" b="0">
                <a:solidFill>
                  <a:srgbClr val="5B6372"/>
                </a:solidFill>
                <a:latin typeface="Arial"/>
              </a:rPr>
              <a:t>Post and update content on Notion, ensuring adherence to content creation and curation guidelines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78808"/>
            <a:ext cx="9482328" cy="786384"/>
          </a:xfrm>
          <a:prstGeom prst="rect">
            <a:avLst/>
          </a:prstGeom>
          <a:noFill/>
        </p:spPr>
        <p:txBody>
          <a:bodyPr wrap="square" anchor="ctr">
            <a:spAutoFit/>
          </a:bodyPr>
          <a:lstStyle/>
          <a:p>
            <a:pPr algn="l">
              <a:spcAft>
                <a:spcPts val="200"/>
              </a:spcAft>
            </a:pPr>
            <a:r>
              <a:rPr sz="1500" b="1">
                <a:solidFill>
                  <a:srgbClr val="161B26"/>
                </a:solidFill>
                <a:latin typeface="Arial"/>
              </a:rPr>
              <a:t>LO3</a:t>
            </a:r>
          </a:p>
          <a:p>
            <a:pPr algn="l">
              <a:spcAft>
                <a:spcPts val="200"/>
              </a:spcAft>
            </a:pPr>
            <a:r>
              <a:rPr sz="1100" b="0">
                <a:solidFill>
                  <a:srgbClr val="5B6372"/>
                </a:solidFill>
                <a:latin typeface="Arial"/>
              </a:rPr>
              <a:t>Maintain web properties and assets in Notion, while staying aware of market offerings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5330952"/>
            <a:ext cx="9482328" cy="786384"/>
          </a:xfrm>
          <a:prstGeom prst="rect">
            <a:avLst/>
          </a:prstGeom>
          <a:noFill/>
        </p:spPr>
        <p:txBody>
          <a:bodyPr wrap="square" anchor="ctr">
            <a:spAutoFit/>
          </a:bodyPr>
          <a:lstStyle/>
          <a:p>
            <a:pPr algn="l">
              <a:spcAft>
                <a:spcPts val="200"/>
              </a:spcAft>
            </a:pPr>
            <a:r>
              <a:rPr sz="1500" b="1">
                <a:solidFill>
                  <a:srgbClr val="161B26"/>
                </a:solidFill>
                <a:latin typeface="Arial"/>
              </a:rPr>
              <a:t>LO4</a:t>
            </a:r>
          </a:p>
          <a:p>
            <a:pPr algn="l">
              <a:spcAft>
                <a:spcPts val="200"/>
              </a:spcAft>
            </a:pPr>
            <a:r>
              <a:rPr sz="1100" b="0">
                <a:solidFill>
                  <a:srgbClr val="5B6372"/>
                </a:solidFill>
                <a:latin typeface="Arial"/>
              </a:rPr>
              <a:t>Report on performance metrics, recommend appropriate plug-ins, and generate ideas to enhance customer and visitor experiences on Notion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Course Outline — Four Learning Units, Nine Topics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9482328" cy="786384"/>
          </a:xfrm>
          <a:prstGeom prst="rect">
            <a:avLst/>
          </a:prstGeom>
          <a:noFill/>
        </p:spPr>
        <p:txBody>
          <a:bodyPr wrap="square" anchor="ctr">
            <a:spAutoFit/>
          </a:bodyPr>
          <a:lstStyle/>
          <a:p>
            <a:pPr algn="l">
              <a:spcAft>
                <a:spcPts val="200"/>
              </a:spcAft>
            </a:pPr>
            <a:r>
              <a:rPr sz="1500" b="1">
                <a:solidFill>
                  <a:srgbClr val="161B26"/>
                </a:solidFill>
                <a:latin typeface="Arial"/>
              </a:rPr>
              <a:t>LU1 · Foundations and Workspace Management</a:t>
            </a:r>
          </a:p>
          <a:p>
            <a:pPr algn="l">
              <a:spcAft>
                <a:spcPts val="200"/>
              </a:spcAft>
            </a:pPr>
            <a:r>
              <a:rPr sz="1100" b="0">
                <a:solidFill>
                  <a:srgbClr val="5B6372"/>
                </a:solidFill>
                <a:latin typeface="Arial"/>
              </a:rPr>
              <a:t>Topic 1 Introduction to Notion · Topic 2 Workspace Collaboration Tools — Labs 1–3 (LO1)</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026664"/>
            <a:ext cx="9482328" cy="786384"/>
          </a:xfrm>
          <a:prstGeom prst="rect">
            <a:avLst/>
          </a:prstGeom>
          <a:noFill/>
        </p:spPr>
        <p:txBody>
          <a:bodyPr wrap="square" anchor="ctr">
            <a:spAutoFit/>
          </a:bodyPr>
          <a:lstStyle/>
          <a:p>
            <a:pPr algn="l">
              <a:spcAft>
                <a:spcPts val="200"/>
              </a:spcAft>
            </a:pPr>
            <a:r>
              <a:rPr sz="1500" b="1">
                <a:solidFill>
                  <a:srgbClr val="161B26"/>
                </a:solidFill>
                <a:latin typeface="Arial"/>
              </a:rPr>
              <a:t>LU2 · Content Creation and Management</a:t>
            </a:r>
          </a:p>
          <a:p>
            <a:pPr algn="l">
              <a:spcAft>
                <a:spcPts val="200"/>
              </a:spcAft>
            </a:pPr>
            <a:r>
              <a:rPr sz="1100" b="0">
                <a:solidFill>
                  <a:srgbClr val="5B6372"/>
                </a:solidFill>
                <a:latin typeface="Arial"/>
              </a:rPr>
              <a:t>Topic 3 Pages and Content Blocks · Topic 4 Advanced Content Techniques — Labs 4–6 (LO2)</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78808"/>
            <a:ext cx="9482328" cy="786384"/>
          </a:xfrm>
          <a:prstGeom prst="rect">
            <a:avLst/>
          </a:prstGeom>
          <a:noFill/>
        </p:spPr>
        <p:txBody>
          <a:bodyPr wrap="square" anchor="ctr">
            <a:spAutoFit/>
          </a:bodyPr>
          <a:lstStyle/>
          <a:p>
            <a:pPr algn="l">
              <a:spcAft>
                <a:spcPts val="200"/>
              </a:spcAft>
            </a:pPr>
            <a:r>
              <a:rPr sz="1500" b="1">
                <a:solidFill>
                  <a:srgbClr val="161B26"/>
                </a:solidFill>
                <a:latin typeface="Arial"/>
              </a:rPr>
              <a:t>LU3 · Mastering Databases in Notion</a:t>
            </a:r>
          </a:p>
          <a:p>
            <a:pPr algn="l">
              <a:spcAft>
                <a:spcPts val="200"/>
              </a:spcAft>
            </a:pPr>
            <a:r>
              <a:rPr sz="1100" b="0">
                <a:solidFill>
                  <a:srgbClr val="5B6372"/>
                </a:solidFill>
                <a:latin typeface="Arial"/>
              </a:rPr>
              <a:t>Topic 5 Database Essentials · Topic 6 Advanced Database Features — Labs 7–9 (LO3)</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5330952"/>
            <a:ext cx="9482328" cy="786384"/>
          </a:xfrm>
          <a:prstGeom prst="rect">
            <a:avLst/>
          </a:prstGeom>
          <a:noFill/>
        </p:spPr>
        <p:txBody>
          <a:bodyPr wrap="square" anchor="ctr">
            <a:spAutoFit/>
          </a:bodyPr>
          <a:lstStyle/>
          <a:p>
            <a:pPr algn="l">
              <a:spcAft>
                <a:spcPts val="200"/>
              </a:spcAft>
            </a:pPr>
            <a:r>
              <a:rPr sz="1500" b="1">
                <a:solidFill>
                  <a:srgbClr val="161B26"/>
                </a:solidFill>
                <a:latin typeface="Arial"/>
              </a:rPr>
              <a:t>LU4 · Collaboration, Publishing and Integrations</a:t>
            </a:r>
          </a:p>
          <a:p>
            <a:pPr algn="l">
              <a:spcAft>
                <a:spcPts val="200"/>
              </a:spcAft>
            </a:pPr>
            <a:r>
              <a:rPr sz="1100" b="0">
                <a:solidFill>
                  <a:srgbClr val="5B6372"/>
                </a:solidFill>
                <a:latin typeface="Arial"/>
              </a:rPr>
              <a:t>Topic 7 Collaboration and Publishing · Topic 8 Data Management and Integrations · Topic 9 Notion AI — Labs 10–12 (LO4)</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2 Days, 9:30am–6:30pm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2" name="TextBox 11"/>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3" name="TextBox 12"/>
          <p:cNvSpPr txBox="1"/>
          <p:nvPr/>
        </p:nvSpPr>
        <p:spPr>
          <a:xfrm>
            <a:off x="1005840" y="2514600"/>
            <a:ext cx="4754880" cy="2926080"/>
          </a:xfrm>
          <a:prstGeom prst="rect">
            <a:avLst/>
          </a:prstGeom>
          <a:noFill/>
        </p:spPr>
        <p:txBody>
          <a:bodyPr wrap="square">
            <a:spAutoFit/>
          </a:bodyPr>
          <a:lstStyle/>
          <a:p>
            <a:pPr>
              <a:spcAft>
                <a:spcPts val="700"/>
              </a:spcAft>
            </a:pPr>
            <a:r>
              <a:rPr sz="1300" b="1">
                <a:solidFill>
                  <a:srgbClr val="161B26"/>
                </a:solidFill>
                <a:latin typeface="Arial"/>
              </a:rPr>
              <a:t>•  Day 1 — Foundations and content (8 h)</a:t>
            </a:r>
          </a:p>
          <a:p>
            <a:pPr>
              <a:spcAft>
                <a:spcPts val="700"/>
              </a:spcAft>
            </a:pPr>
            <a:r>
              <a:rPr sz="1100" b="0">
                <a:solidFill>
                  <a:srgbClr val="5B6372"/>
                </a:solidFill>
                <a:latin typeface="Arial"/>
              </a:rPr>
              <a:t>–  AM attendance · introductions · learning outcomes</a:t>
            </a:r>
          </a:p>
          <a:p>
            <a:pPr>
              <a:spcAft>
                <a:spcPts val="700"/>
              </a:spcAft>
            </a:pPr>
            <a:r>
              <a:rPr sz="1100" b="0">
                <a:solidFill>
                  <a:srgbClr val="5B6372"/>
                </a:solidFill>
                <a:latin typeface="Arial"/>
              </a:rPr>
              <a:t>–  Topic 1 Introduction to Notion · Labs 1–2</a:t>
            </a:r>
          </a:p>
          <a:p>
            <a:pPr>
              <a:spcAft>
                <a:spcPts val="700"/>
              </a:spcAft>
            </a:pPr>
            <a:r>
              <a:rPr sz="1100" b="0">
                <a:solidFill>
                  <a:srgbClr val="5B6372"/>
                </a:solidFill>
                <a:latin typeface="Arial"/>
              </a:rPr>
              <a:t>–  Topic 2 Workspace Collaboration Tools · Lab 3</a:t>
            </a:r>
          </a:p>
          <a:p>
            <a:pPr>
              <a:spcAft>
                <a:spcPts val="700"/>
              </a:spcAft>
            </a:pPr>
            <a:r>
              <a:rPr sz="1100" b="0">
                <a:solidFill>
                  <a:srgbClr val="5B6372"/>
                </a:solidFill>
                <a:latin typeface="Arial"/>
              </a:rPr>
              <a:t>–  Lunch (1 hour)</a:t>
            </a:r>
          </a:p>
          <a:p>
            <a:pPr>
              <a:spcAft>
                <a:spcPts val="700"/>
              </a:spcAft>
            </a:pPr>
            <a:r>
              <a:rPr sz="1100" b="0">
                <a:solidFill>
                  <a:srgbClr val="5B6372"/>
                </a:solidFill>
                <a:latin typeface="Arial"/>
              </a:rPr>
              <a:t>–  PM attendance · Topic 3 Pages and Content Blocks · Labs 4–5</a:t>
            </a:r>
          </a:p>
          <a:p>
            <a:pPr>
              <a:spcAft>
                <a:spcPts val="700"/>
              </a:spcAft>
            </a:pPr>
            <a:r>
              <a:rPr sz="1100" b="0">
                <a:solidFill>
                  <a:srgbClr val="5B6372"/>
                </a:solidFill>
                <a:latin typeface="Arial"/>
              </a:rPr>
              <a:t>–  Topic 4 Advanced Content Techniques · Lab 6</a:t>
            </a:r>
          </a:p>
          <a:p>
            <a:pPr>
              <a:spcAft>
                <a:spcPts val="700"/>
              </a:spcAft>
            </a:pPr>
            <a:r>
              <a:rPr sz="1100" b="0">
                <a:solidFill>
                  <a:srgbClr val="5B6372"/>
                </a:solidFill>
                <a:latin typeface="Arial"/>
              </a:rPr>
              <a:t>–  Day 1 recap and Q&amp;A</a:t>
            </a:r>
          </a:p>
        </p:txBody>
      </p:sp>
      <p:sp>
        <p:nvSpPr>
          <p:cNvPr id="14" name="TextBox 13"/>
          <p:cNvSpPr txBox="1"/>
          <p:nvPr/>
        </p:nvSpPr>
        <p:spPr>
          <a:xfrm>
            <a:off x="6583680" y="2514600"/>
            <a:ext cx="4617720" cy="2926080"/>
          </a:xfrm>
          <a:prstGeom prst="rect">
            <a:avLst/>
          </a:prstGeom>
          <a:noFill/>
        </p:spPr>
        <p:txBody>
          <a:bodyPr wrap="square">
            <a:spAutoFit/>
          </a:bodyPr>
          <a:lstStyle/>
          <a:p>
            <a:pPr>
              <a:spcAft>
                <a:spcPts val="700"/>
              </a:spcAft>
            </a:pPr>
            <a:r>
              <a:rPr sz="1300" b="1">
                <a:solidFill>
                  <a:srgbClr val="161B26"/>
                </a:solidFill>
                <a:latin typeface="Arial"/>
              </a:rPr>
              <a:t>•  Day 2 — Databases, publishing, AI (6 h + 2 h assessment)</a:t>
            </a:r>
          </a:p>
          <a:p>
            <a:pPr>
              <a:spcAft>
                <a:spcPts val="700"/>
              </a:spcAft>
            </a:pPr>
            <a:r>
              <a:rPr sz="1100" b="0">
                <a:solidFill>
                  <a:srgbClr val="5B6372"/>
                </a:solidFill>
                <a:latin typeface="Arial"/>
              </a:rPr>
              <a:t>–  AM attendance · Topic 5 Database Essentials · Labs 7–8</a:t>
            </a:r>
          </a:p>
          <a:p>
            <a:pPr>
              <a:spcAft>
                <a:spcPts val="700"/>
              </a:spcAft>
            </a:pPr>
            <a:r>
              <a:rPr sz="1100" b="0">
                <a:solidFill>
                  <a:srgbClr val="5B6372"/>
                </a:solidFill>
                <a:latin typeface="Arial"/>
              </a:rPr>
              <a:t>–  Topic 6 Advanced Database Features · Lab 9</a:t>
            </a:r>
          </a:p>
          <a:p>
            <a:pPr>
              <a:spcAft>
                <a:spcPts val="700"/>
              </a:spcAft>
            </a:pPr>
            <a:r>
              <a:rPr sz="1100" b="0">
                <a:solidFill>
                  <a:srgbClr val="5B6372"/>
                </a:solidFill>
                <a:latin typeface="Arial"/>
              </a:rPr>
              <a:t>–  Lunch (1 hour)</a:t>
            </a:r>
          </a:p>
          <a:p>
            <a:pPr>
              <a:spcAft>
                <a:spcPts val="700"/>
              </a:spcAft>
            </a:pPr>
            <a:r>
              <a:rPr sz="1100" b="0">
                <a:solidFill>
                  <a:srgbClr val="5B6372"/>
                </a:solidFill>
                <a:latin typeface="Arial"/>
              </a:rPr>
              <a:t>–  PM attendance · Topic 7 Collaboration and Publishing · Lab 10</a:t>
            </a:r>
          </a:p>
          <a:p>
            <a:pPr>
              <a:spcAft>
                <a:spcPts val="700"/>
              </a:spcAft>
            </a:pPr>
            <a:r>
              <a:rPr sz="1100" b="0">
                <a:solidFill>
                  <a:srgbClr val="5B6372"/>
                </a:solidFill>
                <a:latin typeface="Arial"/>
              </a:rPr>
              <a:t>–  Topic 8 Data Management and Integrations · Lab 11</a:t>
            </a:r>
          </a:p>
          <a:p>
            <a:pPr>
              <a:spcAft>
                <a:spcPts val="700"/>
              </a:spcAft>
            </a:pPr>
            <a:r>
              <a:rPr sz="1100" b="0">
                <a:solidFill>
                  <a:srgbClr val="5B6372"/>
                </a:solidFill>
                <a:latin typeface="Arial"/>
              </a:rPr>
              <a:t>–  Topic 9 Notion AI · Lab 12 · briefing for assessment</a:t>
            </a:r>
          </a:p>
          <a:p>
            <a:pPr>
              <a:spcAft>
                <a:spcPts val="700"/>
              </a:spcAft>
            </a:pPr>
            <a:r>
              <a:rPr sz="1100" b="0">
                <a:solidFill>
                  <a:srgbClr val="5B6372"/>
                </a:solidFill>
                <a:latin typeface="Arial"/>
              </a:rPr>
              <a:t>–  4:30pm WA (SAQ) 1 h · 5:30pm PP 1 h · TRAQOM</a:t>
            </a:r>
          </a:p>
        </p:txBody>
      </p:sp>
      <p:sp>
        <p:nvSpPr>
          <p:cNvPr id="15" name="Rectangle 14"/>
          <p:cNvSpPr/>
          <p:nvPr/>
        </p:nvSpPr>
        <p:spPr>
          <a:xfrm>
            <a:off x="777240" y="5687568"/>
            <a:ext cx="10652760"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687568"/>
            <a:ext cx="10241280" cy="603504"/>
          </a:xfrm>
          <a:prstGeom prst="rect">
            <a:avLst/>
          </a:prstGeom>
          <a:noFill/>
        </p:spPr>
        <p:txBody>
          <a:bodyPr wrap="square" anchor="ctr">
            <a:spAutoFit/>
          </a:bodyPr>
          <a:lstStyle/>
          <a:p>
            <a:pPr algn="l">
              <a:spcAft>
                <a:spcPts val="400"/>
              </a:spcAft>
            </a:pPr>
            <a:r>
              <a:rPr sz="1100" b="1">
                <a:solidFill>
                  <a:srgbClr val="1F6FEB"/>
                </a:solidFill>
                <a:latin typeface="Arial"/>
              </a:rPr>
              <a:t>RULE   </a:t>
            </a:r>
            <a:r>
              <a:rPr sz="1250" b="0">
                <a:solidFill>
                  <a:srgbClr val="161B26"/>
                </a:solidFill>
                <a:latin typeface="Arial"/>
              </a:rPr>
              <a:t>14 training hours + 2 assessment hours · 10-minute tea breaks are within training time · full timings in the Lesson Plan.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Phones away</a:t>
            </a:r>
          </a:p>
          <a:p>
            <a:pPr algn="l">
              <a:spcAft>
                <a:spcPts val="200"/>
              </a:spcAft>
            </a:pPr>
            <a:r>
              <a:rPr sz="11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No recording</a:t>
            </a:r>
          </a:p>
          <a:p>
            <a:pPr algn="l">
              <a:spcAft>
                <a:spcPts val="200"/>
              </a:spcAft>
            </a:pPr>
            <a:r>
              <a:rPr sz="1100" b="0">
                <a:solidFill>
                  <a:srgbClr val="5B6372"/>
                </a:solidFill>
                <a:latin typeface="Arial"/>
              </a:rPr>
              <a:t>No photos or recording of assessment scripts, at any point.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No discussion</a:t>
            </a:r>
          </a:p>
          <a:p>
            <a:pPr algn="l">
              <a:spcAft>
                <a:spcPts val="200"/>
              </a:spcAft>
            </a:pPr>
            <a:r>
              <a:rPr sz="1100" b="0">
                <a:solidFill>
                  <a:srgbClr val="5B6372"/>
                </a:solidFill>
                <a:latin typeface="Arial"/>
              </a:rPr>
              <a:t>Work individually — no discussion once the assessment starts.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Black or blue pen</a:t>
            </a:r>
          </a:p>
          <a:p>
            <a:pPr algn="l">
              <a:spcAft>
                <a:spcPts val="200"/>
              </a:spcAft>
            </a:pPr>
            <a:r>
              <a:rPr sz="1100" b="0">
                <a:solidFill>
                  <a:srgbClr val="5B6372"/>
                </a:solidFill>
                <a:latin typeface="Arial"/>
              </a:rPr>
              <a:t>Use a black or blue pen for any hard-copy assessment.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No correction fluid</a:t>
            </a:r>
          </a:p>
          <a:p>
            <a:pPr algn="l">
              <a:spcAft>
                <a:spcPts val="200"/>
              </a:spcAft>
            </a:pPr>
            <a:r>
              <a:rPr sz="1100" b="0">
                <a:solidFill>
                  <a:srgbClr val="5B6372"/>
                </a:solidFill>
                <a:latin typeface="Arial"/>
              </a:rPr>
              <a:t>No liquid paper or correction tape; strike through instead.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Time is called</a:t>
            </a:r>
          </a:p>
          <a:p>
            <a:pPr algn="l">
              <a:spcAft>
                <a:spcPts val="200"/>
              </a:spcAft>
            </a:pPr>
            <a:r>
              <a:rPr sz="1100" b="0">
                <a:solidFill>
                  <a:srgbClr val="5B6372"/>
                </a:solidFill>
                <a:latin typeface="Arial"/>
              </a:rPr>
              <a:t>Scripts are collected when time is up — submit on the LMS before then.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
            </a:r>
          </a:p>
        </p:txBody>
      </p:sp>
      <p:sp>
        <p:nvSpPr>
          <p:cNvPr id="9" name="Rectangle 8"/>
          <p:cNvSpPr/>
          <p:nvPr/>
        </p:nvSpPr>
        <p:spPr>
          <a:xfrm>
            <a:off x="3329513"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Written Assessment (WA)</a:t>
            </a:r>
          </a:p>
        </p:txBody>
      </p:sp>
      <p:sp>
        <p:nvSpPr>
          <p:cNvPr id="11" name="Rectangle 10"/>
          <p:cNvSpPr/>
          <p:nvPr/>
        </p:nvSpPr>
        <p:spPr>
          <a:xfrm>
            <a:off x="7370612"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0340"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Practical Performance (PP)</a:t>
            </a:r>
          </a:p>
        </p:txBody>
      </p:sp>
      <p:sp>
        <p:nvSpPr>
          <p:cNvPr id="13" name="Rectangle 12"/>
          <p:cNvSpPr/>
          <p:nvPr/>
        </p:nvSpPr>
        <p:spPr>
          <a:xfrm>
            <a:off x="777240" y="233172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317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Format</a:t>
            </a:r>
          </a:p>
        </p:txBody>
      </p:sp>
      <p:sp>
        <p:nvSpPr>
          <p:cNvPr id="15" name="Rectangle 14"/>
          <p:cNvSpPr/>
          <p:nvPr/>
        </p:nvSpPr>
        <p:spPr>
          <a:xfrm>
            <a:off x="3329513" y="233172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33172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Short-answer questions (SAQ)</a:t>
            </a:r>
          </a:p>
        </p:txBody>
      </p:sp>
      <p:sp>
        <p:nvSpPr>
          <p:cNvPr id="17" name="Rectangle 16"/>
          <p:cNvSpPr/>
          <p:nvPr/>
        </p:nvSpPr>
        <p:spPr>
          <a:xfrm>
            <a:off x="7370612" y="233172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0340" y="233172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Scenario-based practical tasks in Notion</a:t>
            </a:r>
          </a:p>
        </p:txBody>
      </p:sp>
      <p:sp>
        <p:nvSpPr>
          <p:cNvPr id="19" name="Rectangle 18"/>
          <p:cNvSpPr/>
          <p:nvPr/>
        </p:nvSpPr>
        <p:spPr>
          <a:xfrm>
            <a:off x="777240" y="288798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8798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What it tests</a:t>
            </a:r>
          </a:p>
        </p:txBody>
      </p:sp>
      <p:sp>
        <p:nvSpPr>
          <p:cNvPr id="21" name="Rectangle 20"/>
          <p:cNvSpPr/>
          <p:nvPr/>
        </p:nvSpPr>
        <p:spPr>
          <a:xfrm>
            <a:off x="3329513" y="288798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288798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Underpinning knowledge K1–K9</a:t>
            </a:r>
          </a:p>
        </p:txBody>
      </p:sp>
      <p:sp>
        <p:nvSpPr>
          <p:cNvPr id="23" name="Rectangle 22"/>
          <p:cNvSpPr/>
          <p:nvPr/>
        </p:nvSpPr>
        <p:spPr>
          <a:xfrm>
            <a:off x="7370612" y="288798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0340" y="288798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Practical abilities A1–A7</a:t>
            </a:r>
          </a:p>
        </p:txBody>
      </p:sp>
      <p:sp>
        <p:nvSpPr>
          <p:cNvPr id="25" name="Rectangle 24"/>
          <p:cNvSpPr/>
          <p:nvPr/>
        </p:nvSpPr>
        <p:spPr>
          <a:xfrm>
            <a:off x="777240" y="344424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44424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Items</a:t>
            </a:r>
          </a:p>
        </p:txBody>
      </p:sp>
      <p:sp>
        <p:nvSpPr>
          <p:cNvPr id="27" name="Rectangle 26"/>
          <p:cNvSpPr/>
          <p:nvPr/>
        </p:nvSpPr>
        <p:spPr>
          <a:xfrm>
            <a:off x="3329513" y="344424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44424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9 questions</a:t>
            </a:r>
          </a:p>
        </p:txBody>
      </p:sp>
      <p:sp>
        <p:nvSpPr>
          <p:cNvPr id="29" name="Rectangle 28"/>
          <p:cNvSpPr/>
          <p:nvPr/>
        </p:nvSpPr>
        <p:spPr>
          <a:xfrm>
            <a:off x="7370612" y="344424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0340" y="344424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5 tasks</a:t>
            </a:r>
          </a:p>
        </p:txBody>
      </p:sp>
      <p:sp>
        <p:nvSpPr>
          <p:cNvPr id="31" name="Rectangle 30"/>
          <p:cNvSpPr/>
          <p:nvPr/>
        </p:nvSpPr>
        <p:spPr>
          <a:xfrm>
            <a:off x="777240" y="400050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00050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Duration</a:t>
            </a:r>
          </a:p>
        </p:txBody>
      </p:sp>
      <p:sp>
        <p:nvSpPr>
          <p:cNvPr id="33" name="Rectangle 32"/>
          <p:cNvSpPr/>
          <p:nvPr/>
        </p:nvSpPr>
        <p:spPr>
          <a:xfrm>
            <a:off x="3329513" y="400050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400050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1 hour</a:t>
            </a:r>
          </a:p>
        </p:txBody>
      </p:sp>
      <p:sp>
        <p:nvSpPr>
          <p:cNvPr id="35" name="Rectangle 34"/>
          <p:cNvSpPr/>
          <p:nvPr/>
        </p:nvSpPr>
        <p:spPr>
          <a:xfrm>
            <a:off x="7370612" y="400050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0340" y="400050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1 hour</a:t>
            </a:r>
          </a:p>
        </p:txBody>
      </p:sp>
      <p:sp>
        <p:nvSpPr>
          <p:cNvPr id="37" name="Rectangle 36"/>
          <p:cNvSpPr/>
          <p:nvPr/>
        </p:nvSpPr>
        <p:spPr>
          <a:xfrm>
            <a:off x="777240" y="455676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55676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Conditions</a:t>
            </a:r>
          </a:p>
        </p:txBody>
      </p:sp>
      <p:sp>
        <p:nvSpPr>
          <p:cNvPr id="39" name="Rectangle 38"/>
          <p:cNvSpPr/>
          <p:nvPr/>
        </p:nvSpPr>
        <p:spPr>
          <a:xfrm>
            <a:off x="3329513" y="455676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39241" y="455676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Open book, individual</a:t>
            </a:r>
          </a:p>
        </p:txBody>
      </p:sp>
      <p:sp>
        <p:nvSpPr>
          <p:cNvPr id="41" name="Rectangle 40"/>
          <p:cNvSpPr/>
          <p:nvPr/>
        </p:nvSpPr>
        <p:spPr>
          <a:xfrm>
            <a:off x="7370612" y="455676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0340" y="455676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Open book, individual</a:t>
            </a:r>
          </a:p>
        </p:txBody>
      </p:sp>
      <p:sp>
        <p:nvSpPr>
          <p:cNvPr id="43" name="Rectangle 42"/>
          <p:cNvSpPr/>
          <p:nvPr/>
        </p:nvSpPr>
        <p:spPr>
          <a:xfrm>
            <a:off x="777240" y="511302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1130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Submission</a:t>
            </a:r>
          </a:p>
        </p:txBody>
      </p:sp>
      <p:sp>
        <p:nvSpPr>
          <p:cNvPr id="45" name="Rectangle 44"/>
          <p:cNvSpPr/>
          <p:nvPr/>
        </p:nvSpPr>
        <p:spPr>
          <a:xfrm>
            <a:off x="3329513" y="511302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39241" y="511302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On the LMS</a:t>
            </a:r>
          </a:p>
        </p:txBody>
      </p:sp>
      <p:sp>
        <p:nvSpPr>
          <p:cNvPr id="47" name="Rectangle 46"/>
          <p:cNvSpPr/>
          <p:nvPr/>
        </p:nvSpPr>
        <p:spPr>
          <a:xfrm>
            <a:off x="7370612" y="511302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80340" y="511302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On the LMS, with screenshots as evidence</a:t>
            </a:r>
          </a:p>
        </p:txBody>
      </p:sp>
      <p:sp>
        <p:nvSpPr>
          <p:cNvPr id="49" name="Rectangle 48"/>
          <p:cNvSpPr/>
          <p:nvPr/>
        </p:nvSpPr>
        <p:spPr>
          <a:xfrm>
            <a:off x="777240" y="5852160"/>
            <a:ext cx="10634472"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5840" y="5852160"/>
            <a:ext cx="10268712" cy="566928"/>
          </a:xfrm>
          <a:prstGeom prst="rect">
            <a:avLst/>
          </a:prstGeom>
          <a:noFill/>
        </p:spPr>
        <p:txBody>
          <a:bodyPr wrap="square" anchor="ctr">
            <a:spAutoFit/>
          </a:bodyPr>
          <a:lstStyle/>
          <a:p>
            <a:pPr algn="l">
              <a:spcAft>
                <a:spcPts val="400"/>
              </a:spcAft>
            </a:pPr>
            <a:r>
              <a:rPr sz="1100" b="1">
                <a:solidFill>
                  <a:srgbClr val="1F6FEB"/>
                </a:solidFill>
                <a:latin typeface="Arial"/>
              </a:rPr>
              <a:t>RULE   </a:t>
            </a:r>
            <a:r>
              <a:rPr sz="1250" b="0">
                <a:solidFill>
                  <a:srgbClr val="161B26"/>
                </a:solidFill>
                <a:latin typeface="Arial"/>
              </a:rPr>
              <a:t>Open book: slides, Learner Guide and your own lab work. 75% attendance is required; an appeal process is available.</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23544"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Rectangle 11"/>
          <p:cNvSpPr/>
          <p:nvPr/>
        </p:nvSpPr>
        <p:spPr>
          <a:xfrm>
            <a:off x="2710281" y="3650285"/>
            <a:ext cx="80468"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790749" y="3618098"/>
            <a:ext cx="120700" cy="124724"/>
          </a:xfrm>
          <a:custGeom>
            <a:avLst/>
            <a:gdLst/>
            <a:ahLst/>
            <a:cxnLst/>
            <a:rect l="l" t="t" r="r" b="b"/>
            <a:pathLst>
              <a:path w="120700" h="124724">
                <a:moveTo>
                  <a:pt x="0" y="0"/>
                </a:moveTo>
                <a:lnTo>
                  <a:pt x="120700"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0497"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8" name="TextBox 17"/>
          <p:cNvSpPr txBox="1"/>
          <p:nvPr/>
        </p:nvSpPr>
        <p:spPr>
          <a:xfrm>
            <a:off x="3112617"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9" name="Rectangle 18"/>
          <p:cNvSpPr/>
          <p:nvPr/>
        </p:nvSpPr>
        <p:spPr>
          <a:xfrm>
            <a:off x="4899354" y="3650285"/>
            <a:ext cx="80468"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4979822" y="3618098"/>
            <a:ext cx="120700" cy="124724"/>
          </a:xfrm>
          <a:custGeom>
            <a:avLst/>
            <a:gdLst/>
            <a:ahLst/>
            <a:cxnLst/>
            <a:rect l="l" t="t" r="r" b="b"/>
            <a:pathLst>
              <a:path w="120700" h="124724">
                <a:moveTo>
                  <a:pt x="0" y="0"/>
                </a:moveTo>
                <a:lnTo>
                  <a:pt x="120700"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0"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5" name="TextBox 24"/>
          <p:cNvSpPr txBox="1"/>
          <p:nvPr/>
        </p:nvSpPr>
        <p:spPr>
          <a:xfrm>
            <a:off x="5301690"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Sit WA (SAQ) then PP — open book</a:t>
            </a:r>
          </a:p>
        </p:txBody>
      </p:sp>
      <p:sp>
        <p:nvSpPr>
          <p:cNvPr id="26" name="Rectangle 25"/>
          <p:cNvSpPr/>
          <p:nvPr/>
        </p:nvSpPr>
        <p:spPr>
          <a:xfrm>
            <a:off x="7088427" y="3650285"/>
            <a:ext cx="80468"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7168895" y="3618098"/>
            <a:ext cx="120700" cy="124724"/>
          </a:xfrm>
          <a:custGeom>
            <a:avLst/>
            <a:gdLst/>
            <a:ahLst/>
            <a:cxnLst/>
            <a:rect l="l" t="t" r="r" b="b"/>
            <a:pathLst>
              <a:path w="120700" h="124724">
                <a:moveTo>
                  <a:pt x="0" y="0"/>
                </a:moveTo>
                <a:lnTo>
                  <a:pt x="120700"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8643"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32" name="TextBox 31"/>
          <p:cNvSpPr txBox="1"/>
          <p:nvPr/>
        </p:nvSpPr>
        <p:spPr>
          <a:xfrm>
            <a:off x="7490763"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3" name="Rectangle 32"/>
          <p:cNvSpPr/>
          <p:nvPr/>
        </p:nvSpPr>
        <p:spPr>
          <a:xfrm>
            <a:off x="9277500" y="3650285"/>
            <a:ext cx="80468"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9357968" y="3618098"/>
            <a:ext cx="120700" cy="124724"/>
          </a:xfrm>
          <a:custGeom>
            <a:avLst/>
            <a:gdLst/>
            <a:ahLst/>
            <a:cxnLst/>
            <a:rect l="l" t="t" r="r" b="b"/>
            <a:pathLst>
              <a:path w="120700" h="124724">
                <a:moveTo>
                  <a:pt x="0" y="0"/>
                </a:moveTo>
                <a:lnTo>
                  <a:pt x="120700"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97716"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9" name="TextBox 38"/>
          <p:cNvSpPr txBox="1"/>
          <p:nvPr/>
        </p:nvSpPr>
        <p:spPr>
          <a:xfrm>
            <a:off x="9679836"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40" name="TextBox 39"/>
          <p:cNvSpPr txBox="1"/>
          <p:nvPr/>
        </p:nvSpPr>
        <p:spPr>
          <a:xfrm>
            <a:off x="777240" y="5394960"/>
            <a:ext cx="10698480" cy="640080"/>
          </a:xfrm>
          <a:prstGeom prst="rect">
            <a:avLst/>
          </a:prstGeom>
          <a:noFill/>
        </p:spPr>
        <p:txBody>
          <a:bodyPr wrap="square" anchor="t">
            <a:spAutoFit/>
          </a:bodyPr>
          <a:lstStyle/>
          <a:p>
            <a:pPr algn="ctr">
              <a:spcAft>
                <a:spcPts val="400"/>
              </a:spcAft>
            </a:pPr>
            <a:r>
              <a:rPr sz="1300" b="0">
                <a:solidFill>
                  <a:srgbClr val="5B6372"/>
                </a:solidFill>
                <a:latin typeface="Arial"/>
              </a:rPr>
              <a:t>The TRAQOM QR code and the assessment submission are both on the LMS — https://lms-tms.tertiaryinfotech.com</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 · LU1 · A1 · K1</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Introduction to Notion</a:t>
            </a:r>
          </a:p>
        </p:txBody>
      </p:sp>
      <p:sp>
        <p:nvSpPr>
          <p:cNvPr id="7" name="TextBox 6"/>
          <p:cNvSpPr txBox="1"/>
          <p:nvPr/>
        </p:nvSpPr>
        <p:spPr>
          <a:xfrm>
            <a:off x="1161288" y="4343400"/>
            <a:ext cx="9692640" cy="1188720"/>
          </a:xfrm>
          <a:prstGeom prst="rect">
            <a:avLst/>
          </a:prstGeom>
          <a:noFill/>
        </p:spPr>
        <p:txBody>
          <a:bodyPr wrap="square" anchor="t">
            <a:spAutoFit/>
          </a:bodyPr>
          <a:lstStyle/>
          <a:p>
            <a:pPr algn="l">
              <a:spcAft>
                <a:spcPts val="400"/>
              </a:spcAft>
            </a:pPr>
            <a:r>
              <a:rPr sz="1400" b="0">
                <a:solidFill>
                  <a:srgbClr val="5B6372"/>
                </a:solidFill>
                <a:latin typeface="Arial"/>
              </a:rPr>
              <a:t>Overview of Notion · what is a block · first page and subpage · workspace and sidebar · navigating and customising · wikis and verified pages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advClick="1">
    <p:push dir="l"/>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Introduction to Notion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One connected workspace</a:t>
            </a:r>
          </a:p>
          <a:p>
            <a:pPr algn="l">
              <a:spcAft>
                <a:spcPts val="200"/>
              </a:spcAft>
            </a:pPr>
            <a:r>
              <a:rPr sz="1000" b="0">
                <a:solidFill>
                  <a:srgbClr val="5B6372"/>
                </a:solidFill>
                <a:latin typeface="Arial"/>
              </a:rPr>
              <a:t>Notion combines documents, wikis, project trackers and databases in one tool, so content, projects and data live together instead of across five apps.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Everything is a block</a:t>
            </a:r>
          </a:p>
          <a:p>
            <a:pPr algn="l">
              <a:spcAft>
                <a:spcPts val="200"/>
              </a:spcAft>
            </a:pPr>
            <a:r>
              <a:rPr sz="1000" b="0">
                <a:solidFill>
                  <a:srgbClr val="5B6372"/>
                </a:solidFill>
                <a:latin typeface="Arial"/>
              </a:rPr>
              <a:t>Text, headings, images, tables, embeds and even databases are blocks. Blocks can be transformed into other types and rearranged by dragging.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Pages nest inside pages</a:t>
            </a:r>
          </a:p>
          <a:p>
            <a:pPr algn="l">
              <a:spcAft>
                <a:spcPts val="200"/>
              </a:spcAft>
            </a:pPr>
            <a:r>
              <a:rPr sz="1000" b="0">
                <a:solidFill>
                  <a:srgbClr val="5B6372"/>
                </a:solidFill>
                <a:latin typeface="Arial"/>
              </a:rPr>
              <a:t>A page holds blocks and sub-pages, giving an unlimited hierarchy. Breadcrumbs and the sidebar show where you are.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The workspace and sidebar</a:t>
            </a:r>
          </a:p>
          <a:p>
            <a:pPr algn="l">
              <a:spcAft>
                <a:spcPts val="200"/>
              </a:spcAft>
            </a:pPr>
            <a:r>
              <a:rPr sz="1000" b="0">
                <a:solidFill>
                  <a:srgbClr val="5B6372"/>
                </a:solidFill>
                <a:latin typeface="Arial"/>
              </a:rPr>
              <a:t>The sidebar is the map: Teamspaces for shared work, Private for your own pages, Shared for pages shared with you, plus Favorites, Templates, Import and Trash.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Workspaces are separate</a:t>
            </a:r>
          </a:p>
          <a:p>
            <a:pPr algn="l">
              <a:spcAft>
                <a:spcPts val="200"/>
              </a:spcAft>
            </a:pPr>
            <a:r>
              <a:rPr sz="1000" b="0">
                <a:solidFill>
                  <a:srgbClr val="5B6372"/>
                </a:solidFill>
                <a:latin typeface="Arial"/>
              </a:rPr>
              <a:t>Each workspace has its own members, plan and content. Switch or add another account from the workspace switcher; move top-level pages to migrate content.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Wikis and verified pages</a:t>
            </a:r>
          </a:p>
          <a:p>
            <a:pPr algn="l">
              <a:spcAft>
                <a:spcPts val="200"/>
              </a:spcAft>
            </a:pPr>
            <a:r>
              <a:rPr sz="1000" b="0">
                <a:solidFill>
                  <a:srgbClr val="5B6372"/>
                </a:solidFill>
                <a:latin typeface="Arial"/>
              </a:rPr>
              <a:t>Turn a teamspace page into a wiki to add owners, verification and expiry, so the organisation knows which content is authoritative and current.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Everything in Notion Is a Block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107700" y="1764030"/>
            <a:ext cx="3374119" cy="43815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locks-everything.jpg"/>
          <p:cNvPicPr>
            <a:picLocks noChangeAspect="1"/>
          </p:cNvPicPr>
          <p:nvPr/>
        </p:nvPicPr>
        <p:blipFill>
          <a:blip r:embed="rId2"/>
          <a:stretch>
            <a:fillRect/>
          </a:stretch>
        </p:blipFill>
        <p:spPr>
          <a:xfrm>
            <a:off x="2126750" y="1783080"/>
            <a:ext cx="3336019" cy="43434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A page is a stack of blocks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Text, headings, lists, images, tables, embeds and databases are all blocks with the same handle.</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Blocks transform</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 → Turn into converts a paragraph to a heading, a bullet to a toggle, a list to a page — content stays.</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Blocks rearrange</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Drag by the ⋮⋮ handle; drop beside another block to create columns, drop below to reorder.</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Slash opens the menu</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Type / on any line to see every block: basic, inline, database, media, embed, advanced.</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WRITE FAST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Slash Commands and Markdown Shortcuts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ash-command.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 for blocks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/h1, /todo, /callout, /table, /image, /code, /page — type the name to filter the menu.</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Markdown on the fly</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 heading, - bullet, [] to-do, &gt; toggle, ``` code, --- divider, ** bold, ` inline code.</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 and [[</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 mentions people, pages and dates; [[ links or creates a page; + creates a page elsewhere.</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Keyboard first</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Cmd/Ctrl+N new page, Cmd/Ctrl+Shift+N new window, Cmd/Ctrl+P quick find, Cmd/Ctrl+Shift+0-9 block types.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NAVIGATE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Sidebar Is the Map of Your Workspace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debar.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Teamspaces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Shared areas with owners and members — the default home for organisational content.</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Private and Shared</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Private pages only you see; Shared appears when a page is shared with selected people.</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Favorites, Templates, Import, Trash</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Pin frequent pages; start from templates; import from other tools; restore deleted pages.</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Breadcrumbs and hover options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The top bar shows the path; hovering a sidebar page reveals ⋯ (options) and + (new sub-page).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THREE LEVELS OF ORGANISATION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Workspaces, Teamspaces and Pages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Level</a:t>
            </a:r>
          </a:p>
        </p:txBody>
      </p:sp>
      <p:sp>
        <p:nvSpPr>
          <p:cNvPr id="9" name="Rectangle 8"/>
          <p:cNvSpPr/>
          <p:nvPr/>
        </p:nvSpPr>
        <p:spPr>
          <a:xfrm>
            <a:off x="3329513"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What it is</a:t>
            </a:r>
          </a:p>
        </p:txBody>
      </p:sp>
      <p:sp>
        <p:nvSpPr>
          <p:cNvPr id="11" name="Rectangle 10"/>
          <p:cNvSpPr/>
          <p:nvPr/>
        </p:nvSpPr>
        <p:spPr>
          <a:xfrm>
            <a:off x="6023579"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33307"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Who controls it</a:t>
            </a:r>
          </a:p>
        </p:txBody>
      </p:sp>
      <p:sp>
        <p:nvSpPr>
          <p:cNvPr id="13" name="Rectangle 12"/>
          <p:cNvSpPr/>
          <p:nvPr/>
        </p:nvSpPr>
        <p:spPr>
          <a:xfrm>
            <a:off x="8717645"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7373"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Brightwave example</a:t>
            </a:r>
          </a:p>
        </p:txBody>
      </p:sp>
      <p:sp>
        <p:nvSpPr>
          <p:cNvPr id="15" name="Rectangle 14"/>
          <p:cNvSpPr/>
          <p:nvPr/>
        </p:nvSpPr>
        <p:spPr>
          <a:xfrm>
            <a:off x="777240" y="2331720"/>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31720"/>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Workspace</a:t>
            </a:r>
          </a:p>
        </p:txBody>
      </p:sp>
      <p:sp>
        <p:nvSpPr>
          <p:cNvPr id="17" name="Rectangle 16"/>
          <p:cNvSpPr/>
          <p:nvPr/>
        </p:nvSpPr>
        <p:spPr>
          <a:xfrm>
            <a:off x="3329513" y="2331720"/>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9241" y="2331720"/>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The whole account for an organisation — members, plan, settings</a:t>
            </a:r>
          </a:p>
        </p:txBody>
      </p:sp>
      <p:sp>
        <p:nvSpPr>
          <p:cNvPr id="19" name="Rectangle 18"/>
          <p:cNvSpPr/>
          <p:nvPr/>
        </p:nvSpPr>
        <p:spPr>
          <a:xfrm>
            <a:off x="6023579" y="2331720"/>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3307" y="2331720"/>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Workspace owners</a:t>
            </a:r>
          </a:p>
        </p:txBody>
      </p:sp>
      <p:sp>
        <p:nvSpPr>
          <p:cNvPr id="21" name="Rectangle 20"/>
          <p:cNvSpPr/>
          <p:nvPr/>
        </p:nvSpPr>
        <p:spPr>
          <a:xfrm>
            <a:off x="8717645" y="2331720"/>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7373" y="2331720"/>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Brightwave Media</a:t>
            </a:r>
          </a:p>
        </p:txBody>
      </p:sp>
      <p:sp>
        <p:nvSpPr>
          <p:cNvPr id="23" name="Rectangle 22"/>
          <p:cNvSpPr/>
          <p:nvPr/>
        </p:nvSpPr>
        <p:spPr>
          <a:xfrm>
            <a:off x="777240" y="2898648"/>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98648"/>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Teamspace</a:t>
            </a:r>
          </a:p>
        </p:txBody>
      </p:sp>
      <p:sp>
        <p:nvSpPr>
          <p:cNvPr id="25" name="Rectangle 24"/>
          <p:cNvSpPr/>
          <p:nvPr/>
        </p:nvSpPr>
        <p:spPr>
          <a:xfrm>
            <a:off x="3329513" y="2898648"/>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39241" y="2898648"/>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A section with its own members and default permissions</a:t>
            </a:r>
          </a:p>
        </p:txBody>
      </p:sp>
      <p:sp>
        <p:nvSpPr>
          <p:cNvPr id="27" name="Rectangle 26"/>
          <p:cNvSpPr/>
          <p:nvPr/>
        </p:nvSpPr>
        <p:spPr>
          <a:xfrm>
            <a:off x="6023579" y="2898648"/>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33307" y="2898648"/>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Teamspace owners</a:t>
            </a:r>
          </a:p>
        </p:txBody>
      </p:sp>
      <p:sp>
        <p:nvSpPr>
          <p:cNvPr id="29" name="Rectangle 28"/>
          <p:cNvSpPr/>
          <p:nvPr/>
        </p:nvSpPr>
        <p:spPr>
          <a:xfrm>
            <a:off x="8717645" y="2898648"/>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27373" y="2898648"/>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Client Work (closed), Company (open)</a:t>
            </a:r>
          </a:p>
        </p:txBody>
      </p:sp>
      <p:sp>
        <p:nvSpPr>
          <p:cNvPr id="31" name="Rectangle 30"/>
          <p:cNvSpPr/>
          <p:nvPr/>
        </p:nvSpPr>
        <p:spPr>
          <a:xfrm>
            <a:off x="777240" y="3465576"/>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465576"/>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Page</a:t>
            </a:r>
          </a:p>
        </p:txBody>
      </p:sp>
      <p:sp>
        <p:nvSpPr>
          <p:cNvPr id="33" name="Rectangle 32"/>
          <p:cNvSpPr/>
          <p:nvPr/>
        </p:nvSpPr>
        <p:spPr>
          <a:xfrm>
            <a:off x="3329513" y="3465576"/>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3465576"/>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Content built from blocks; nests without limit</a:t>
            </a:r>
          </a:p>
        </p:txBody>
      </p:sp>
      <p:sp>
        <p:nvSpPr>
          <p:cNvPr id="35" name="Rectangle 34"/>
          <p:cNvSpPr/>
          <p:nvPr/>
        </p:nvSpPr>
        <p:spPr>
          <a:xfrm>
            <a:off x="6023579" y="3465576"/>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3307" y="3465576"/>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Page owner / editors</a:t>
            </a:r>
          </a:p>
        </p:txBody>
      </p:sp>
      <p:sp>
        <p:nvSpPr>
          <p:cNvPr id="37" name="Rectangle 36"/>
          <p:cNvSpPr/>
          <p:nvPr/>
        </p:nvSpPr>
        <p:spPr>
          <a:xfrm>
            <a:off x="8717645" y="3465576"/>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27373" y="3465576"/>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Company Wiki → Policies → Naming Conventions</a:t>
            </a:r>
          </a:p>
        </p:txBody>
      </p:sp>
      <p:sp>
        <p:nvSpPr>
          <p:cNvPr id="39" name="Rectangle 38"/>
          <p:cNvSpPr/>
          <p:nvPr/>
        </p:nvSpPr>
        <p:spPr>
          <a:xfrm>
            <a:off x="777240" y="4032504"/>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032504"/>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Database</a:t>
            </a:r>
          </a:p>
        </p:txBody>
      </p:sp>
      <p:sp>
        <p:nvSpPr>
          <p:cNvPr id="41" name="Rectangle 40"/>
          <p:cNvSpPr/>
          <p:nvPr/>
        </p:nvSpPr>
        <p:spPr>
          <a:xfrm>
            <a:off x="3329513" y="4032504"/>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39241" y="4032504"/>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A page whose children are structured rows</a:t>
            </a:r>
          </a:p>
        </p:txBody>
      </p:sp>
      <p:sp>
        <p:nvSpPr>
          <p:cNvPr id="43" name="Rectangle 42"/>
          <p:cNvSpPr/>
          <p:nvPr/>
        </p:nvSpPr>
        <p:spPr>
          <a:xfrm>
            <a:off x="6023579" y="4032504"/>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33307" y="4032504"/>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Editors with 'can edit content'</a:t>
            </a:r>
          </a:p>
        </p:txBody>
      </p:sp>
      <p:sp>
        <p:nvSpPr>
          <p:cNvPr id="45" name="Rectangle 44"/>
          <p:cNvSpPr/>
          <p:nvPr/>
        </p:nvSpPr>
        <p:spPr>
          <a:xfrm>
            <a:off x="8717645" y="4032504"/>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27373" y="4032504"/>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Content Calendar, Tasks, Clients</a:t>
            </a:r>
          </a:p>
        </p:txBody>
      </p:sp>
      <p:sp>
        <p:nvSpPr>
          <p:cNvPr id="47" name="Rectangle 46"/>
          <p:cNvSpPr/>
          <p:nvPr/>
        </p:nvSpPr>
        <p:spPr>
          <a:xfrm>
            <a:off x="777240" y="4782312"/>
            <a:ext cx="10634472"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5840" y="4782312"/>
            <a:ext cx="10268712" cy="566928"/>
          </a:xfrm>
          <a:prstGeom prst="rect">
            <a:avLst/>
          </a:prstGeom>
          <a:noFill/>
        </p:spPr>
        <p:txBody>
          <a:bodyPr wrap="square" anchor="ctr">
            <a:spAutoFit/>
          </a:bodyPr>
          <a:lstStyle/>
          <a:p>
            <a:pPr algn="l">
              <a:spcAft>
                <a:spcPts val="400"/>
              </a:spcAft>
            </a:pPr>
            <a:r>
              <a:rPr sz="1100" b="1">
                <a:solidFill>
                  <a:srgbClr val="1F6FEB"/>
                </a:solidFill>
                <a:latin typeface="Arial"/>
              </a:rPr>
              <a:t>RULE   </a:t>
            </a:r>
            <a:r>
              <a:rPr sz="1250" b="0">
                <a:solidFill>
                  <a:srgbClr val="161B26"/>
                </a:solidFill>
                <a:latin typeface="Arial"/>
              </a:rPr>
              <a:t>Keep the number of workspaces to a minimum — content cannot be linked across workspaces, but it can be moved between them.</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BLANK TO HIERARCHY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Create Your First Page and Sub-page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New page</a:t>
            </a:r>
          </a:p>
        </p:txBody>
      </p:sp>
      <p:sp>
        <p:nvSpPr>
          <p:cNvPr id="12" name="TextBox 11"/>
          <p:cNvSpPr txBox="1"/>
          <p:nvPr/>
        </p:nvSpPr>
        <p:spPr>
          <a:xfrm>
            <a:off x="905256" y="3200400"/>
            <a:ext cx="1505102" cy="1005840"/>
          </a:xfrm>
          <a:prstGeom prst="rect">
            <a:avLst/>
          </a:prstGeom>
          <a:noFill/>
        </p:spPr>
        <p:txBody>
          <a:bodyPr wrap="square" anchor="t">
            <a:spAutoFit/>
          </a:bodyPr>
          <a:lstStyle/>
          <a:p>
            <a:pPr algn="l">
              <a:spcAft>
                <a:spcPts val="400"/>
              </a:spcAft>
            </a:pPr>
            <a:r>
              <a:rPr sz="900" b="0">
                <a:solidFill>
                  <a:srgbClr val="5B6372"/>
                </a:solidFill>
                <a:latin typeface="Arial"/>
              </a:rPr>
              <a:t>+ New page in the sidebar or Cmd/Ctrl+N; add an icon and cover</a:t>
            </a:r>
          </a:p>
        </p:txBody>
      </p:sp>
      <p:sp>
        <p:nvSpPr>
          <p:cNvPr id="13" name="Rectangle 12"/>
          <p:cNvSpPr/>
          <p:nvPr/>
        </p:nvSpPr>
        <p:spPr>
          <a:xfrm>
            <a:off x="262067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73771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995574"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95574"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23590"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359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3498494"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Write blocks</a:t>
            </a:r>
          </a:p>
        </p:txBody>
      </p:sp>
      <p:sp>
        <p:nvSpPr>
          <p:cNvPr id="20" name="TextBox 19"/>
          <p:cNvSpPr txBox="1"/>
          <p:nvPr/>
        </p:nvSpPr>
        <p:spPr>
          <a:xfrm>
            <a:off x="3123590" y="3200400"/>
            <a:ext cx="1505102" cy="1005840"/>
          </a:xfrm>
          <a:prstGeom prst="rect">
            <a:avLst/>
          </a:prstGeom>
          <a:noFill/>
        </p:spPr>
        <p:txBody>
          <a:bodyPr wrap="square" anchor="t">
            <a:spAutoFit/>
          </a:bodyPr>
          <a:lstStyle/>
          <a:p>
            <a:pPr algn="l">
              <a:spcAft>
                <a:spcPts val="400"/>
              </a:spcAft>
            </a:pPr>
            <a:r>
              <a:rPr sz="900" b="0">
                <a:solidFill>
                  <a:srgbClr val="5B6372"/>
                </a:solidFill>
                <a:latin typeface="Arial"/>
              </a:rPr>
              <a:t>Type text, press / for other block types, drag to rearrange</a:t>
            </a:r>
          </a:p>
        </p:txBody>
      </p:sp>
      <p:sp>
        <p:nvSpPr>
          <p:cNvPr id="21" name="Rectangle 20"/>
          <p:cNvSpPr/>
          <p:nvPr/>
        </p:nvSpPr>
        <p:spPr>
          <a:xfrm>
            <a:off x="483900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95604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13908"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13908"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341924"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192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5716828"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Add a sub-page</a:t>
            </a:r>
          </a:p>
        </p:txBody>
      </p:sp>
      <p:sp>
        <p:nvSpPr>
          <p:cNvPr id="28" name="TextBox 27"/>
          <p:cNvSpPr txBox="1"/>
          <p:nvPr/>
        </p:nvSpPr>
        <p:spPr>
          <a:xfrm>
            <a:off x="5341924" y="3200400"/>
            <a:ext cx="1505102" cy="1005840"/>
          </a:xfrm>
          <a:prstGeom prst="rect">
            <a:avLst/>
          </a:prstGeom>
          <a:noFill/>
        </p:spPr>
        <p:txBody>
          <a:bodyPr wrap="square" anchor="t">
            <a:spAutoFit/>
          </a:bodyPr>
          <a:lstStyle/>
          <a:p>
            <a:pPr algn="l">
              <a:spcAft>
                <a:spcPts val="400"/>
              </a:spcAft>
            </a:pPr>
            <a:r>
              <a:rPr sz="900" b="0">
                <a:solidFill>
                  <a:srgbClr val="5B6372"/>
                </a:solidFill>
                <a:latin typeface="Arial"/>
              </a:rPr>
              <a:t>/page inside the body, or + next to the page in the sidebar</a:t>
            </a:r>
          </a:p>
        </p:txBody>
      </p:sp>
      <p:sp>
        <p:nvSpPr>
          <p:cNvPr id="29" name="Rectangle 28"/>
          <p:cNvSpPr/>
          <p:nvPr/>
        </p:nvSpPr>
        <p:spPr>
          <a:xfrm>
            <a:off x="7057338"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7174382"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432242"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32242"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60258"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60258"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7935162"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Navigate</a:t>
            </a:r>
          </a:p>
        </p:txBody>
      </p:sp>
      <p:sp>
        <p:nvSpPr>
          <p:cNvPr id="36" name="TextBox 35"/>
          <p:cNvSpPr txBox="1"/>
          <p:nvPr/>
        </p:nvSpPr>
        <p:spPr>
          <a:xfrm>
            <a:off x="7560258"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Breadcrumbs go up; sidebar toggles reveal nesting</a:t>
            </a:r>
          </a:p>
        </p:txBody>
      </p:sp>
      <p:sp>
        <p:nvSpPr>
          <p:cNvPr id="37" name="Rectangle 36"/>
          <p:cNvSpPr/>
          <p:nvPr/>
        </p:nvSpPr>
        <p:spPr>
          <a:xfrm>
            <a:off x="92756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93927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50576"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0576"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778592"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785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43" name="TextBox 42"/>
          <p:cNvSpPr txBox="1"/>
          <p:nvPr/>
        </p:nvSpPr>
        <p:spPr>
          <a:xfrm>
            <a:off x="10153496"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Organise</a:t>
            </a:r>
          </a:p>
        </p:txBody>
      </p:sp>
      <p:sp>
        <p:nvSpPr>
          <p:cNvPr id="44" name="TextBox 43"/>
          <p:cNvSpPr txBox="1"/>
          <p:nvPr/>
        </p:nvSpPr>
        <p:spPr>
          <a:xfrm>
            <a:off x="9778592"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Favorite, move, duplicate or delete pages from ⋯</a:t>
            </a:r>
          </a:p>
        </p:txBody>
      </p:sp>
      <p:sp>
        <p:nvSpPr>
          <p:cNvPr id="45" name="Rectangle 44"/>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The hierarchy IS the information architecture: decide the four top-level sections before anyone writes a page.</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TRUSTED CONTENT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Wikis and Verified Pages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owners.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Turn into wiki</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Any teamspace page becomes a wiki with Owner, Verification and Last edited on every page.</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Owners are accountable</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One named owner per page — the policy rule that makes content management auditable.</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Verify with expiry</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Verified pages carry a badge and an expiry (e.g. 90 days); the owner is reminded to re-review.</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Views of the wiki</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Table, board or list views of all pages, grouped by owner or verification status, expose stale content.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MARKET OFFERINGS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Start with Templates — or Build Your 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tarter-templates.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10,000+ templates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The template gallery covers wikis, project trackers, CRMs, docs and personal use.</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In-app templates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New page → Templates shows starter templates for the page type you need.</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Duplicate community pages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Public pages can be duplicated into your workspace when the author allows it.</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Policy check</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Brightwave allows approved templates only — customise once, then reuse.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LAB · FOUNDATION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Set Up the Brightwave Workspace, Pages and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01</a:t>
            </a:r>
          </a:p>
        </p:txBody>
      </p:sp>
      <p:sp>
        <p:nvSpPr>
          <p:cNvPr id="9" name="Rectangle 8"/>
          <p:cNvSpPr/>
          <p:nvPr/>
        </p:nvSpPr>
        <p:spPr>
          <a:xfrm>
            <a:off x="2286000" y="1691640"/>
            <a:ext cx="155448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554480" cy="365760"/>
          </a:xfrm>
          <a:prstGeom prst="rect">
            <a:avLst/>
          </a:prstGeom>
          <a:noFill/>
        </p:spPr>
        <p:txBody>
          <a:bodyPr wrap="square" anchor="t">
            <a:spAutoFit/>
          </a:bodyPr>
          <a:lstStyle/>
          <a:p>
            <a:pPr algn="ctr">
              <a:spcAft>
                <a:spcPts val="400"/>
              </a:spcAft>
            </a:pPr>
            <a:r>
              <a:rPr sz="1300" b="1">
                <a:solidFill>
                  <a:srgbClr val="5B6372"/>
                </a:solidFill>
                <a:latin typeface="Arial"/>
              </a:rPr>
              <a:t>K1 · A1</a:t>
            </a:r>
          </a:p>
        </p:txBody>
      </p:sp>
      <p:sp>
        <p:nvSpPr>
          <p:cNvPr id="11" name="Rectangle 10"/>
          <p:cNvSpPr/>
          <p:nvPr/>
        </p:nvSpPr>
        <p:spPr>
          <a:xfrm>
            <a:off x="3977639"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30 min</a:t>
            </a:r>
          </a:p>
        </p:txBody>
      </p:sp>
      <p:sp>
        <p:nvSpPr>
          <p:cNvPr id="13" name="TextBox 12"/>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create the Brightwave Media workspace, build the top-level page structure from the supplied site map, and learn how blocks, slash commands, sub-pages, breadcrumbs and the sidebar work by building the Company Home page.</a:t>
            </a:r>
          </a:p>
        </p:txBody>
      </p:sp>
      <p:sp>
        <p:nvSpPr>
          <p:cNvPr id="14" name="Rectangle 13"/>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7" name="TextBox 16"/>
          <p:cNvSpPr txBox="1"/>
          <p:nvPr/>
        </p:nvSpPr>
        <p:spPr>
          <a:xfrm>
            <a:off x="1005840" y="4526280"/>
            <a:ext cx="10149840" cy="731520"/>
          </a:xfrm>
          <a:prstGeom prst="rect">
            <a:avLst/>
          </a:prstGeom>
          <a:noFill/>
        </p:spPr>
        <p:txBody>
          <a:bodyPr wrap="square" anchor="t">
            <a:spAutoFit/>
          </a:bodyPr>
          <a:lstStyle/>
          <a:p>
            <a:pPr algn="l">
              <a:spcAft>
                <a:spcPts val="400"/>
              </a:spcAft>
            </a:pPr>
            <a:r>
              <a:rPr sz="1600" b="1">
                <a:solidFill>
                  <a:srgbClr val="161B26"/>
                </a:solidFill>
                <a:latin typeface="Arial"/>
              </a:rPr>
              <a:t>A Brightwave workspace with a Company Home page, four top-level section pages and a working sub-page hierarchy</a:t>
            </a:r>
          </a:p>
        </p:txBody>
      </p:sp>
      <p:sp>
        <p:nvSpPr>
          <p:cNvPr id="18" name="TextBox 17"/>
          <p:cNvSpPr txBox="1"/>
          <p:nvPr/>
        </p:nvSpPr>
        <p:spPr>
          <a:xfrm>
            <a:off x="1005840" y="52852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Notion (web or desktop app)</a:t>
            </a:r>
          </a:p>
        </p:txBody>
      </p:sp>
      <p:sp>
        <p:nvSpPr>
          <p:cNvPr id="19" name="Rectangle 18"/>
          <p:cNvSpPr/>
          <p:nvPr/>
        </p:nvSpPr>
        <p:spPr>
          <a:xfrm>
            <a:off x="777240"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89788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89788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K1 · A1</a:t>
            </a:r>
          </a:p>
        </p:txBody>
      </p:sp>
      <p:sp>
        <p:nvSpPr>
          <p:cNvPr id="22" name="Rectangle 21"/>
          <p:cNvSpPr/>
          <p:nvPr/>
        </p:nvSpPr>
        <p:spPr>
          <a:xfrm>
            <a:off x="4407408"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589788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89788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Foundation</a:t>
            </a:r>
          </a:p>
        </p:txBody>
      </p:sp>
      <p:sp>
        <p:nvSpPr>
          <p:cNvPr id="25" name="Rectangle 24"/>
          <p:cNvSpPr/>
          <p:nvPr/>
        </p:nvSpPr>
        <p:spPr>
          <a:xfrm>
            <a:off x="8037576"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7576" y="589788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589788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Screenshots · lab README checklist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Prepare</a:t>
            </a:r>
          </a:p>
        </p:txBody>
      </p:sp>
      <p:sp>
        <p:nvSpPr>
          <p:cNvPr id="12" name="TextBox 11"/>
          <p:cNvSpPr txBox="1"/>
          <p:nvPr/>
        </p:nvSpPr>
        <p:spPr>
          <a:xfrm>
            <a:off x="905256"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Create the workspace</a:t>
            </a:r>
          </a:p>
        </p:txBody>
      </p:sp>
      <p:sp>
        <p:nvSpPr>
          <p:cNvPr id="13" name="Rectangle 12"/>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8174"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817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4053078"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Build</a:t>
            </a:r>
          </a:p>
        </p:txBody>
      </p:sp>
      <p:sp>
        <p:nvSpPr>
          <p:cNvPr id="20" name="TextBox 19"/>
          <p:cNvSpPr txBox="1"/>
          <p:nvPr/>
        </p:nvSpPr>
        <p:spPr>
          <a:xfrm>
            <a:off x="3678174"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Build pages from the site map</a:t>
            </a:r>
          </a:p>
        </p:txBody>
      </p:sp>
      <p:sp>
        <p:nvSpPr>
          <p:cNvPr id="21" name="Rectangle 20"/>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1092"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0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6825996"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28" name="TextBox 27"/>
          <p:cNvSpPr txBox="1"/>
          <p:nvPr/>
        </p:nvSpPr>
        <p:spPr>
          <a:xfrm>
            <a:off x="6451092"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Add and transform blocks</a:t>
            </a:r>
          </a:p>
        </p:txBody>
      </p:sp>
      <p:sp>
        <p:nvSpPr>
          <p:cNvPr id="29" name="Rectangle 28"/>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24010"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401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9598914"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36" name="TextBox 35"/>
          <p:cNvSpPr txBox="1"/>
          <p:nvPr/>
        </p:nvSpPr>
        <p:spPr>
          <a:xfrm>
            <a:off x="9224010"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Organise the sidebar</a:t>
            </a:r>
          </a:p>
        </p:txBody>
      </p:sp>
      <p:sp>
        <p:nvSpPr>
          <p:cNvPr id="37" name="Rectangle 36"/>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 the full click-by-click procedure is in the Learner Guide (Lab 01) and the lab's instruction PDF.</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Set Up the Brightwave Workspace, Pages and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058400" cy="457200"/>
          </a:xfrm>
          <a:prstGeom prst="rect">
            <a:avLst/>
          </a:prstGeom>
          <a:noFill/>
        </p:spPr>
        <p:txBody>
          <a:bodyPr wrap="square" anchor="t">
            <a:spAutoFit/>
          </a:bodyPr>
          <a:lstStyle/>
          <a:p>
            <a:pPr algn="l">
              <a:spcAft>
                <a:spcPts val="400"/>
              </a:spcAft>
            </a:pPr>
            <a:r>
              <a:rPr sz="1800" b="1">
                <a:solidFill>
                  <a:srgbClr val="127A3E"/>
                </a:solidFill>
                <a:latin typeface="Arial"/>
              </a:rPr>
              <a:t>✅  Acceptance check</a:t>
            </a:r>
          </a:p>
        </p:txBody>
      </p:sp>
      <p:sp>
        <p:nvSpPr>
          <p:cNvPr id="10" name="TextBox 9"/>
          <p:cNvSpPr txBox="1"/>
          <p:nvPr/>
        </p:nvSpPr>
        <p:spPr>
          <a:xfrm>
            <a:off x="1097280" y="2743200"/>
            <a:ext cx="10149840" cy="1737360"/>
          </a:xfrm>
          <a:prstGeom prst="rect">
            <a:avLst/>
          </a:prstGeom>
          <a:noFill/>
        </p:spPr>
        <p:txBody>
          <a:bodyPr wrap="square" anchor="t">
            <a:spAutoFit/>
          </a:bodyPr>
          <a:lstStyle/>
          <a:p>
            <a:pPr algn="l">
              <a:spcAft>
                <a:spcPts val="400"/>
              </a:spcAft>
            </a:pPr>
            <a:r>
              <a:rPr sz="1500" b="0">
                <a:solidFill>
                  <a:srgbClr val="161B26"/>
                </a:solidFill>
                <a:latin typeface="Arial"/>
              </a:rPr>
              <a:t>The sidebar shows Company Home in Favorites with the four section pages nested under it, each section contains the sub-pages listed in workspace-structure.csv, and Company Home carries an icon, a cover, a heading, a callout and a toggle list.</a:t>
            </a:r>
          </a:p>
        </p:txBody>
      </p:sp>
      <p:sp>
        <p:nvSpPr>
          <p:cNvPr id="11" name="Rectangle 10"/>
          <p:cNvSpPr/>
          <p:nvPr/>
        </p:nvSpPr>
        <p:spPr>
          <a:xfrm>
            <a:off x="777240" y="4754880"/>
            <a:ext cx="1069848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5488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6" name="TextBox 15"/>
          <p:cNvSpPr txBox="1"/>
          <p:nvPr/>
        </p:nvSpPr>
        <p:spPr>
          <a:xfrm>
            <a:off x="146304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Re-read the step: most misses are the page menu (top right) versus the block handle (left of a block).</a:t>
            </a:r>
          </a:p>
        </p:txBody>
      </p:sp>
      <p:sp>
        <p:nvSpPr>
          <p:cNvPr id="17" name="Oval 16"/>
          <p:cNvSpPr/>
          <p:nvPr/>
        </p:nvSpPr>
        <p:spPr>
          <a:xfrm>
            <a:off x="461772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9" name="TextBox 18"/>
          <p:cNvSpPr txBox="1"/>
          <p:nvPr/>
        </p:nvSpPr>
        <p:spPr>
          <a:xfrm>
            <a:off x="498348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Check you are in the right page or teamspace — the sidebar shows the path.</a:t>
            </a:r>
          </a:p>
        </p:txBody>
      </p:sp>
      <p:sp>
        <p:nvSpPr>
          <p:cNvPr id="20" name="Oval 19"/>
          <p:cNvSpPr/>
          <p:nvPr/>
        </p:nvSpPr>
        <p:spPr>
          <a:xfrm>
            <a:off x="813816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22" name="TextBox 21"/>
          <p:cNvSpPr txBox="1"/>
          <p:nvPr/>
        </p:nvSpPr>
        <p:spPr>
          <a:xfrm>
            <a:off x="850392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Full click-by-click steps: Learner Guide and the lab's instruction PDF.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LAB · FOUNDATION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Build the Company Wiki with Verified Pages and a Content Policy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02</a:t>
            </a:r>
          </a:p>
        </p:txBody>
      </p:sp>
      <p:sp>
        <p:nvSpPr>
          <p:cNvPr id="9" name="Rectangle 8"/>
          <p:cNvSpPr/>
          <p:nvPr/>
        </p:nvSpPr>
        <p:spPr>
          <a:xfrm>
            <a:off x="2286000" y="1691640"/>
            <a:ext cx="155448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554480" cy="365760"/>
          </a:xfrm>
          <a:prstGeom prst="rect">
            <a:avLst/>
          </a:prstGeom>
          <a:noFill/>
        </p:spPr>
        <p:txBody>
          <a:bodyPr wrap="square" anchor="t">
            <a:spAutoFit/>
          </a:bodyPr>
          <a:lstStyle/>
          <a:p>
            <a:pPr algn="ctr">
              <a:spcAft>
                <a:spcPts val="400"/>
              </a:spcAft>
            </a:pPr>
            <a:r>
              <a:rPr sz="1300" b="1">
                <a:solidFill>
                  <a:srgbClr val="5B6372"/>
                </a:solidFill>
                <a:latin typeface="Arial"/>
              </a:rPr>
              <a:t>K1 · A1</a:t>
            </a:r>
          </a:p>
        </p:txBody>
      </p:sp>
      <p:sp>
        <p:nvSpPr>
          <p:cNvPr id="11" name="Rectangle 10"/>
          <p:cNvSpPr/>
          <p:nvPr/>
        </p:nvSpPr>
        <p:spPr>
          <a:xfrm>
            <a:off x="3977639"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35 min</a:t>
            </a:r>
          </a:p>
        </p:txBody>
      </p:sp>
      <p:sp>
        <p:nvSpPr>
          <p:cNvPr id="13" name="TextBox 12"/>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turn the Company Wiki into a Notion wiki, import the supplied policy documents, assign page owners, verify the authoritative pages with an expiry date, and publish the content management policy that governs the rest of the workspace.</a:t>
            </a:r>
          </a:p>
        </p:txBody>
      </p:sp>
      <p:sp>
        <p:nvSpPr>
          <p:cNvPr id="14" name="Rectangle 13"/>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7" name="TextBox 16"/>
          <p:cNvSpPr txBox="1"/>
          <p:nvPr/>
        </p:nvSpPr>
        <p:spPr>
          <a:xfrm>
            <a:off x="1005840" y="4526280"/>
            <a:ext cx="10149840" cy="731520"/>
          </a:xfrm>
          <a:prstGeom prst="rect">
            <a:avLst/>
          </a:prstGeom>
          <a:noFill/>
        </p:spPr>
        <p:txBody>
          <a:bodyPr wrap="square" anchor="t">
            <a:spAutoFit/>
          </a:bodyPr>
          <a:lstStyle/>
          <a:p>
            <a:pPr algn="l">
              <a:spcAft>
                <a:spcPts val="400"/>
              </a:spcAft>
            </a:pPr>
            <a:r>
              <a:rPr sz="1600" b="1">
                <a:solidFill>
                  <a:srgbClr val="161B26"/>
                </a:solidFill>
                <a:latin typeface="Arial"/>
              </a:rPr>
              <a:t>A Notion wiki with imported policy pages, named owners, verified status and a visible content management policy</a:t>
            </a:r>
          </a:p>
        </p:txBody>
      </p:sp>
      <p:sp>
        <p:nvSpPr>
          <p:cNvPr id="18" name="TextBox 17"/>
          <p:cNvSpPr txBox="1"/>
          <p:nvPr/>
        </p:nvSpPr>
        <p:spPr>
          <a:xfrm>
            <a:off x="1005840" y="52852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Notion, Markdown import</a:t>
            </a:r>
          </a:p>
        </p:txBody>
      </p:sp>
      <p:sp>
        <p:nvSpPr>
          <p:cNvPr id="19" name="Rectangle 18"/>
          <p:cNvSpPr/>
          <p:nvPr/>
        </p:nvSpPr>
        <p:spPr>
          <a:xfrm>
            <a:off x="777240"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89788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89788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K1 · A1</a:t>
            </a:r>
          </a:p>
        </p:txBody>
      </p:sp>
      <p:sp>
        <p:nvSpPr>
          <p:cNvPr id="22" name="Rectangle 21"/>
          <p:cNvSpPr/>
          <p:nvPr/>
        </p:nvSpPr>
        <p:spPr>
          <a:xfrm>
            <a:off x="4407408"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589788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89788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Foundation</a:t>
            </a:r>
          </a:p>
        </p:txBody>
      </p:sp>
      <p:sp>
        <p:nvSpPr>
          <p:cNvPr id="25" name="Rectangle 24"/>
          <p:cNvSpPr/>
          <p:nvPr/>
        </p:nvSpPr>
        <p:spPr>
          <a:xfrm>
            <a:off x="8037576"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7576" y="589788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589788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Screenshots · lab README checklist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Prepare</a:t>
            </a:r>
          </a:p>
        </p:txBody>
      </p:sp>
      <p:sp>
        <p:nvSpPr>
          <p:cNvPr id="12" name="TextBox 11"/>
          <p:cNvSpPr txBox="1"/>
          <p:nvPr/>
        </p:nvSpPr>
        <p:spPr>
          <a:xfrm>
            <a:off x="905256"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Turn the page into a wiki</a:t>
            </a:r>
          </a:p>
        </p:txBody>
      </p:sp>
      <p:sp>
        <p:nvSpPr>
          <p:cNvPr id="13" name="Rectangle 12"/>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8174"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817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4053078"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Build</a:t>
            </a:r>
          </a:p>
        </p:txBody>
      </p:sp>
      <p:sp>
        <p:nvSpPr>
          <p:cNvPr id="20" name="TextBox 19"/>
          <p:cNvSpPr txBox="1"/>
          <p:nvPr/>
        </p:nvSpPr>
        <p:spPr>
          <a:xfrm>
            <a:off x="3678174"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Import the policy documents</a:t>
            </a:r>
          </a:p>
        </p:txBody>
      </p:sp>
      <p:sp>
        <p:nvSpPr>
          <p:cNvPr id="21" name="Rectangle 20"/>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1092"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0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6825996"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28" name="TextBox 27"/>
          <p:cNvSpPr txBox="1"/>
          <p:nvPr/>
        </p:nvSpPr>
        <p:spPr>
          <a:xfrm>
            <a:off x="6451092"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Assign owners and verify</a:t>
            </a:r>
          </a:p>
        </p:txBody>
      </p:sp>
      <p:sp>
        <p:nvSpPr>
          <p:cNvPr id="29" name="Rectangle 28"/>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24010"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401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9598914"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36" name="TextBox 35"/>
          <p:cNvSpPr txBox="1"/>
          <p:nvPr/>
        </p:nvSpPr>
        <p:spPr>
          <a:xfrm>
            <a:off x="9224010"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Publish the policy notice</a:t>
            </a:r>
          </a:p>
        </p:txBody>
      </p:sp>
      <p:sp>
        <p:nvSpPr>
          <p:cNvPr id="37" name="Rectangle 36"/>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 the full click-by-click procedure is in the Learner Guide (Lab 02) and the lab's instruction PDF.</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Build the Company Wiki with Verified Pages and a Content Policy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058400" cy="457200"/>
          </a:xfrm>
          <a:prstGeom prst="rect">
            <a:avLst/>
          </a:prstGeom>
          <a:noFill/>
        </p:spPr>
        <p:txBody>
          <a:bodyPr wrap="square" anchor="t">
            <a:spAutoFit/>
          </a:bodyPr>
          <a:lstStyle/>
          <a:p>
            <a:pPr algn="l">
              <a:spcAft>
                <a:spcPts val="400"/>
              </a:spcAft>
            </a:pPr>
            <a:r>
              <a:rPr sz="1800" b="1">
                <a:solidFill>
                  <a:srgbClr val="127A3E"/>
                </a:solidFill>
                <a:latin typeface="Arial"/>
              </a:rPr>
              <a:t>✅  Acceptance check</a:t>
            </a:r>
          </a:p>
        </p:txBody>
      </p:sp>
      <p:sp>
        <p:nvSpPr>
          <p:cNvPr id="10" name="TextBox 9"/>
          <p:cNvSpPr txBox="1"/>
          <p:nvPr/>
        </p:nvSpPr>
        <p:spPr>
          <a:xfrm>
            <a:off x="1097280" y="2743200"/>
            <a:ext cx="10149840" cy="1737360"/>
          </a:xfrm>
          <a:prstGeom prst="rect">
            <a:avLst/>
          </a:prstGeom>
          <a:noFill/>
        </p:spPr>
        <p:txBody>
          <a:bodyPr wrap="square" anchor="t">
            <a:spAutoFit/>
          </a:bodyPr>
          <a:lstStyle/>
          <a:p>
            <a:pPr algn="l">
              <a:spcAft>
                <a:spcPts val="400"/>
              </a:spcAft>
            </a:pPr>
            <a:r>
              <a:rPr sz="1500" b="0">
                <a:solidFill>
                  <a:srgbClr val="161B26"/>
                </a:solidFill>
                <a:latin typeface="Arial"/>
              </a:rPr>
              <a:t>Company Wiki shows the wiki header, three pages carry the green Verified badge with a 90-day expiry, every page has an owner matching page-owner-register.csv, the Verification view lists only unverified pages, and Company Home links to the policy.</a:t>
            </a:r>
          </a:p>
        </p:txBody>
      </p:sp>
      <p:sp>
        <p:nvSpPr>
          <p:cNvPr id="11" name="Rectangle 10"/>
          <p:cNvSpPr/>
          <p:nvPr/>
        </p:nvSpPr>
        <p:spPr>
          <a:xfrm>
            <a:off x="777240" y="4754880"/>
            <a:ext cx="1069848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5488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6" name="TextBox 15"/>
          <p:cNvSpPr txBox="1"/>
          <p:nvPr/>
        </p:nvSpPr>
        <p:spPr>
          <a:xfrm>
            <a:off x="146304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Re-read the step: most misses are the page menu (top right) versus the block handle (left of a block).</a:t>
            </a:r>
          </a:p>
        </p:txBody>
      </p:sp>
      <p:sp>
        <p:nvSpPr>
          <p:cNvPr id="17" name="Oval 16"/>
          <p:cNvSpPr/>
          <p:nvPr/>
        </p:nvSpPr>
        <p:spPr>
          <a:xfrm>
            <a:off x="461772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9" name="TextBox 18"/>
          <p:cNvSpPr txBox="1"/>
          <p:nvPr/>
        </p:nvSpPr>
        <p:spPr>
          <a:xfrm>
            <a:off x="498348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Check you are in the right page or teamspace — the sidebar shows the path.</a:t>
            </a:r>
          </a:p>
        </p:txBody>
      </p:sp>
      <p:sp>
        <p:nvSpPr>
          <p:cNvPr id="20" name="Oval 19"/>
          <p:cNvSpPr/>
          <p:nvPr/>
        </p:nvSpPr>
        <p:spPr>
          <a:xfrm>
            <a:off x="813816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22" name="TextBox 21"/>
          <p:cNvSpPr txBox="1"/>
          <p:nvPr/>
        </p:nvSpPr>
        <p:spPr>
          <a:xfrm>
            <a:off x="850392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Full click-by-click steps: Learner Guide and the lab's instruction PDF.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 · LU1 · A1 · K5</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Workspace Collaboration Tools</a:t>
            </a:r>
          </a:p>
        </p:txBody>
      </p:sp>
      <p:sp>
        <p:nvSpPr>
          <p:cNvPr id="7" name="TextBox 6"/>
          <p:cNvSpPr txBox="1"/>
          <p:nvPr/>
        </p:nvSpPr>
        <p:spPr>
          <a:xfrm>
            <a:off x="1161288" y="4343400"/>
            <a:ext cx="9692640" cy="1188720"/>
          </a:xfrm>
          <a:prstGeom prst="rect">
            <a:avLst/>
          </a:prstGeom>
          <a:noFill/>
        </p:spPr>
        <p:txBody>
          <a:bodyPr wrap="square" anchor="t">
            <a:spAutoFit/>
          </a:bodyPr>
          <a:lstStyle/>
          <a:p>
            <a:pPr algn="l">
              <a:spcAft>
                <a:spcPts val="400"/>
              </a:spcAft>
            </a:pPr>
            <a:r>
              <a:rPr sz="1400" b="0">
                <a:solidFill>
                  <a:srgbClr val="5B6372"/>
                </a:solidFill>
                <a:latin typeface="Arial"/>
              </a:rPr>
              <a:t>Collaborate within a workspace · comments, mentions and reminders · updates and notifications · search</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advClick="1">
    <p:push dir="l"/>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Workspace Collaboration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Real-time co-editing</a:t>
            </a:r>
          </a:p>
          <a:p>
            <a:pPr algn="l">
              <a:spcAft>
                <a:spcPts val="200"/>
              </a:spcAft>
            </a:pPr>
            <a:r>
              <a:rPr sz="1000" b="0">
                <a:solidFill>
                  <a:srgbClr val="5B6372"/>
                </a:solidFill>
                <a:latin typeface="Arial"/>
              </a:rPr>
              <a:t>Several people edit the same page at once; avatars show who is where, and page history lets you restore an earlier version.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Comments and discussions</a:t>
            </a:r>
          </a:p>
          <a:p>
            <a:pPr algn="l">
              <a:spcAft>
                <a:spcPts val="200"/>
              </a:spcAft>
            </a:pPr>
            <a:r>
              <a:rPr sz="1000" b="0">
                <a:solidFill>
                  <a:srgbClr val="5B6372"/>
                </a:solidFill>
                <a:latin typeface="Arial"/>
              </a:rPr>
              <a:t>Top-level page discussions and inline comments keep feedback next to the content; resolve, react to or reopen threads.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@-mentions</a:t>
            </a:r>
          </a:p>
          <a:p>
            <a:pPr algn="l">
              <a:spcAft>
                <a:spcPts val="200"/>
              </a:spcAft>
            </a:pPr>
            <a:r>
              <a:rPr sz="1000" b="0">
                <a:solidFill>
                  <a:srgbClr val="5B6372"/>
                </a:solidFill>
                <a:latin typeface="Arial"/>
              </a:rPr>
              <a:t>Type @ to mention a person, a page or a date. A mentioned person is notified; a mentioned page becomes a link and a backlink.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Reminders</a:t>
            </a:r>
          </a:p>
          <a:p>
            <a:pPr algn="l">
              <a:spcAft>
                <a:spcPts val="200"/>
              </a:spcAft>
            </a:pPr>
            <a:r>
              <a:rPr sz="1000" b="0">
                <a:solidFill>
                  <a:srgbClr val="5B6372"/>
                </a:solidFill>
                <a:latin typeface="Arial"/>
              </a:rPr>
              <a:t>Any date mention can carry a reminder, so a review date notifies the owner on the day, in the app and by email or push.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Updates and notifications</a:t>
            </a:r>
          </a:p>
          <a:p>
            <a:pPr algn="l">
              <a:spcAft>
                <a:spcPts val="200"/>
              </a:spcAft>
            </a:pPr>
            <a:r>
              <a:rPr sz="1000" b="0">
                <a:solidFill>
                  <a:srgbClr val="5B6372"/>
                </a:solidFill>
                <a:latin typeface="Arial"/>
              </a:rPr>
              <a:t>The Inbox (Updates) collects mentions, comments and page changes across the workspace; tune email and mobile notifications in Settings.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Search that understands structure</a:t>
            </a:r>
          </a:p>
          <a:p>
            <a:pPr algn="l">
              <a:spcAft>
                <a:spcPts val="200"/>
              </a:spcAft>
            </a:pPr>
            <a:r>
              <a:rPr sz="1000" b="0">
                <a:solidFill>
                  <a:srgbClr val="5B6372"/>
                </a:solidFill>
                <a:latin typeface="Arial"/>
              </a:rPr>
              <a:t>Quick Find searches titles and content; filter by teamspace, creator, date or page, sort results and search inside a database.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COLLABORATE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 Together in Real Time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ealtime-collab.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Live cursors and avatars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Everyone with edit access can type at once; avatars show who is on the page.</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Page history</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 → Page history restores earlier snapshots (7 days Free, 30 Plus, 90 Business, unlimited Enterprise).</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Comments live with content</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Inline comments attach to a sentence; page discussions sit under the title.</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Page lock</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Lock a finished page so casual edits are blocked while comments stay open.</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FEEDBACK IN CONTEXT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Comments, Mentions and Reminders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comments.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Comment on anything</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Highlight → Comment, or the comment icon on images, files and database properties.</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@-mention people, pages, dates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A mentioned person is notified; a mentioned page links both ways; a date can remind.</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Resolve, react, reopen</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Resolved threads disappear from the page but stay in the comments sidebar.</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Reminders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Set on any date mention — at time of event, 5 minutes, 1 hour, 1 day or 2 days before.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NEVER MISS A CHANGE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Updates and Notifications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pdates-inbox.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Inbox</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Mentions, comments, page invitations and database notifications in one list.</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All updates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Every change on pages you follow, grouped by page — turn Follow on or off per page.</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Email and mobile</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Settings → Notifications: mentions always, page activity, workspace digest, mobile push.</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Slack too</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Connect Slack to receive @-mentions and database notifications in a channel.</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FIND ANYTHING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Search Across the Workspace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7894"/>
            <a:ext cx="6073140" cy="38137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lter-search.jpg"/>
          <p:cNvPicPr>
            <a:picLocks noChangeAspect="1"/>
          </p:cNvPicPr>
          <p:nvPr/>
        </p:nvPicPr>
        <p:blipFill>
          <a:blip r:embed="rId2"/>
          <a:stretch>
            <a:fillRect/>
          </a:stretch>
        </p:blipFill>
        <p:spPr>
          <a:xfrm>
            <a:off x="777240" y="2066944"/>
            <a:ext cx="6035040" cy="3775671"/>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Quick Find</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Cmd/Ctrl+P or the Search button; type to search titles and full text.</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Filters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Only match titles, Created by, Edited by, In (teamspace or page), Date created or edited.</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Sort and history</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Sort by relevance, last edited or created; recent pages and recent searches appear first.</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Database search</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Inside any database use the search icon to match property values and content.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COLLABORATION LOOP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Content Review Round in Notion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23544"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Author shares the page and posts a discussion 'Review round 1'</a:t>
            </a:r>
          </a:p>
        </p:txBody>
      </p:sp>
      <p:sp>
        <p:nvSpPr>
          <p:cNvPr id="12" name="Rectangle 11"/>
          <p:cNvSpPr/>
          <p:nvPr/>
        </p:nvSpPr>
        <p:spPr>
          <a:xfrm>
            <a:off x="2710281" y="3650285"/>
            <a:ext cx="80468"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790749" y="3618098"/>
            <a:ext cx="120700" cy="124724"/>
          </a:xfrm>
          <a:custGeom>
            <a:avLst/>
            <a:gdLst/>
            <a:ahLst/>
            <a:cxnLst/>
            <a:rect l="l" t="t" r="r" b="b"/>
            <a:pathLst>
              <a:path w="120700" h="124724">
                <a:moveTo>
                  <a:pt x="0" y="0"/>
                </a:moveTo>
                <a:lnTo>
                  <a:pt x="120700"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0497"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8" name="TextBox 17"/>
          <p:cNvSpPr txBox="1"/>
          <p:nvPr/>
        </p:nvSpPr>
        <p:spPr>
          <a:xfrm>
            <a:off x="3112617"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Reviewer raises inline comments and @-mentions owners</a:t>
            </a:r>
          </a:p>
        </p:txBody>
      </p:sp>
      <p:sp>
        <p:nvSpPr>
          <p:cNvPr id="19" name="Rectangle 18"/>
          <p:cNvSpPr/>
          <p:nvPr/>
        </p:nvSpPr>
        <p:spPr>
          <a:xfrm>
            <a:off x="4899354" y="3650285"/>
            <a:ext cx="80468"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4979822" y="3618098"/>
            <a:ext cx="120700" cy="124724"/>
          </a:xfrm>
          <a:custGeom>
            <a:avLst/>
            <a:gdLst/>
            <a:ahLst/>
            <a:cxnLst/>
            <a:rect l="l" t="t" r="r" b="b"/>
            <a:pathLst>
              <a:path w="120700" h="124724">
                <a:moveTo>
                  <a:pt x="0" y="0"/>
                </a:moveTo>
                <a:lnTo>
                  <a:pt x="120700"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0"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5" name="TextBox 24"/>
          <p:cNvSpPr txBox="1"/>
          <p:nvPr/>
        </p:nvSpPr>
        <p:spPr>
          <a:xfrm>
            <a:off x="5301690"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Owners fix the text, reply and resolve each thread</a:t>
            </a:r>
          </a:p>
        </p:txBody>
      </p:sp>
      <p:sp>
        <p:nvSpPr>
          <p:cNvPr id="26" name="Rectangle 25"/>
          <p:cNvSpPr/>
          <p:nvPr/>
        </p:nvSpPr>
        <p:spPr>
          <a:xfrm>
            <a:off x="7088427" y="3650285"/>
            <a:ext cx="80468"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7168895" y="3618098"/>
            <a:ext cx="120700" cy="124724"/>
          </a:xfrm>
          <a:custGeom>
            <a:avLst/>
            <a:gdLst/>
            <a:ahLst/>
            <a:cxnLst/>
            <a:rect l="l" t="t" r="r" b="b"/>
            <a:pathLst>
              <a:path w="120700" h="124724">
                <a:moveTo>
                  <a:pt x="0" y="0"/>
                </a:moveTo>
                <a:lnTo>
                  <a:pt x="120700"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8643"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32" name="TextBox 31"/>
          <p:cNvSpPr txBox="1"/>
          <p:nvPr/>
        </p:nvSpPr>
        <p:spPr>
          <a:xfrm>
            <a:off x="7490763"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Reminder dates chase anything still open</a:t>
            </a:r>
          </a:p>
        </p:txBody>
      </p:sp>
      <p:sp>
        <p:nvSpPr>
          <p:cNvPr id="33" name="Rectangle 32"/>
          <p:cNvSpPr/>
          <p:nvPr/>
        </p:nvSpPr>
        <p:spPr>
          <a:xfrm>
            <a:off x="9277500" y="3650285"/>
            <a:ext cx="80468"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9357968" y="3618098"/>
            <a:ext cx="120700" cy="124724"/>
          </a:xfrm>
          <a:custGeom>
            <a:avLst/>
            <a:gdLst/>
            <a:ahLst/>
            <a:cxnLst/>
            <a:rect l="l" t="t" r="r" b="b"/>
            <a:pathLst>
              <a:path w="120700" h="124724">
                <a:moveTo>
                  <a:pt x="0" y="0"/>
                </a:moveTo>
                <a:lnTo>
                  <a:pt x="120700"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97716"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9" name="TextBox 38"/>
          <p:cNvSpPr txBox="1"/>
          <p:nvPr/>
        </p:nvSpPr>
        <p:spPr>
          <a:xfrm>
            <a:off x="9679836"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Inbox and page history confirm every change</a:t>
            </a:r>
          </a:p>
        </p:txBody>
      </p:sp>
      <p:sp>
        <p:nvSpPr>
          <p:cNvPr id="40" name="TextBox 39"/>
          <p:cNvSpPr txBox="1"/>
          <p:nvPr/>
        </p:nvSpPr>
        <p:spPr>
          <a:xfrm>
            <a:off x="777240" y="5394960"/>
            <a:ext cx="10698480" cy="640080"/>
          </a:xfrm>
          <a:prstGeom prst="rect">
            <a:avLst/>
          </a:prstGeom>
          <a:noFill/>
        </p:spPr>
        <p:txBody>
          <a:bodyPr wrap="square" anchor="t">
            <a:spAutoFit/>
          </a:bodyPr>
          <a:lstStyle/>
          <a:p>
            <a:pPr algn="ctr">
              <a:spcAft>
                <a:spcPts val="400"/>
              </a:spcAft>
            </a:pPr>
            <a:r>
              <a:rPr sz="1300" b="0">
                <a:solidFill>
                  <a:srgbClr val="5B6372"/>
                </a:solidFill>
                <a:latin typeface="Arial"/>
              </a:rPr>
              <a:t>Comments are the audit trail of content decisions — resolve, do not delete.</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CHOOSE THE RIGHT TOOL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Collaboration Tools — When to Use Which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Need</a:t>
            </a:r>
          </a:p>
        </p:txBody>
      </p:sp>
      <p:sp>
        <p:nvSpPr>
          <p:cNvPr id="9" name="Rectangle 8"/>
          <p:cNvSpPr/>
          <p:nvPr/>
        </p:nvSpPr>
        <p:spPr>
          <a:xfrm>
            <a:off x="3329513"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Use</a:t>
            </a:r>
          </a:p>
        </p:txBody>
      </p:sp>
      <p:sp>
        <p:nvSpPr>
          <p:cNvPr id="11" name="Rectangle 10"/>
          <p:cNvSpPr/>
          <p:nvPr/>
        </p:nvSpPr>
        <p:spPr>
          <a:xfrm>
            <a:off x="6023579"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33307"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Who sees it</a:t>
            </a:r>
          </a:p>
        </p:txBody>
      </p:sp>
      <p:sp>
        <p:nvSpPr>
          <p:cNvPr id="13" name="Rectangle 12"/>
          <p:cNvSpPr/>
          <p:nvPr/>
        </p:nvSpPr>
        <p:spPr>
          <a:xfrm>
            <a:off x="8717645"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7373"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Leaves a trace?</a:t>
            </a:r>
          </a:p>
        </p:txBody>
      </p:sp>
      <p:sp>
        <p:nvSpPr>
          <p:cNvPr id="15" name="Rectangle 14"/>
          <p:cNvSpPr/>
          <p:nvPr/>
        </p:nvSpPr>
        <p:spPr>
          <a:xfrm>
            <a:off x="777240" y="233172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317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Ask a question about one sentence</a:t>
            </a:r>
          </a:p>
        </p:txBody>
      </p:sp>
      <p:sp>
        <p:nvSpPr>
          <p:cNvPr id="17" name="Rectangle 16"/>
          <p:cNvSpPr/>
          <p:nvPr/>
        </p:nvSpPr>
        <p:spPr>
          <a:xfrm>
            <a:off x="3329513" y="233172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9241" y="23317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Inline comment</a:t>
            </a:r>
          </a:p>
        </p:txBody>
      </p:sp>
      <p:sp>
        <p:nvSpPr>
          <p:cNvPr id="19" name="Rectangle 18"/>
          <p:cNvSpPr/>
          <p:nvPr/>
        </p:nvSpPr>
        <p:spPr>
          <a:xfrm>
            <a:off x="6023579" y="233172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3307" y="23317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Everyone on the page</a:t>
            </a:r>
          </a:p>
        </p:txBody>
      </p:sp>
      <p:sp>
        <p:nvSpPr>
          <p:cNvPr id="21" name="Rectangle 20"/>
          <p:cNvSpPr/>
          <p:nvPr/>
        </p:nvSpPr>
        <p:spPr>
          <a:xfrm>
            <a:off x="8717645" y="233172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7373" y="23317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Yes — comment thread</a:t>
            </a:r>
          </a:p>
        </p:txBody>
      </p:sp>
      <p:sp>
        <p:nvSpPr>
          <p:cNvPr id="23" name="Rectangle 22"/>
          <p:cNvSpPr/>
          <p:nvPr/>
        </p:nvSpPr>
        <p:spPr>
          <a:xfrm>
            <a:off x="777240" y="288798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8798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Alert a colleague</a:t>
            </a:r>
          </a:p>
        </p:txBody>
      </p:sp>
      <p:sp>
        <p:nvSpPr>
          <p:cNvPr id="25" name="Rectangle 24"/>
          <p:cNvSpPr/>
          <p:nvPr/>
        </p:nvSpPr>
        <p:spPr>
          <a:xfrm>
            <a:off x="3329513" y="288798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39241" y="288798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@-mention</a:t>
            </a:r>
          </a:p>
        </p:txBody>
      </p:sp>
      <p:sp>
        <p:nvSpPr>
          <p:cNvPr id="27" name="Rectangle 26"/>
          <p:cNvSpPr/>
          <p:nvPr/>
        </p:nvSpPr>
        <p:spPr>
          <a:xfrm>
            <a:off x="6023579" y="288798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33307" y="288798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The person (Inbox + email)</a:t>
            </a:r>
          </a:p>
        </p:txBody>
      </p:sp>
      <p:sp>
        <p:nvSpPr>
          <p:cNvPr id="29" name="Rectangle 28"/>
          <p:cNvSpPr/>
          <p:nvPr/>
        </p:nvSpPr>
        <p:spPr>
          <a:xfrm>
            <a:off x="8717645" y="288798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27373" y="288798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Yes — in the comment or text</a:t>
            </a:r>
          </a:p>
        </p:txBody>
      </p:sp>
      <p:sp>
        <p:nvSpPr>
          <p:cNvPr id="31" name="Rectangle 30"/>
          <p:cNvSpPr/>
          <p:nvPr/>
        </p:nvSpPr>
        <p:spPr>
          <a:xfrm>
            <a:off x="777240" y="344424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44424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Chase a deadline</a:t>
            </a:r>
          </a:p>
        </p:txBody>
      </p:sp>
      <p:sp>
        <p:nvSpPr>
          <p:cNvPr id="33" name="Rectangle 32"/>
          <p:cNvSpPr/>
          <p:nvPr/>
        </p:nvSpPr>
        <p:spPr>
          <a:xfrm>
            <a:off x="3329513" y="344424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344424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Date mention + reminder</a:t>
            </a:r>
          </a:p>
        </p:txBody>
      </p:sp>
      <p:sp>
        <p:nvSpPr>
          <p:cNvPr id="35" name="Rectangle 34"/>
          <p:cNvSpPr/>
          <p:nvPr/>
        </p:nvSpPr>
        <p:spPr>
          <a:xfrm>
            <a:off x="6023579" y="344424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3307" y="344424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The mentioned person</a:t>
            </a:r>
          </a:p>
        </p:txBody>
      </p:sp>
      <p:sp>
        <p:nvSpPr>
          <p:cNvPr id="37" name="Rectangle 36"/>
          <p:cNvSpPr/>
          <p:nvPr/>
        </p:nvSpPr>
        <p:spPr>
          <a:xfrm>
            <a:off x="8717645" y="344424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27373" y="344424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Yes — the date chip</a:t>
            </a:r>
          </a:p>
        </p:txBody>
      </p:sp>
      <p:sp>
        <p:nvSpPr>
          <p:cNvPr id="39" name="Rectangle 38"/>
          <p:cNvSpPr/>
          <p:nvPr/>
        </p:nvSpPr>
        <p:spPr>
          <a:xfrm>
            <a:off x="777240" y="400050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00050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Discuss the page overall</a:t>
            </a:r>
          </a:p>
        </p:txBody>
      </p:sp>
      <p:sp>
        <p:nvSpPr>
          <p:cNvPr id="41" name="Rectangle 40"/>
          <p:cNvSpPr/>
          <p:nvPr/>
        </p:nvSpPr>
        <p:spPr>
          <a:xfrm>
            <a:off x="3329513" y="400050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39241" y="400050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Page discussion</a:t>
            </a:r>
          </a:p>
        </p:txBody>
      </p:sp>
      <p:sp>
        <p:nvSpPr>
          <p:cNvPr id="43" name="Rectangle 42"/>
          <p:cNvSpPr/>
          <p:nvPr/>
        </p:nvSpPr>
        <p:spPr>
          <a:xfrm>
            <a:off x="6023579" y="400050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33307" y="400050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Everyone on the page</a:t>
            </a:r>
          </a:p>
        </p:txBody>
      </p:sp>
      <p:sp>
        <p:nvSpPr>
          <p:cNvPr id="45" name="Rectangle 44"/>
          <p:cNvSpPr/>
          <p:nvPr/>
        </p:nvSpPr>
        <p:spPr>
          <a:xfrm>
            <a:off x="8717645" y="400050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27373" y="400050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Yes — under the title</a:t>
            </a:r>
          </a:p>
        </p:txBody>
      </p:sp>
      <p:sp>
        <p:nvSpPr>
          <p:cNvPr id="47" name="Rectangle 46"/>
          <p:cNvSpPr/>
          <p:nvPr/>
        </p:nvSpPr>
        <p:spPr>
          <a:xfrm>
            <a:off x="777240" y="455676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55676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Track a change</a:t>
            </a:r>
          </a:p>
        </p:txBody>
      </p:sp>
      <p:sp>
        <p:nvSpPr>
          <p:cNvPr id="49" name="Rectangle 48"/>
          <p:cNvSpPr/>
          <p:nvPr/>
        </p:nvSpPr>
        <p:spPr>
          <a:xfrm>
            <a:off x="3329513" y="455676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9241" y="455676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Page history</a:t>
            </a:r>
          </a:p>
        </p:txBody>
      </p:sp>
      <p:sp>
        <p:nvSpPr>
          <p:cNvPr id="51" name="Rectangle 50"/>
          <p:cNvSpPr/>
          <p:nvPr/>
        </p:nvSpPr>
        <p:spPr>
          <a:xfrm>
            <a:off x="6023579" y="455676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33307" y="455676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Editors</a:t>
            </a:r>
          </a:p>
        </p:txBody>
      </p:sp>
      <p:sp>
        <p:nvSpPr>
          <p:cNvPr id="53" name="Rectangle 52"/>
          <p:cNvSpPr/>
          <p:nvPr/>
        </p:nvSpPr>
        <p:spPr>
          <a:xfrm>
            <a:off x="8717645" y="455676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27373" y="455676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Yes — snapshots</a:t>
            </a:r>
          </a:p>
        </p:txBody>
      </p:sp>
      <p:sp>
        <p:nvSpPr>
          <p:cNvPr id="55" name="Rectangle 54"/>
          <p:cNvSpPr/>
          <p:nvPr/>
        </p:nvSpPr>
        <p:spPr>
          <a:xfrm>
            <a:off x="777240" y="511302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51130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Find related work</a:t>
            </a:r>
          </a:p>
        </p:txBody>
      </p:sp>
      <p:sp>
        <p:nvSpPr>
          <p:cNvPr id="57" name="Rectangle 56"/>
          <p:cNvSpPr/>
          <p:nvPr/>
        </p:nvSpPr>
        <p:spPr>
          <a:xfrm>
            <a:off x="3329513" y="511302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39241" y="51130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Search filters</a:t>
            </a:r>
          </a:p>
        </p:txBody>
      </p:sp>
      <p:sp>
        <p:nvSpPr>
          <p:cNvPr id="59" name="Rectangle 58"/>
          <p:cNvSpPr/>
          <p:nvPr/>
        </p:nvSpPr>
        <p:spPr>
          <a:xfrm>
            <a:off x="6023579" y="511302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33307" y="51130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You</a:t>
            </a:r>
          </a:p>
        </p:txBody>
      </p:sp>
      <p:sp>
        <p:nvSpPr>
          <p:cNvPr id="61" name="Rectangle 60"/>
          <p:cNvSpPr/>
          <p:nvPr/>
        </p:nvSpPr>
        <p:spPr>
          <a:xfrm>
            <a:off x="8717645" y="511302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27373" y="51130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No</a:t>
            </a:r>
          </a:p>
        </p:txBody>
      </p:sp>
      <p:sp>
        <p:nvSpPr>
          <p:cNvPr id="63" name="Rectangle 62"/>
          <p:cNvSpPr/>
          <p:nvPr/>
        </p:nvSpPr>
        <p:spPr>
          <a:xfrm>
            <a:off x="777240" y="5852160"/>
            <a:ext cx="10634472"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05840" y="5852160"/>
            <a:ext cx="10268712" cy="566928"/>
          </a:xfrm>
          <a:prstGeom prst="rect">
            <a:avLst/>
          </a:prstGeom>
          <a:noFill/>
        </p:spPr>
        <p:txBody>
          <a:bodyPr wrap="square" anchor="ctr">
            <a:spAutoFit/>
          </a:bodyPr>
          <a:lstStyle/>
          <a:p>
            <a:pPr algn="l">
              <a:spcAft>
                <a:spcPts val="400"/>
              </a:spcAft>
            </a:pPr>
            <a:r>
              <a:rPr sz="1100" b="1">
                <a:solidFill>
                  <a:srgbClr val="1F6FEB"/>
                </a:solidFill>
                <a:latin typeface="Arial"/>
              </a:rPr>
              <a:t>RULE   </a:t>
            </a:r>
            <a:r>
              <a:rPr sz="1250" b="0">
                <a:solidFill>
                  <a:srgbClr val="161B26"/>
                </a:solidFill>
                <a:latin typeface="Arial"/>
              </a:rPr>
              <a:t>Prefer comments to chat messages: the decision stays next to the content it changed.</a:t>
            </a:r>
          </a:p>
        </p:txBody>
      </p:sp>
      <p:sp>
        <p:nvSpPr>
          <p:cNvPr id="65" name="TextBox 6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66" name="TextBox 6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7" name="TextBox 6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LAB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Run a Content Review with Comments, Mentions, Reminders and Search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03</a:t>
            </a:r>
          </a:p>
        </p:txBody>
      </p:sp>
      <p:sp>
        <p:nvSpPr>
          <p:cNvPr id="9" name="Rectangle 8"/>
          <p:cNvSpPr/>
          <p:nvPr/>
        </p:nvSpPr>
        <p:spPr>
          <a:xfrm>
            <a:off x="2286000" y="1691640"/>
            <a:ext cx="155448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554480" cy="365760"/>
          </a:xfrm>
          <a:prstGeom prst="rect">
            <a:avLst/>
          </a:prstGeom>
          <a:noFill/>
        </p:spPr>
        <p:txBody>
          <a:bodyPr wrap="square" anchor="t">
            <a:spAutoFit/>
          </a:bodyPr>
          <a:lstStyle/>
          <a:p>
            <a:pPr algn="ctr">
              <a:spcAft>
                <a:spcPts val="400"/>
              </a:spcAft>
            </a:pPr>
            <a:r>
              <a:rPr sz="1300" b="1">
                <a:solidFill>
                  <a:srgbClr val="5B6372"/>
                </a:solidFill>
                <a:latin typeface="Arial"/>
              </a:rPr>
              <a:t>K5 · A1</a:t>
            </a:r>
          </a:p>
        </p:txBody>
      </p:sp>
      <p:sp>
        <p:nvSpPr>
          <p:cNvPr id="11" name="Rectangle 10"/>
          <p:cNvSpPr/>
          <p:nvPr/>
        </p:nvSpPr>
        <p:spPr>
          <a:xfrm>
            <a:off x="3977639"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35 min</a:t>
            </a:r>
          </a:p>
        </p:txBody>
      </p:sp>
      <p:sp>
        <p:nvSpPr>
          <p:cNvPr id="13" name="TextBox 12"/>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Acting as the reviewer of the About Brightwave page, you raise the feedback items from the supplied review sheet as comments, mention the owners, set dated reminders, resolve threads, watch the Inbox, and use Search filters to find every page that mentions a client.</a:t>
            </a:r>
          </a:p>
        </p:txBody>
      </p:sp>
      <p:sp>
        <p:nvSpPr>
          <p:cNvPr id="14" name="Rectangle 13"/>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7" name="TextBox 16"/>
          <p:cNvSpPr txBox="1"/>
          <p:nvPr/>
        </p:nvSpPr>
        <p:spPr>
          <a:xfrm>
            <a:off x="1005840" y="4526280"/>
            <a:ext cx="10149840" cy="731520"/>
          </a:xfrm>
          <a:prstGeom prst="rect">
            <a:avLst/>
          </a:prstGeom>
          <a:noFill/>
        </p:spPr>
        <p:txBody>
          <a:bodyPr wrap="square" anchor="t">
            <a:spAutoFit/>
          </a:bodyPr>
          <a:lstStyle/>
          <a:p>
            <a:pPr algn="l">
              <a:spcAft>
                <a:spcPts val="400"/>
              </a:spcAft>
            </a:pPr>
            <a:r>
              <a:rPr sz="1600" b="1">
                <a:solidFill>
                  <a:srgbClr val="161B26"/>
                </a:solidFill>
                <a:latin typeface="Arial"/>
              </a:rPr>
              <a:t>A reviewed page with a comment thread per feedback item, mentions and reminders assigned, resolved threads, and a saved search routine</a:t>
            </a:r>
          </a:p>
        </p:txBody>
      </p:sp>
      <p:sp>
        <p:nvSpPr>
          <p:cNvPr id="18" name="TextBox 17"/>
          <p:cNvSpPr txBox="1"/>
          <p:nvPr/>
        </p:nvSpPr>
        <p:spPr>
          <a:xfrm>
            <a:off x="1005840" y="52852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Notion comments, mentions, reminders, Inbox, Search</a:t>
            </a:r>
          </a:p>
        </p:txBody>
      </p:sp>
      <p:sp>
        <p:nvSpPr>
          <p:cNvPr id="19" name="Rectangle 18"/>
          <p:cNvSpPr/>
          <p:nvPr/>
        </p:nvSpPr>
        <p:spPr>
          <a:xfrm>
            <a:off x="777240"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89788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89788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K5 · A1</a:t>
            </a:r>
          </a:p>
        </p:txBody>
      </p:sp>
      <p:sp>
        <p:nvSpPr>
          <p:cNvPr id="22" name="Rectangle 21"/>
          <p:cNvSpPr/>
          <p:nvPr/>
        </p:nvSpPr>
        <p:spPr>
          <a:xfrm>
            <a:off x="4407408"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589788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89788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5" name="Rectangle 24"/>
          <p:cNvSpPr/>
          <p:nvPr/>
        </p:nvSpPr>
        <p:spPr>
          <a:xfrm>
            <a:off x="8037576"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7576" y="589788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589788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Screenshots · lab README checklist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Prepare</a:t>
            </a:r>
          </a:p>
        </p:txBody>
      </p:sp>
      <p:sp>
        <p:nvSpPr>
          <p:cNvPr id="12" name="TextBox 11"/>
          <p:cNvSpPr txBox="1"/>
          <p:nvPr/>
        </p:nvSpPr>
        <p:spPr>
          <a:xfrm>
            <a:off x="905256"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Raise inline comments</a:t>
            </a:r>
          </a:p>
        </p:txBody>
      </p:sp>
      <p:sp>
        <p:nvSpPr>
          <p:cNvPr id="13" name="Rectangle 12"/>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8174"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817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4053078"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Build</a:t>
            </a:r>
          </a:p>
        </p:txBody>
      </p:sp>
      <p:sp>
        <p:nvSpPr>
          <p:cNvPr id="20" name="TextBox 19"/>
          <p:cNvSpPr txBox="1"/>
          <p:nvPr/>
        </p:nvSpPr>
        <p:spPr>
          <a:xfrm>
            <a:off x="3678174"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Mention owners and dates</a:t>
            </a:r>
          </a:p>
        </p:txBody>
      </p:sp>
      <p:sp>
        <p:nvSpPr>
          <p:cNvPr id="21" name="Rectangle 20"/>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1092"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0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6825996"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28" name="TextBox 27"/>
          <p:cNvSpPr txBox="1"/>
          <p:nvPr/>
        </p:nvSpPr>
        <p:spPr>
          <a:xfrm>
            <a:off x="6451092"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Set and act on reminders</a:t>
            </a:r>
          </a:p>
        </p:txBody>
      </p:sp>
      <p:sp>
        <p:nvSpPr>
          <p:cNvPr id="29" name="Rectangle 28"/>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24010"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401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9598914"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36" name="TextBox 35"/>
          <p:cNvSpPr txBox="1"/>
          <p:nvPr/>
        </p:nvSpPr>
        <p:spPr>
          <a:xfrm>
            <a:off x="9224010"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Search and filter the workspace</a:t>
            </a:r>
          </a:p>
        </p:txBody>
      </p:sp>
      <p:sp>
        <p:nvSpPr>
          <p:cNvPr id="37" name="Rectangle 36"/>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 the full click-by-click procedure is in the Learner Guide (Lab 03) and the lab's instruction PDF.</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Run a Content Review with Comments, Mentions, Reminders and Search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058400" cy="457200"/>
          </a:xfrm>
          <a:prstGeom prst="rect">
            <a:avLst/>
          </a:prstGeom>
          <a:noFill/>
        </p:spPr>
        <p:txBody>
          <a:bodyPr wrap="square" anchor="t">
            <a:spAutoFit/>
          </a:bodyPr>
          <a:lstStyle/>
          <a:p>
            <a:pPr algn="l">
              <a:spcAft>
                <a:spcPts val="400"/>
              </a:spcAft>
            </a:pPr>
            <a:r>
              <a:rPr sz="1800" b="1">
                <a:solidFill>
                  <a:srgbClr val="127A3E"/>
                </a:solidFill>
                <a:latin typeface="Arial"/>
              </a:rPr>
              <a:t>✅  Acceptance check</a:t>
            </a:r>
          </a:p>
        </p:txBody>
      </p:sp>
      <p:sp>
        <p:nvSpPr>
          <p:cNvPr id="10" name="TextBox 9"/>
          <p:cNvSpPr txBox="1"/>
          <p:nvPr/>
        </p:nvSpPr>
        <p:spPr>
          <a:xfrm>
            <a:off x="1097280" y="2743200"/>
            <a:ext cx="10149840" cy="1737360"/>
          </a:xfrm>
          <a:prstGeom prst="rect">
            <a:avLst/>
          </a:prstGeom>
          <a:noFill/>
        </p:spPr>
        <p:txBody>
          <a:bodyPr wrap="square" anchor="t">
            <a:spAutoFit/>
          </a:bodyPr>
          <a:lstStyle/>
          <a:p>
            <a:pPr algn="l">
              <a:spcAft>
                <a:spcPts val="400"/>
              </a:spcAft>
            </a:pPr>
            <a:r>
              <a:rPr sz="1500" b="0">
                <a:solidFill>
                  <a:srgbClr val="161B26"/>
                </a:solidFill>
                <a:latin typeface="Arial"/>
              </a:rPr>
              <a:t>About Brightwave shows one resolved and five open inline comments, each with an @-mentioned owner, two comments carry reminder bells, the Inbox lists the mentions, and the Nova Retail search returns the pages that name that client.</a:t>
            </a:r>
          </a:p>
        </p:txBody>
      </p:sp>
      <p:sp>
        <p:nvSpPr>
          <p:cNvPr id="11" name="Rectangle 10"/>
          <p:cNvSpPr/>
          <p:nvPr/>
        </p:nvSpPr>
        <p:spPr>
          <a:xfrm>
            <a:off x="777240" y="4754880"/>
            <a:ext cx="1069848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5488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6" name="TextBox 15"/>
          <p:cNvSpPr txBox="1"/>
          <p:nvPr/>
        </p:nvSpPr>
        <p:spPr>
          <a:xfrm>
            <a:off x="146304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Re-read the step: most misses are the page menu (top right) versus the block handle (left of a block).</a:t>
            </a:r>
          </a:p>
        </p:txBody>
      </p:sp>
      <p:sp>
        <p:nvSpPr>
          <p:cNvPr id="17" name="Oval 16"/>
          <p:cNvSpPr/>
          <p:nvPr/>
        </p:nvSpPr>
        <p:spPr>
          <a:xfrm>
            <a:off x="461772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9" name="TextBox 18"/>
          <p:cNvSpPr txBox="1"/>
          <p:nvPr/>
        </p:nvSpPr>
        <p:spPr>
          <a:xfrm>
            <a:off x="498348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Check you are in the right page or teamspace — the sidebar shows the path.</a:t>
            </a:r>
          </a:p>
        </p:txBody>
      </p:sp>
      <p:sp>
        <p:nvSpPr>
          <p:cNvPr id="20" name="Oval 19"/>
          <p:cNvSpPr/>
          <p:nvPr/>
        </p:nvSpPr>
        <p:spPr>
          <a:xfrm>
            <a:off x="813816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22" name="TextBox 21"/>
          <p:cNvSpPr txBox="1"/>
          <p:nvPr/>
        </p:nvSpPr>
        <p:spPr>
          <a:xfrm>
            <a:off x="850392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Full click-by-click steps: Learner Guide and the lab's instruction PDF.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6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100" b="1">
                <a:solidFill>
                  <a:srgbClr val="F59E0B"/>
                </a:solidFill>
                <a:latin typeface="Arial"/>
              </a:rPr>
              <a:t>1 hour · back for PM digital attendance</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 · LU2 · A2 · K2</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Pages and Content Blocks</a:t>
            </a:r>
          </a:p>
        </p:txBody>
      </p:sp>
      <p:sp>
        <p:nvSpPr>
          <p:cNvPr id="7" name="TextBox 6"/>
          <p:cNvSpPr txBox="1"/>
          <p:nvPr/>
        </p:nvSpPr>
        <p:spPr>
          <a:xfrm>
            <a:off x="1161288" y="4343400"/>
            <a:ext cx="9692640" cy="1188720"/>
          </a:xfrm>
          <a:prstGeom prst="rect">
            <a:avLst/>
          </a:prstGeom>
          <a:noFill/>
        </p:spPr>
        <p:txBody>
          <a:bodyPr wrap="square" anchor="t">
            <a:spAutoFit/>
          </a:bodyPr>
          <a:lstStyle/>
          <a:p>
            <a:pPr algn="l">
              <a:spcAft>
                <a:spcPts val="400"/>
              </a:spcAft>
            </a:pPr>
            <a:r>
              <a:rPr sz="1400" b="0">
                <a:solidFill>
                  <a:srgbClr val="5B6372"/>
                </a:solidFill>
                <a:latin typeface="Arial"/>
              </a:rPr>
              <a:t>Writing, editing and customisation · keyboard shortcuts · columns, tables, headings and dividers · images, files and media · code blocks and buttons · synced blocks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advClick="1">
    <p:push dir="l"/>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Pages and Content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Slash commands create blocks</a:t>
            </a:r>
          </a:p>
          <a:p>
            <a:pPr algn="l">
              <a:spcAft>
                <a:spcPts val="200"/>
              </a:spcAft>
            </a:pPr>
            <a:r>
              <a:rPr sz="1000" b="0">
                <a:solidFill>
                  <a:srgbClr val="5B6372"/>
                </a:solidFill>
                <a:latin typeface="Arial"/>
              </a:rPr>
              <a:t>Type / for every block type: basic (text, headings, lists, toggles, quotes, callouts), database, media, embeds and advanced blocks.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Markdown and shortcuts</a:t>
            </a:r>
          </a:p>
          <a:p>
            <a:pPr algn="l">
              <a:spcAft>
                <a:spcPts val="200"/>
              </a:spcAft>
            </a:pPr>
            <a:r>
              <a:rPr sz="1000" b="0">
                <a:solidFill>
                  <a:srgbClr val="5B6372"/>
                </a:solidFill>
                <a:latin typeface="Arial"/>
              </a:rPr>
              <a:t>Markdown-style shortcuts (#, -, [], &gt;, ```) and keyboard shortcuts (Cmd/Ctrl+B, Cmd/Ctrl+E, Cmd/Ctrl+Shift+0-9) make writing fast.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Structure with layout blocks</a:t>
            </a:r>
          </a:p>
          <a:p>
            <a:pPr algn="l">
              <a:spcAft>
                <a:spcPts val="200"/>
              </a:spcAft>
            </a:pPr>
            <a:r>
              <a:rPr sz="1000" b="0">
                <a:solidFill>
                  <a:srgbClr val="5B6372"/>
                </a:solidFill>
                <a:latin typeface="Arial"/>
              </a:rPr>
              <a:t>Headings build the table of contents, dividers separate sections, simple tables hold small grids and drag-to-side creates columns.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Media in context</a:t>
            </a:r>
          </a:p>
          <a:p>
            <a:pPr algn="l">
              <a:spcAft>
                <a:spcPts val="200"/>
              </a:spcAft>
            </a:pPr>
            <a:r>
              <a:rPr sz="1000" b="0">
                <a:solidFill>
                  <a:srgbClr val="5B6372"/>
                </a:solidFill>
                <a:latin typeface="Arial"/>
              </a:rPr>
              <a:t>Upload or embed images, files, video, audio, PDFs and web bookmarks; align, resize and caption them where the content needs them.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Code blocks and buttons</a:t>
            </a:r>
          </a:p>
          <a:p>
            <a:pPr algn="l">
              <a:spcAft>
                <a:spcPts val="200"/>
              </a:spcAft>
            </a:pPr>
            <a:r>
              <a:rPr sz="1000" b="0">
                <a:solidFill>
                  <a:srgbClr val="5B6372"/>
                </a:solidFill>
                <a:latin typeface="Arial"/>
              </a:rPr>
              <a:t>Code blocks add syntax highlighting, wrap and copy; buttons insert blocks, add pages or edit properties in one click.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Synced blocks</a:t>
            </a:r>
          </a:p>
          <a:p>
            <a:pPr algn="l">
              <a:spcAft>
                <a:spcPts val="200"/>
              </a:spcAft>
            </a:pPr>
            <a:r>
              <a:rPr sz="1000" b="0">
                <a:solidFill>
                  <a:srgbClr val="5B6372"/>
                </a:solidFill>
                <a:latin typeface="Arial"/>
              </a:rPr>
              <a:t>Content that must appear in several places (a footer, a policy notice) is written once in a synced block and edited everywhere at once.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WRITE AND EDIT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Editing Tools and the Block Menu</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diting-tools.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Floating toolbar</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Select text: bold, italic, underline, strike, code, link, comment, colour, Ask AI.</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Block handle ⋮⋮</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Delete, Duplicate, Turn into, Move to, Comment, Colour, Copy link to block.</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Multi-select</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Shift+Up/Down or drag to select several blocks; act on them together.</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Undo everywhere</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Cmd/Ctrl+Z reverses edits; Trash and page history recover deletions.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 MENU</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Block Types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Group</a:t>
            </a:r>
          </a:p>
        </p:txBody>
      </p:sp>
      <p:sp>
        <p:nvSpPr>
          <p:cNvPr id="9" name="Rectangle 8"/>
          <p:cNvSpPr/>
          <p:nvPr/>
        </p:nvSpPr>
        <p:spPr>
          <a:xfrm>
            <a:off x="3329513"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Blocks</a:t>
            </a:r>
          </a:p>
        </p:txBody>
      </p:sp>
      <p:sp>
        <p:nvSpPr>
          <p:cNvPr id="11" name="Rectangle 10"/>
          <p:cNvSpPr/>
          <p:nvPr/>
        </p:nvSpPr>
        <p:spPr>
          <a:xfrm>
            <a:off x="7370612"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0340"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Typical Brightwave use</a:t>
            </a:r>
          </a:p>
        </p:txBody>
      </p:sp>
      <p:sp>
        <p:nvSpPr>
          <p:cNvPr id="13" name="Rectangle 12"/>
          <p:cNvSpPr/>
          <p:nvPr/>
        </p:nvSpPr>
        <p:spPr>
          <a:xfrm>
            <a:off x="777240" y="2331720"/>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31720"/>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Basic</a:t>
            </a:r>
          </a:p>
        </p:txBody>
      </p:sp>
      <p:sp>
        <p:nvSpPr>
          <p:cNvPr id="15" name="Rectangle 14"/>
          <p:cNvSpPr/>
          <p:nvPr/>
        </p:nvSpPr>
        <p:spPr>
          <a:xfrm>
            <a:off x="3329513" y="2331720"/>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331720"/>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Text, headings 1–3, bulleted, numbered, to-do, toggle, quote, divider, callout, link to page</a:t>
            </a:r>
          </a:p>
        </p:txBody>
      </p:sp>
      <p:sp>
        <p:nvSpPr>
          <p:cNvPr id="17" name="Rectangle 16"/>
          <p:cNvSpPr/>
          <p:nvPr/>
        </p:nvSpPr>
        <p:spPr>
          <a:xfrm>
            <a:off x="7370612" y="2331720"/>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0340" y="2331720"/>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Article body, policies, checklists</a:t>
            </a:r>
          </a:p>
        </p:txBody>
      </p:sp>
      <p:sp>
        <p:nvSpPr>
          <p:cNvPr id="19" name="Rectangle 18"/>
          <p:cNvSpPr/>
          <p:nvPr/>
        </p:nvSpPr>
        <p:spPr>
          <a:xfrm>
            <a:off x="777240" y="2898648"/>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98648"/>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Database</a:t>
            </a:r>
          </a:p>
        </p:txBody>
      </p:sp>
      <p:sp>
        <p:nvSpPr>
          <p:cNvPr id="21" name="Rectangle 20"/>
          <p:cNvSpPr/>
          <p:nvPr/>
        </p:nvSpPr>
        <p:spPr>
          <a:xfrm>
            <a:off x="3329513" y="2898648"/>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2898648"/>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Table, board, gallery, list, calendar, timeline — inline or full page</a:t>
            </a:r>
          </a:p>
        </p:txBody>
      </p:sp>
      <p:sp>
        <p:nvSpPr>
          <p:cNvPr id="23" name="Rectangle 22"/>
          <p:cNvSpPr/>
          <p:nvPr/>
        </p:nvSpPr>
        <p:spPr>
          <a:xfrm>
            <a:off x="7370612" y="2898648"/>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0340" y="2898648"/>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Content calendar, tasks, clients</a:t>
            </a:r>
          </a:p>
        </p:txBody>
      </p:sp>
      <p:sp>
        <p:nvSpPr>
          <p:cNvPr id="25" name="Rectangle 24"/>
          <p:cNvSpPr/>
          <p:nvPr/>
        </p:nvSpPr>
        <p:spPr>
          <a:xfrm>
            <a:off x="777240" y="3465576"/>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465576"/>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Media</a:t>
            </a:r>
          </a:p>
        </p:txBody>
      </p:sp>
      <p:sp>
        <p:nvSpPr>
          <p:cNvPr id="27" name="Rectangle 26"/>
          <p:cNvSpPr/>
          <p:nvPr/>
        </p:nvSpPr>
        <p:spPr>
          <a:xfrm>
            <a:off x="3329513" y="3465576"/>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465576"/>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Image, video, audio, file, code, web bookmark</a:t>
            </a:r>
          </a:p>
        </p:txBody>
      </p:sp>
      <p:sp>
        <p:nvSpPr>
          <p:cNvPr id="29" name="Rectangle 28"/>
          <p:cNvSpPr/>
          <p:nvPr/>
        </p:nvSpPr>
        <p:spPr>
          <a:xfrm>
            <a:off x="7370612" y="3465576"/>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0340" y="3465576"/>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Hero images, media kit PDF, scripts</a:t>
            </a:r>
          </a:p>
        </p:txBody>
      </p:sp>
      <p:sp>
        <p:nvSpPr>
          <p:cNvPr id="31" name="Rectangle 30"/>
          <p:cNvSpPr/>
          <p:nvPr/>
        </p:nvSpPr>
        <p:spPr>
          <a:xfrm>
            <a:off x="777240" y="4032504"/>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032504"/>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Embeds</a:t>
            </a:r>
          </a:p>
        </p:txBody>
      </p:sp>
      <p:sp>
        <p:nvSpPr>
          <p:cNvPr id="33" name="Rectangle 32"/>
          <p:cNvSpPr/>
          <p:nvPr/>
        </p:nvSpPr>
        <p:spPr>
          <a:xfrm>
            <a:off x="3329513" y="4032504"/>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4032504"/>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Google Drive, Maps, Figma, Loom, PDF, Tweet, GitHub gist, Typeform, CodePen, Miro</a:t>
            </a:r>
          </a:p>
        </p:txBody>
      </p:sp>
      <p:sp>
        <p:nvSpPr>
          <p:cNvPr id="35" name="Rectangle 34"/>
          <p:cNvSpPr/>
          <p:nvPr/>
        </p:nvSpPr>
        <p:spPr>
          <a:xfrm>
            <a:off x="7370612" y="4032504"/>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0340" y="4032504"/>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Design files, recordings, forms</a:t>
            </a:r>
          </a:p>
        </p:txBody>
      </p:sp>
      <p:sp>
        <p:nvSpPr>
          <p:cNvPr id="37" name="Rectangle 36"/>
          <p:cNvSpPr/>
          <p:nvPr/>
        </p:nvSpPr>
        <p:spPr>
          <a:xfrm>
            <a:off x="777240" y="4599432"/>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599432"/>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Advanced</a:t>
            </a:r>
          </a:p>
        </p:txBody>
      </p:sp>
      <p:sp>
        <p:nvSpPr>
          <p:cNvPr id="39" name="Rectangle 38"/>
          <p:cNvSpPr/>
          <p:nvPr/>
        </p:nvSpPr>
        <p:spPr>
          <a:xfrm>
            <a:off x="3329513" y="4599432"/>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39241" y="4599432"/>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Math equation, template button, breadcrumb, table of contents, synced block, toggle heading, columns</a:t>
            </a:r>
          </a:p>
        </p:txBody>
      </p:sp>
      <p:sp>
        <p:nvSpPr>
          <p:cNvPr id="41" name="Rectangle 40"/>
          <p:cNvSpPr/>
          <p:nvPr/>
        </p:nvSpPr>
        <p:spPr>
          <a:xfrm>
            <a:off x="7370612" y="4599432"/>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0340" y="4599432"/>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Formulas, navigation, brand footer</a:t>
            </a:r>
          </a:p>
        </p:txBody>
      </p:sp>
      <p:sp>
        <p:nvSpPr>
          <p:cNvPr id="43" name="Rectangle 42"/>
          <p:cNvSpPr/>
          <p:nvPr/>
        </p:nvSpPr>
        <p:spPr>
          <a:xfrm>
            <a:off x="777240" y="5166360"/>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166360"/>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Inline</a:t>
            </a:r>
          </a:p>
        </p:txBody>
      </p:sp>
      <p:sp>
        <p:nvSpPr>
          <p:cNvPr id="45" name="Rectangle 44"/>
          <p:cNvSpPr/>
          <p:nvPr/>
        </p:nvSpPr>
        <p:spPr>
          <a:xfrm>
            <a:off x="3329513" y="5166360"/>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39241" y="5166360"/>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Mention person, page or date, emoji, equation</a:t>
            </a:r>
          </a:p>
        </p:txBody>
      </p:sp>
      <p:sp>
        <p:nvSpPr>
          <p:cNvPr id="47" name="Rectangle 46"/>
          <p:cNvSpPr/>
          <p:nvPr/>
        </p:nvSpPr>
        <p:spPr>
          <a:xfrm>
            <a:off x="7370612" y="5166360"/>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80340" y="5166360"/>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Owners, reminders, cross-links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LAYOUT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Columns, Tables, Headings and Dividers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238375"/>
            <a:ext cx="6073140" cy="3432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lumns-tables.jpg"/>
          <p:cNvPicPr>
            <a:picLocks noChangeAspect="1"/>
          </p:cNvPicPr>
          <p:nvPr/>
        </p:nvPicPr>
        <p:blipFill>
          <a:blip r:embed="rId2"/>
          <a:stretch>
            <a:fillRect/>
          </a:stretch>
        </p:blipFill>
        <p:spPr>
          <a:xfrm>
            <a:off x="777240" y="2257425"/>
            <a:ext cx="6035040" cy="339471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Columns by dragging</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Drop a block beside another until the blue vertical guide appears; drag the divider to resize.</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Simple tables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/table gives a lightweight grid with header row and column options — not a database.</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Headings drive structure</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H1 → H2 → H3 build the table of contents; toggle headings collapse whole sections.</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Dividers and spacing</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/divider separates sections; empty blocks add breathing room without styling tricks.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SHOW, DON'T TELL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Images, Files and Media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238375"/>
            <a:ext cx="6073140" cy="3432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s-block.jpg"/>
          <p:cNvPicPr>
            <a:picLocks noChangeAspect="1"/>
          </p:cNvPicPr>
          <p:nvPr/>
        </p:nvPicPr>
        <p:blipFill>
          <a:blip r:embed="rId2"/>
          <a:stretch>
            <a:fillRect/>
          </a:stretch>
        </p:blipFill>
        <p:spPr>
          <a:xfrm>
            <a:off x="777240" y="2257425"/>
            <a:ext cx="6035040" cy="339471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Upload or embed</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Upload from your device, paste a URL, or pick from Unsplash and GIPHY.</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Align, resize, caption</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Hover controls set alignment and width; captions are styled text under the block.</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Files and PDFs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/file embeds a downloadable file; PDFs preview inline; /video and /audio play in page.</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Web bookmarks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Paste a link → Create bookmark for a card with title, description and preview image.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TECHNICAL CONTENT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Code Blocks and Buttons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de-block.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Syntax highlighting</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Choose from 60+ languages; toggle Wrap code; copy with one click; add a caption.</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Buttons automate</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/button → Insert blocks, Add page to, Edit pages in, Show confirmation, Open page.</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Standard checklists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A button that inserts the article checklist keeps every editor on the same process.</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Buttons in databases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Button properties run the same actions per row — approve, archive, log a review.</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CONSISTENCY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Synced Blocks — Write Once, Update Everywhere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ynced-blocks.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One source, many copies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Copy and sync a block to other pages; edits appear in every copy instantly.</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Red outline</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Synced blocks show a red border on hover with a count of pages using them.</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Unsync when needed</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 → Unsync detaches a copy; Unsync all turns every copy into plain blocks.</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Brightwave use</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Brand footer, policy notice and contact block are synced across all public pages.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DRAFT TO PUBLISHED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Posting Web Content — the Deployment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Draft</a:t>
            </a:r>
          </a:p>
        </p:txBody>
      </p:sp>
      <p:sp>
        <p:nvSpPr>
          <p:cNvPr id="12" name="TextBox 11"/>
          <p:cNvSpPr txBox="1"/>
          <p:nvPr/>
        </p:nvSpPr>
        <p:spPr>
          <a:xfrm>
            <a:off x="905256"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Paste or write; structure with headings and blocks</a:t>
            </a:r>
          </a:p>
        </p:txBody>
      </p:sp>
      <p:sp>
        <p:nvSpPr>
          <p:cNvPr id="13" name="Rectangle 12"/>
          <p:cNvSpPr/>
          <p:nvPr/>
        </p:nvSpPr>
        <p:spPr>
          <a:xfrm>
            <a:off x="262067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73771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995574"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95574"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23590"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359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3498494"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Enrich</a:t>
            </a:r>
          </a:p>
        </p:txBody>
      </p:sp>
      <p:sp>
        <p:nvSpPr>
          <p:cNvPr id="20" name="TextBox 19"/>
          <p:cNvSpPr txBox="1"/>
          <p:nvPr/>
        </p:nvSpPr>
        <p:spPr>
          <a:xfrm>
            <a:off x="3123590"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Images, files, embeds, code and tables in context</a:t>
            </a:r>
          </a:p>
        </p:txBody>
      </p:sp>
      <p:sp>
        <p:nvSpPr>
          <p:cNvPr id="21" name="Rectangle 20"/>
          <p:cNvSpPr/>
          <p:nvPr/>
        </p:nvSpPr>
        <p:spPr>
          <a:xfrm>
            <a:off x="483900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95604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13908"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13908"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341924"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192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5716828"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Standardise</a:t>
            </a:r>
          </a:p>
        </p:txBody>
      </p:sp>
      <p:sp>
        <p:nvSpPr>
          <p:cNvPr id="28" name="TextBox 27"/>
          <p:cNvSpPr txBox="1"/>
          <p:nvPr/>
        </p:nvSpPr>
        <p:spPr>
          <a:xfrm>
            <a:off x="5341924"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Synced footer, button checklist, template</a:t>
            </a:r>
          </a:p>
        </p:txBody>
      </p:sp>
      <p:sp>
        <p:nvSpPr>
          <p:cNvPr id="29" name="Rectangle 28"/>
          <p:cNvSpPr/>
          <p:nvPr/>
        </p:nvSpPr>
        <p:spPr>
          <a:xfrm>
            <a:off x="7057338"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7174382"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432242"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32242"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60258"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60258"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7935162"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Review</a:t>
            </a:r>
          </a:p>
        </p:txBody>
      </p:sp>
      <p:sp>
        <p:nvSpPr>
          <p:cNvPr id="36" name="TextBox 35"/>
          <p:cNvSpPr txBox="1"/>
          <p:nvPr/>
        </p:nvSpPr>
        <p:spPr>
          <a:xfrm>
            <a:off x="7560258" y="3200400"/>
            <a:ext cx="1505102" cy="1005840"/>
          </a:xfrm>
          <a:prstGeom prst="rect">
            <a:avLst/>
          </a:prstGeom>
          <a:noFill/>
        </p:spPr>
        <p:txBody>
          <a:bodyPr wrap="square" anchor="t">
            <a:spAutoFit/>
          </a:bodyPr>
          <a:lstStyle/>
          <a:p>
            <a:pPr algn="l">
              <a:spcAft>
                <a:spcPts val="400"/>
              </a:spcAft>
            </a:pPr>
            <a:r>
              <a:rPr sz="1100" b="0">
                <a:solidFill>
                  <a:srgbClr val="5B6372"/>
                </a:solidFill>
                <a:latin typeface="Arial"/>
              </a:rPr>
              <a:t>Comments, mentions, page history</a:t>
            </a:r>
          </a:p>
        </p:txBody>
      </p:sp>
      <p:sp>
        <p:nvSpPr>
          <p:cNvPr id="37" name="Rectangle 36"/>
          <p:cNvSpPr/>
          <p:nvPr/>
        </p:nvSpPr>
        <p:spPr>
          <a:xfrm>
            <a:off x="92756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93927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50576"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0576"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778592"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785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43" name="TextBox 42"/>
          <p:cNvSpPr txBox="1"/>
          <p:nvPr/>
        </p:nvSpPr>
        <p:spPr>
          <a:xfrm>
            <a:off x="10153496"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Publish</a:t>
            </a:r>
          </a:p>
        </p:txBody>
      </p:sp>
      <p:sp>
        <p:nvSpPr>
          <p:cNvPr id="44" name="TextBox 43"/>
          <p:cNvSpPr txBox="1"/>
          <p:nvPr/>
        </p:nvSpPr>
        <p:spPr>
          <a:xfrm>
            <a:off x="9778592"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Share settings or Publish to web, then track analytics</a:t>
            </a:r>
          </a:p>
        </p:txBody>
      </p:sp>
      <p:sp>
        <p:nvSpPr>
          <p:cNvPr id="45" name="Rectangle 44"/>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Deployment in a CMS means content is structured, reviewed and reachable — not merely typed.</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LAB · FOUNDATION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Draft and Format a Blog Article with Blocks, Columns and 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04</a:t>
            </a:r>
          </a:p>
        </p:txBody>
      </p:sp>
      <p:sp>
        <p:nvSpPr>
          <p:cNvPr id="9" name="Rectangle 8"/>
          <p:cNvSpPr/>
          <p:nvPr/>
        </p:nvSpPr>
        <p:spPr>
          <a:xfrm>
            <a:off x="2286000" y="1691640"/>
            <a:ext cx="155448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554480" cy="365760"/>
          </a:xfrm>
          <a:prstGeom prst="rect">
            <a:avLst/>
          </a:prstGeom>
          <a:noFill/>
        </p:spPr>
        <p:txBody>
          <a:bodyPr wrap="square" anchor="t">
            <a:spAutoFit/>
          </a:bodyPr>
          <a:lstStyle/>
          <a:p>
            <a:pPr algn="ctr">
              <a:spcAft>
                <a:spcPts val="400"/>
              </a:spcAft>
            </a:pPr>
            <a:r>
              <a:rPr sz="1300" b="1">
                <a:solidFill>
                  <a:srgbClr val="5B6372"/>
                </a:solidFill>
                <a:latin typeface="Arial"/>
              </a:rPr>
              <a:t>K2 · A2</a:t>
            </a:r>
          </a:p>
        </p:txBody>
      </p:sp>
      <p:sp>
        <p:nvSpPr>
          <p:cNvPr id="11" name="Rectangle 10"/>
          <p:cNvSpPr/>
          <p:nvPr/>
        </p:nvSpPr>
        <p:spPr>
          <a:xfrm>
            <a:off x="3977639"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40 min</a:t>
            </a:r>
          </a:p>
        </p:txBody>
      </p:sp>
      <p:sp>
        <p:nvSpPr>
          <p:cNvPr id="13" name="TextBox 12"/>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post the supplied blog article draft into the Content Hub, structure it with headings, lists, toggles, quotes and dividers using slash commands and Markdown shortcuts, lay out a two-column comparison, and add a simple table from the facts sheet so the article is ready for deployment.</a:t>
            </a:r>
          </a:p>
        </p:txBody>
      </p:sp>
      <p:sp>
        <p:nvSpPr>
          <p:cNvPr id="14" name="Rectangle 13"/>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7" name="TextBox 16"/>
          <p:cNvSpPr txBox="1"/>
          <p:nvPr/>
        </p:nvSpPr>
        <p:spPr>
          <a:xfrm>
            <a:off x="1005840" y="4526280"/>
            <a:ext cx="10149840" cy="731520"/>
          </a:xfrm>
          <a:prstGeom prst="rect">
            <a:avLst/>
          </a:prstGeom>
          <a:noFill/>
        </p:spPr>
        <p:txBody>
          <a:bodyPr wrap="square" anchor="t">
            <a:spAutoFit/>
          </a:bodyPr>
          <a:lstStyle/>
          <a:p>
            <a:pPr algn="l">
              <a:spcAft>
                <a:spcPts val="400"/>
              </a:spcAft>
            </a:pPr>
            <a:r>
              <a:rPr sz="1600" b="1">
                <a:solidFill>
                  <a:srgbClr val="161B26"/>
                </a:solidFill>
                <a:latin typeface="Arial"/>
              </a:rPr>
              <a:t>A fully structured blog article page in the Content Hub with headings, a table of contents, two columns and a facts table</a:t>
            </a:r>
          </a:p>
        </p:txBody>
      </p:sp>
      <p:sp>
        <p:nvSpPr>
          <p:cNvPr id="18" name="TextBox 17"/>
          <p:cNvSpPr txBox="1"/>
          <p:nvPr/>
        </p:nvSpPr>
        <p:spPr>
          <a:xfrm>
            <a:off x="1005840" y="52852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Notion editor, Markdown shortcuts</a:t>
            </a:r>
          </a:p>
        </p:txBody>
      </p:sp>
      <p:sp>
        <p:nvSpPr>
          <p:cNvPr id="19" name="Rectangle 18"/>
          <p:cNvSpPr/>
          <p:nvPr/>
        </p:nvSpPr>
        <p:spPr>
          <a:xfrm>
            <a:off x="777240"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89788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89788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K2 · A2</a:t>
            </a:r>
          </a:p>
        </p:txBody>
      </p:sp>
      <p:sp>
        <p:nvSpPr>
          <p:cNvPr id="22" name="Rectangle 21"/>
          <p:cNvSpPr/>
          <p:nvPr/>
        </p:nvSpPr>
        <p:spPr>
          <a:xfrm>
            <a:off x="4407408"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589788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89788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Foundation</a:t>
            </a:r>
          </a:p>
        </p:txBody>
      </p:sp>
      <p:sp>
        <p:nvSpPr>
          <p:cNvPr id="25" name="Rectangle 24"/>
          <p:cNvSpPr/>
          <p:nvPr/>
        </p:nvSpPr>
        <p:spPr>
          <a:xfrm>
            <a:off x="8037576"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7576" y="589788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589788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Screenshots · lab README checklist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Prepare</a:t>
            </a:r>
          </a:p>
        </p:txBody>
      </p:sp>
      <p:sp>
        <p:nvSpPr>
          <p:cNvPr id="12" name="TextBox 11"/>
          <p:cNvSpPr txBox="1"/>
          <p:nvPr/>
        </p:nvSpPr>
        <p:spPr>
          <a:xfrm>
            <a:off x="905256"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Post the draft</a:t>
            </a:r>
          </a:p>
        </p:txBody>
      </p:sp>
      <p:sp>
        <p:nvSpPr>
          <p:cNvPr id="13" name="Rectangle 12"/>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8174"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817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4053078"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Build</a:t>
            </a:r>
          </a:p>
        </p:txBody>
      </p:sp>
      <p:sp>
        <p:nvSpPr>
          <p:cNvPr id="20" name="TextBox 19"/>
          <p:cNvSpPr txBox="1"/>
          <p:nvPr/>
        </p:nvSpPr>
        <p:spPr>
          <a:xfrm>
            <a:off x="3678174"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Structure with headings and lists</a:t>
            </a:r>
          </a:p>
        </p:txBody>
      </p:sp>
      <p:sp>
        <p:nvSpPr>
          <p:cNvPr id="21" name="Rectangle 20"/>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1092"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0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6825996"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28" name="TextBox 27"/>
          <p:cNvSpPr txBox="1"/>
          <p:nvPr/>
        </p:nvSpPr>
        <p:spPr>
          <a:xfrm>
            <a:off x="6451092"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Lay out columns and a table</a:t>
            </a:r>
          </a:p>
        </p:txBody>
      </p:sp>
      <p:sp>
        <p:nvSpPr>
          <p:cNvPr id="29" name="Rectangle 28"/>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24010"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401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9598914"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36" name="TextBox 35"/>
          <p:cNvSpPr txBox="1"/>
          <p:nvPr/>
        </p:nvSpPr>
        <p:spPr>
          <a:xfrm>
            <a:off x="9224010"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Polish with shortcuts</a:t>
            </a:r>
          </a:p>
        </p:txBody>
      </p:sp>
      <p:sp>
        <p:nvSpPr>
          <p:cNvPr id="37" name="Rectangle 36"/>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 the full click-by-click procedure is in the Learner Guide (Lab 04) and the lab's instruction PDF.</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Draft and Format a Blog Article with Blocks, Columns and 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058400" cy="457200"/>
          </a:xfrm>
          <a:prstGeom prst="rect">
            <a:avLst/>
          </a:prstGeom>
          <a:noFill/>
        </p:spPr>
        <p:txBody>
          <a:bodyPr wrap="square" anchor="t">
            <a:spAutoFit/>
          </a:bodyPr>
          <a:lstStyle/>
          <a:p>
            <a:pPr algn="l">
              <a:spcAft>
                <a:spcPts val="400"/>
              </a:spcAft>
            </a:pPr>
            <a:r>
              <a:rPr sz="1800" b="1">
                <a:solidFill>
                  <a:srgbClr val="127A3E"/>
                </a:solidFill>
                <a:latin typeface="Arial"/>
              </a:rPr>
              <a:t>✅  Acceptance check</a:t>
            </a:r>
          </a:p>
        </p:txBody>
      </p:sp>
      <p:sp>
        <p:nvSpPr>
          <p:cNvPr id="10" name="TextBox 9"/>
          <p:cNvSpPr txBox="1"/>
          <p:nvPr/>
        </p:nvSpPr>
        <p:spPr>
          <a:xfrm>
            <a:off x="1097280" y="2743200"/>
            <a:ext cx="10149840" cy="1737360"/>
          </a:xfrm>
          <a:prstGeom prst="rect">
            <a:avLst/>
          </a:prstGeom>
          <a:noFill/>
        </p:spPr>
        <p:txBody>
          <a:bodyPr wrap="square" anchor="t">
            <a:spAutoFit/>
          </a:bodyPr>
          <a:lstStyle/>
          <a:p>
            <a:pPr algn="l">
              <a:spcAft>
                <a:spcPts val="400"/>
              </a:spcAft>
            </a:pPr>
            <a:r>
              <a:rPr sz="1500" b="0">
                <a:solidFill>
                  <a:srgbClr val="161B26"/>
                </a:solidFill>
                <a:latin typeface="Arial"/>
              </a:rPr>
              <a:t>The article page has a working table of contents, one Heading 1 and a Heading 2 per trend, a collapsed toggle, a quote block, an equal two-column section and a six-row simple table with a header row matching article-facts-table.csv.</a:t>
            </a:r>
          </a:p>
        </p:txBody>
      </p:sp>
      <p:sp>
        <p:nvSpPr>
          <p:cNvPr id="11" name="Rectangle 10"/>
          <p:cNvSpPr/>
          <p:nvPr/>
        </p:nvSpPr>
        <p:spPr>
          <a:xfrm>
            <a:off x="777240" y="4754880"/>
            <a:ext cx="1069848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5488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6" name="TextBox 15"/>
          <p:cNvSpPr txBox="1"/>
          <p:nvPr/>
        </p:nvSpPr>
        <p:spPr>
          <a:xfrm>
            <a:off x="146304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Re-read the step: most misses are the page menu (top right) versus the block handle (left of a block).</a:t>
            </a:r>
          </a:p>
        </p:txBody>
      </p:sp>
      <p:sp>
        <p:nvSpPr>
          <p:cNvPr id="17" name="Oval 16"/>
          <p:cNvSpPr/>
          <p:nvPr/>
        </p:nvSpPr>
        <p:spPr>
          <a:xfrm>
            <a:off x="461772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9" name="TextBox 18"/>
          <p:cNvSpPr txBox="1"/>
          <p:nvPr/>
        </p:nvSpPr>
        <p:spPr>
          <a:xfrm>
            <a:off x="498348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Check you are in the right page or teamspace — the sidebar shows the path.</a:t>
            </a:r>
          </a:p>
        </p:txBody>
      </p:sp>
      <p:sp>
        <p:nvSpPr>
          <p:cNvPr id="20" name="Oval 19"/>
          <p:cNvSpPr/>
          <p:nvPr/>
        </p:nvSpPr>
        <p:spPr>
          <a:xfrm>
            <a:off x="813816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22" name="TextBox 21"/>
          <p:cNvSpPr txBox="1"/>
          <p:nvPr/>
        </p:nvSpPr>
        <p:spPr>
          <a:xfrm>
            <a:off x="850392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Full click-by-click steps: Learner Guide and the lab's instruction PDF.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LAB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Add Media, Code Blocks, Buttons and a Synced Brand Footer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05</a:t>
            </a:r>
          </a:p>
        </p:txBody>
      </p:sp>
      <p:sp>
        <p:nvSpPr>
          <p:cNvPr id="9" name="Rectangle 8"/>
          <p:cNvSpPr/>
          <p:nvPr/>
        </p:nvSpPr>
        <p:spPr>
          <a:xfrm>
            <a:off x="2286000" y="1691640"/>
            <a:ext cx="155448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554480" cy="365760"/>
          </a:xfrm>
          <a:prstGeom prst="rect">
            <a:avLst/>
          </a:prstGeom>
          <a:noFill/>
        </p:spPr>
        <p:txBody>
          <a:bodyPr wrap="square" anchor="t">
            <a:spAutoFit/>
          </a:bodyPr>
          <a:lstStyle/>
          <a:p>
            <a:pPr algn="ctr">
              <a:spcAft>
                <a:spcPts val="400"/>
              </a:spcAft>
            </a:pPr>
            <a:r>
              <a:rPr sz="1300" b="1">
                <a:solidFill>
                  <a:srgbClr val="5B6372"/>
                </a:solidFill>
                <a:latin typeface="Arial"/>
              </a:rPr>
              <a:t>K2 · A2</a:t>
            </a:r>
          </a:p>
        </p:txBody>
      </p:sp>
      <p:sp>
        <p:nvSpPr>
          <p:cNvPr id="11" name="Rectangle 10"/>
          <p:cNvSpPr/>
          <p:nvPr/>
        </p:nvSpPr>
        <p:spPr>
          <a:xfrm>
            <a:off x="3977639"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40 min</a:t>
            </a:r>
          </a:p>
        </p:txBody>
      </p:sp>
      <p:sp>
        <p:nvSpPr>
          <p:cNvPr id="13" name="TextBox 12"/>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enrich the article and the Content Hub with the supplied hero image and chart, an embedded PDF and video bookmark, a syntax-highlighted code sample, a button that inserts a standard 'article checklist', and a synced brand footer that appears on every article and updates from one place.</a:t>
            </a:r>
          </a:p>
        </p:txBody>
      </p:sp>
      <p:sp>
        <p:nvSpPr>
          <p:cNvPr id="14" name="Rectangle 13"/>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7" name="TextBox 16"/>
          <p:cNvSpPr txBox="1"/>
          <p:nvPr/>
        </p:nvSpPr>
        <p:spPr>
          <a:xfrm>
            <a:off x="1005840" y="4526280"/>
            <a:ext cx="10149840" cy="731520"/>
          </a:xfrm>
          <a:prstGeom prst="rect">
            <a:avLst/>
          </a:prstGeom>
          <a:noFill/>
        </p:spPr>
        <p:txBody>
          <a:bodyPr wrap="square" anchor="t">
            <a:spAutoFit/>
          </a:bodyPr>
          <a:lstStyle/>
          <a:p>
            <a:pPr algn="l">
              <a:spcAft>
                <a:spcPts val="400"/>
              </a:spcAft>
            </a:pPr>
            <a:r>
              <a:rPr sz="1600" b="1">
                <a:solidFill>
                  <a:srgbClr val="161B26"/>
                </a:solidFill>
                <a:latin typeface="Arial"/>
              </a:rPr>
              <a:t>A media-rich article with captioned images, embeds, a code block, an insert-checklist button and a synced footer used on two pages</a:t>
            </a:r>
          </a:p>
        </p:txBody>
      </p:sp>
      <p:sp>
        <p:nvSpPr>
          <p:cNvPr id="18" name="TextBox 17"/>
          <p:cNvSpPr txBox="1"/>
          <p:nvPr/>
        </p:nvSpPr>
        <p:spPr>
          <a:xfrm>
            <a:off x="1005840" y="52852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Notion media blocks, code blocks, buttons, synced blocks</a:t>
            </a:r>
          </a:p>
        </p:txBody>
      </p:sp>
      <p:sp>
        <p:nvSpPr>
          <p:cNvPr id="19" name="Rectangle 18"/>
          <p:cNvSpPr/>
          <p:nvPr/>
        </p:nvSpPr>
        <p:spPr>
          <a:xfrm>
            <a:off x="777240"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89788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89788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K2 · A2</a:t>
            </a:r>
          </a:p>
        </p:txBody>
      </p:sp>
      <p:sp>
        <p:nvSpPr>
          <p:cNvPr id="22" name="Rectangle 21"/>
          <p:cNvSpPr/>
          <p:nvPr/>
        </p:nvSpPr>
        <p:spPr>
          <a:xfrm>
            <a:off x="4407408"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589788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89788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5" name="Rectangle 24"/>
          <p:cNvSpPr/>
          <p:nvPr/>
        </p:nvSpPr>
        <p:spPr>
          <a:xfrm>
            <a:off x="8037576"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7576" y="589788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589788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Screenshots · lab README checklist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Prepare</a:t>
            </a:r>
          </a:p>
        </p:txBody>
      </p:sp>
      <p:sp>
        <p:nvSpPr>
          <p:cNvPr id="12" name="TextBox 11"/>
          <p:cNvSpPr txBox="1"/>
          <p:nvPr/>
        </p:nvSpPr>
        <p:spPr>
          <a:xfrm>
            <a:off x="905256"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Add and caption media</a:t>
            </a:r>
          </a:p>
        </p:txBody>
      </p:sp>
      <p:sp>
        <p:nvSpPr>
          <p:cNvPr id="13" name="Rectangle 12"/>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8174"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817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4053078"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Build</a:t>
            </a:r>
          </a:p>
        </p:txBody>
      </p:sp>
      <p:sp>
        <p:nvSpPr>
          <p:cNvPr id="20" name="TextBox 19"/>
          <p:cNvSpPr txBox="1"/>
          <p:nvPr/>
        </p:nvSpPr>
        <p:spPr>
          <a:xfrm>
            <a:off x="3678174"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Embed files and links</a:t>
            </a:r>
          </a:p>
        </p:txBody>
      </p:sp>
      <p:sp>
        <p:nvSpPr>
          <p:cNvPr id="21" name="Rectangle 20"/>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1092"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0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6825996"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28" name="TextBox 27"/>
          <p:cNvSpPr txBox="1"/>
          <p:nvPr/>
        </p:nvSpPr>
        <p:spPr>
          <a:xfrm>
            <a:off x="6451092"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Insert code and a button</a:t>
            </a:r>
          </a:p>
        </p:txBody>
      </p:sp>
      <p:sp>
        <p:nvSpPr>
          <p:cNvPr id="29" name="Rectangle 28"/>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24010"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401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9598914"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36" name="TextBox 35"/>
          <p:cNvSpPr txBox="1"/>
          <p:nvPr/>
        </p:nvSpPr>
        <p:spPr>
          <a:xfrm>
            <a:off x="9224010"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Sync the brand footer</a:t>
            </a:r>
          </a:p>
        </p:txBody>
      </p:sp>
      <p:sp>
        <p:nvSpPr>
          <p:cNvPr id="37" name="Rectangle 36"/>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 the full click-by-click procedure is in the Learner Guide (Lab 05) and the lab's instruction PDF.</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Add Media, Code Blocks, Buttons and a Synced Brand Footer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058400" cy="457200"/>
          </a:xfrm>
          <a:prstGeom prst="rect">
            <a:avLst/>
          </a:prstGeom>
          <a:noFill/>
        </p:spPr>
        <p:txBody>
          <a:bodyPr wrap="square" anchor="t">
            <a:spAutoFit/>
          </a:bodyPr>
          <a:lstStyle/>
          <a:p>
            <a:pPr algn="l">
              <a:spcAft>
                <a:spcPts val="400"/>
              </a:spcAft>
            </a:pPr>
            <a:r>
              <a:rPr sz="1800" b="1">
                <a:solidFill>
                  <a:srgbClr val="127A3E"/>
                </a:solidFill>
                <a:latin typeface="Arial"/>
              </a:rPr>
              <a:t>✅  Acceptance check</a:t>
            </a:r>
          </a:p>
        </p:txBody>
      </p:sp>
      <p:sp>
        <p:nvSpPr>
          <p:cNvPr id="10" name="TextBox 9"/>
          <p:cNvSpPr txBox="1"/>
          <p:nvPr/>
        </p:nvSpPr>
        <p:spPr>
          <a:xfrm>
            <a:off x="1097280" y="2743200"/>
            <a:ext cx="10149840" cy="1737360"/>
          </a:xfrm>
          <a:prstGeom prst="rect">
            <a:avLst/>
          </a:prstGeom>
          <a:noFill/>
        </p:spPr>
        <p:txBody>
          <a:bodyPr wrap="square" anchor="t">
            <a:spAutoFit/>
          </a:bodyPr>
          <a:lstStyle/>
          <a:p>
            <a:pPr algn="l">
              <a:spcAft>
                <a:spcPts val="400"/>
              </a:spcAft>
            </a:pPr>
            <a:r>
              <a:rPr sz="1500" b="0">
                <a:solidFill>
                  <a:srgbClr val="161B26"/>
                </a:solidFill>
                <a:latin typeface="Arial"/>
              </a:rPr>
              <a:t>The article shows a captioned full-width hero image, a centred chart, an embedded PDF, a web bookmark, a Python code block with wrap on, the Insert article checklist button inserts four to-dos, and the same synced footer appears on two pages and updates in both when edited.</a:t>
            </a:r>
          </a:p>
        </p:txBody>
      </p:sp>
      <p:sp>
        <p:nvSpPr>
          <p:cNvPr id="11" name="Rectangle 10"/>
          <p:cNvSpPr/>
          <p:nvPr/>
        </p:nvSpPr>
        <p:spPr>
          <a:xfrm>
            <a:off x="777240" y="4754880"/>
            <a:ext cx="1069848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5488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6" name="TextBox 15"/>
          <p:cNvSpPr txBox="1"/>
          <p:nvPr/>
        </p:nvSpPr>
        <p:spPr>
          <a:xfrm>
            <a:off x="146304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Re-read the step: most misses are the page menu (top right) versus the block handle (left of a block).</a:t>
            </a:r>
          </a:p>
        </p:txBody>
      </p:sp>
      <p:sp>
        <p:nvSpPr>
          <p:cNvPr id="17" name="Oval 16"/>
          <p:cNvSpPr/>
          <p:nvPr/>
        </p:nvSpPr>
        <p:spPr>
          <a:xfrm>
            <a:off x="461772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9" name="TextBox 18"/>
          <p:cNvSpPr txBox="1"/>
          <p:nvPr/>
        </p:nvSpPr>
        <p:spPr>
          <a:xfrm>
            <a:off x="498348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Check you are in the right page or teamspace — the sidebar shows the path.</a:t>
            </a:r>
          </a:p>
        </p:txBody>
      </p:sp>
      <p:sp>
        <p:nvSpPr>
          <p:cNvPr id="20" name="Oval 19"/>
          <p:cNvSpPr/>
          <p:nvPr/>
        </p:nvSpPr>
        <p:spPr>
          <a:xfrm>
            <a:off x="813816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22" name="TextBox 21"/>
          <p:cNvSpPr txBox="1"/>
          <p:nvPr/>
        </p:nvSpPr>
        <p:spPr>
          <a:xfrm>
            <a:off x="850392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Full click-by-click steps: Learner Guide and the lab's instruction PDF.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 · LU2 · A2 · K4</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Advanced Content Techniques</a:t>
            </a:r>
          </a:p>
        </p:txBody>
      </p:sp>
      <p:sp>
        <p:nvSpPr>
          <p:cNvPr id="7" name="TextBox 6"/>
          <p:cNvSpPr txBox="1"/>
          <p:nvPr/>
        </p:nvSpPr>
        <p:spPr>
          <a:xfrm>
            <a:off x="1161288" y="4343400"/>
            <a:ext cx="9692640" cy="1188720"/>
          </a:xfrm>
          <a:prstGeom prst="rect">
            <a:avLst/>
          </a:prstGeom>
          <a:noFill/>
        </p:spPr>
        <p:txBody>
          <a:bodyPr wrap="square" anchor="t">
            <a:spAutoFit/>
          </a:bodyPr>
          <a:lstStyle/>
          <a:p>
            <a:pPr algn="l">
              <a:spcAft>
                <a:spcPts val="400"/>
              </a:spcAft>
            </a:pPr>
            <a:r>
              <a:rPr sz="1400" b="0">
                <a:solidFill>
                  <a:srgbClr val="5B6372"/>
                </a:solidFill>
                <a:latin typeface="Arial"/>
              </a:rPr>
              <a:t>Customising and styling content · links, backlinks and efficient navigation · math equations and diverse media types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advClick="1">
    <p:push dir="l"/>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Advanced Content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Style with intent</a:t>
            </a:r>
          </a:p>
          <a:p>
            <a:pPr algn="l">
              <a:spcAft>
                <a:spcPts val="200"/>
              </a:spcAft>
            </a:pPr>
            <a:r>
              <a:rPr sz="1000" b="0">
                <a:solidFill>
                  <a:srgbClr val="5B6372"/>
                </a:solidFill>
                <a:latin typeface="Arial"/>
              </a:rPr>
              <a:t>Text colours, background colours, fonts (default, serif, mono), small text and full width are used per the style guide, not per mood.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Callouts, icons and covers</a:t>
            </a:r>
          </a:p>
          <a:p>
            <a:pPr algn="l">
              <a:spcAft>
                <a:spcPts val="200"/>
              </a:spcAft>
            </a:pPr>
            <a:r>
              <a:rPr sz="1000" b="0">
                <a:solidFill>
                  <a:srgbClr val="5B6372"/>
                </a:solidFill>
                <a:latin typeface="Arial"/>
              </a:rPr>
              <a:t>Callouts highlight warnings and tips; page icons and cover images make pages recognisable in the sidebar and in search.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Links and backlinks</a:t>
            </a:r>
          </a:p>
          <a:p>
            <a:pPr algn="l">
              <a:spcAft>
                <a:spcPts val="200"/>
              </a:spcAft>
            </a:pPr>
            <a:r>
              <a:rPr sz="1000" b="0">
                <a:solidFill>
                  <a:srgbClr val="5B6372"/>
                </a:solidFill>
                <a:latin typeface="Arial"/>
              </a:rPr>
              <a:t>Link inline with @ or [[; every link creates a backlink on the target page, so readers can navigate in both directions.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Navigation hubs</a:t>
            </a:r>
          </a:p>
          <a:p>
            <a:pPr algn="l">
              <a:spcAft>
                <a:spcPts val="200"/>
              </a:spcAft>
            </a:pPr>
            <a:r>
              <a:rPr sz="1000" b="0">
                <a:solidFill>
                  <a:srgbClr val="5B6372"/>
                </a:solidFill>
                <a:latin typeface="Arial"/>
              </a:rPr>
              <a:t>A home page with link-to-page blocks, a table of contents block and breadcrumbs gives readers one entry point to the whole space.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Math equations</a:t>
            </a:r>
          </a:p>
          <a:p>
            <a:pPr algn="l">
              <a:spcAft>
                <a:spcPts val="200"/>
              </a:spcAft>
            </a:pPr>
            <a:r>
              <a:rPr sz="1000" b="0">
                <a:solidFill>
                  <a:srgbClr val="5B6372"/>
                </a:solidFill>
                <a:latin typeface="Arial"/>
              </a:rPr>
              <a:t>KaTeX equations render as a block (/math) or inline ($$), for pricing formulas, KPIs and technical documentation.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Curation guidelines</a:t>
            </a:r>
          </a:p>
          <a:p>
            <a:pPr algn="l">
              <a:spcAft>
                <a:spcPts val="200"/>
              </a:spcAft>
            </a:pPr>
            <a:r>
              <a:rPr sz="1000" b="0">
                <a:solidFill>
                  <a:srgbClr val="5B6372"/>
                </a:solidFill>
                <a:latin typeface="Arial"/>
              </a:rPr>
              <a:t>A style guide, naming convention and review workflow turn individual pages into a consistent, trustworthy body of content.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STYLE WITH INTENT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Customise and Style Your Content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tyle-writing.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Text and background colour</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Nine colours each, from the toolbar A menu or ⋮⋮ → Colour; Cmd/Ctrl+Shift+H repeats the last.</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Fonts and width</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Default, Serif or Mono per page; Small text and Full width from the ⋯ menu.</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Callouts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Icon + background for tips, warnings and policy notices — colour-coded by the style guide.</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Icons and covers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Emoji, icon sets or uploads for icons; gallery, Unsplash or upload for covers.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TWO-WAY NAVIGATION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Links and Backlinks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acklinks.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Inline links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 mention, [[ link, or Cmd/Ctrl+K on selected text; paste a URL as link, bookmark, mention or embed.</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Link to page block</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A full-width block that shows the page title and icon — the building block of a hub.</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Backlinks appear automatically</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Every target page lists the pages that link to it, under the title.</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Customise page</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Show backlinks expanded, in a popover or off; show or hide comments and properties.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EFFICIENT NAVIGATION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a Navigation 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Start-here page</a:t>
            </a:r>
          </a:p>
          <a:p>
            <a:pPr algn="l">
              <a:spcAft>
                <a:spcPts val="200"/>
              </a:spcAft>
            </a:pPr>
            <a:r>
              <a:rPr sz="1100" b="0">
                <a:solidFill>
                  <a:srgbClr val="5B6372"/>
                </a:solidFill>
                <a:latin typeface="Arial"/>
              </a:rPr>
              <a:t>One home page per section with link-to-page blocks in reading order.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Table of contents</a:t>
            </a:r>
          </a:p>
          <a:p>
            <a:pPr algn="l">
              <a:spcAft>
                <a:spcPts val="200"/>
              </a:spcAft>
            </a:pPr>
            <a:r>
              <a:rPr sz="1100" b="0">
                <a:solidFill>
                  <a:srgbClr val="5B6372"/>
                </a:solidFill>
                <a:latin typeface="Arial"/>
              </a:rPr>
              <a:t>/table of contents on long pages; toggle headings for skimming.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Breadcrumb block</a:t>
            </a:r>
          </a:p>
          <a:p>
            <a:pPr algn="l">
              <a:spcAft>
                <a:spcPts val="200"/>
              </a:spcAft>
            </a:pPr>
            <a:r>
              <a:rPr sz="1100" b="0">
                <a:solidFill>
                  <a:srgbClr val="5B6372"/>
                </a:solidFill>
                <a:latin typeface="Arial"/>
              </a:rPr>
              <a:t>/breadcrumb shows the path on a page — useful on public sites without the sidebar.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Favorites and sidebar order</a:t>
            </a:r>
          </a:p>
          <a:p>
            <a:pPr algn="l">
              <a:spcAft>
                <a:spcPts val="200"/>
              </a:spcAft>
            </a:pPr>
            <a:r>
              <a:rPr sz="1100" b="0">
                <a:solidFill>
                  <a:srgbClr val="5B6372"/>
                </a:solidFill>
                <a:latin typeface="Arial"/>
              </a:rPr>
              <a:t>Pin the hub pages; keep section pages in a consistent order for every teamspace.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Two-click rule</a:t>
            </a:r>
          </a:p>
          <a:p>
            <a:pPr algn="l">
              <a:spcAft>
                <a:spcPts val="200"/>
              </a:spcAft>
            </a:pPr>
            <a:r>
              <a:rPr sz="1100" b="0">
                <a:solidFill>
                  <a:srgbClr val="5B6372"/>
                </a:solidFill>
                <a:latin typeface="Arial"/>
              </a:rPr>
              <a:t>Any published article is reachable in two clicks from the hub — measure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Backlinks as related reading</a:t>
            </a:r>
          </a:p>
          <a:p>
            <a:pPr algn="l">
              <a:spcAft>
                <a:spcPts val="200"/>
              </a:spcAft>
            </a:pPr>
            <a:r>
              <a:rPr sz="1100" b="0">
                <a:solidFill>
                  <a:srgbClr val="5B6372"/>
                </a:solidFill>
                <a:latin typeface="Arial"/>
              </a:rPr>
              <a:t>The backlinks list is a free 'related pages' panel — link generously.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TECHNICAL NOTATION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Math Equations with KaTeX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th-inline.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Block equation</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/math equation renders a centred LaTeX block — pricing formulas, KPI definitions.</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Inline equation</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Wrap in $$ … $$ inside a sentence; click to edit; supports fractions, Greek letters, sums.</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Where it helps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Retainer pricing, ROI, engagement rate — documented once, referenced everywhere.</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Beyond equations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Diverse media: video, audio, PDFs, Loom walkthroughs, Figma frames and Miro boards in the same page.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CREATION AND CURATION RULES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Content Curation Guidelines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Creating</a:t>
            </a:r>
          </a:p>
        </p:txBody>
      </p:sp>
      <p:sp>
        <p:nvSpPr>
          <p:cNvPr id="12" name="TextBox 11"/>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Curating</a:t>
            </a:r>
          </a:p>
        </p:txBody>
      </p:sp>
      <p:sp>
        <p:nvSpPr>
          <p:cNvPr id="13" name="TextBox 12"/>
          <p:cNvSpPr txBox="1"/>
          <p:nvPr/>
        </p:nvSpPr>
        <p:spPr>
          <a:xfrm>
            <a:off x="1005840" y="2514600"/>
            <a:ext cx="4754880" cy="2926080"/>
          </a:xfrm>
          <a:prstGeom prst="rect">
            <a:avLst/>
          </a:prstGeom>
          <a:noFill/>
        </p:spPr>
        <p:txBody>
          <a:bodyPr wrap="square">
            <a:spAutoFit/>
          </a:bodyPr>
          <a:lstStyle/>
          <a:p>
            <a:pPr>
              <a:spcAft>
                <a:spcPts val="700"/>
              </a:spcAft>
            </a:pPr>
            <a:r>
              <a:rPr sz="1350" b="1">
                <a:solidFill>
                  <a:srgbClr val="161B26"/>
                </a:solidFill>
                <a:latin typeface="Arial"/>
              </a:rPr>
              <a:t>•  Creation rules</a:t>
            </a:r>
          </a:p>
          <a:p>
            <a:pPr>
              <a:spcAft>
                <a:spcPts val="700"/>
              </a:spcAft>
            </a:pPr>
            <a:r>
              <a:rPr sz="1150" b="0">
                <a:solidFill>
                  <a:srgbClr val="5B6372"/>
                </a:solidFill>
                <a:latin typeface="Arial"/>
              </a:rPr>
              <a:t>–  Use the approved article template and the button checklist</a:t>
            </a:r>
          </a:p>
          <a:p>
            <a:pPr>
              <a:spcAft>
                <a:spcPts val="700"/>
              </a:spcAft>
            </a:pPr>
            <a:r>
              <a:rPr sz="1150" b="0">
                <a:solidFill>
                  <a:srgbClr val="5B6372"/>
                </a:solidFill>
                <a:latin typeface="Arial"/>
              </a:rPr>
              <a:t>–  Titles follow the naming convention — Title Case, no dates, no abbreviations</a:t>
            </a:r>
          </a:p>
          <a:p>
            <a:pPr>
              <a:spcAft>
                <a:spcPts val="700"/>
              </a:spcAft>
            </a:pPr>
            <a:r>
              <a:rPr sz="1150" b="0">
                <a:solidFill>
                  <a:srgbClr val="5B6372"/>
                </a:solidFill>
                <a:latin typeface="Arial"/>
              </a:rPr>
              <a:t>–  One idea per heading; headings build the table of contents</a:t>
            </a:r>
          </a:p>
          <a:p>
            <a:pPr>
              <a:spcAft>
                <a:spcPts val="700"/>
              </a:spcAft>
            </a:pPr>
            <a:r>
              <a:rPr sz="1150" b="0">
                <a:solidFill>
                  <a:srgbClr val="5B6372"/>
                </a:solidFill>
                <a:latin typeface="Arial"/>
              </a:rPr>
              <a:t>–  Images captioned, files named, code blocks labelled with a language</a:t>
            </a:r>
          </a:p>
          <a:p>
            <a:pPr>
              <a:spcAft>
                <a:spcPts val="700"/>
              </a:spcAft>
            </a:pPr>
            <a:r>
              <a:rPr sz="1150" b="0">
                <a:solidFill>
                  <a:srgbClr val="5B6372"/>
                </a:solidFill>
                <a:latin typeface="Arial"/>
              </a:rPr>
              <a:t>–  Colour and callouts only as the style guide defines them</a:t>
            </a:r>
          </a:p>
        </p:txBody>
      </p:sp>
      <p:sp>
        <p:nvSpPr>
          <p:cNvPr id="14" name="TextBox 13"/>
          <p:cNvSpPr txBox="1"/>
          <p:nvPr/>
        </p:nvSpPr>
        <p:spPr>
          <a:xfrm>
            <a:off x="6583680" y="2514600"/>
            <a:ext cx="4617720" cy="2926080"/>
          </a:xfrm>
          <a:prstGeom prst="rect">
            <a:avLst/>
          </a:prstGeom>
          <a:noFill/>
        </p:spPr>
        <p:txBody>
          <a:bodyPr wrap="square">
            <a:spAutoFit/>
          </a:bodyPr>
          <a:lstStyle/>
          <a:p>
            <a:pPr>
              <a:spcAft>
                <a:spcPts val="700"/>
              </a:spcAft>
            </a:pPr>
            <a:r>
              <a:rPr sz="1350" b="1">
                <a:solidFill>
                  <a:srgbClr val="161B26"/>
                </a:solidFill>
                <a:latin typeface="Arial"/>
              </a:rPr>
              <a:t>•  Curation rules</a:t>
            </a:r>
          </a:p>
          <a:p>
            <a:pPr>
              <a:spcAft>
                <a:spcPts val="700"/>
              </a:spcAft>
            </a:pPr>
            <a:r>
              <a:rPr sz="1150" b="0">
                <a:solidFill>
                  <a:srgbClr val="5B6372"/>
                </a:solidFill>
                <a:latin typeface="Arial"/>
              </a:rPr>
              <a:t>–  Every page has an owner and a verification date</a:t>
            </a:r>
          </a:p>
          <a:p>
            <a:pPr>
              <a:spcAft>
                <a:spcPts val="700"/>
              </a:spcAft>
            </a:pPr>
            <a:r>
              <a:rPr sz="1150" b="0">
                <a:solidFill>
                  <a:srgbClr val="5B6372"/>
                </a:solidFill>
                <a:latin typeface="Arial"/>
              </a:rPr>
              <a:t>–  Comments record decisions; resolved, never deleted</a:t>
            </a:r>
          </a:p>
          <a:p>
            <a:pPr>
              <a:spcAft>
                <a:spcPts val="700"/>
              </a:spcAft>
            </a:pPr>
            <a:r>
              <a:rPr sz="1150" b="0">
                <a:solidFill>
                  <a:srgbClr val="5B6372"/>
                </a:solidFill>
                <a:latin typeface="Arial"/>
              </a:rPr>
              <a:t>–  Related pages linked both ways; hubs updated when pages move</a:t>
            </a:r>
          </a:p>
          <a:p>
            <a:pPr>
              <a:spcAft>
                <a:spcPts val="700"/>
              </a:spcAft>
            </a:pPr>
            <a:r>
              <a:rPr sz="1150" b="0">
                <a:solidFill>
                  <a:srgbClr val="5B6372"/>
                </a:solidFill>
                <a:latin typeface="Arial"/>
              </a:rPr>
              <a:t>–  Stale pages archived to a dated section, not deleted — page history and trash are the backstop</a:t>
            </a:r>
          </a:p>
          <a:p>
            <a:pPr>
              <a:spcAft>
                <a:spcPts val="700"/>
              </a:spcAft>
            </a:pPr>
            <a:r>
              <a:rPr sz="1150" b="0">
                <a:solidFill>
                  <a:srgbClr val="5B6372"/>
                </a:solidFill>
                <a:latin typeface="Arial"/>
              </a:rPr>
              <a:t>–  A quarterly review of the Verification view keeps the wiki trustworthy</a:t>
            </a:r>
          </a:p>
        </p:txBody>
      </p:sp>
      <p:sp>
        <p:nvSpPr>
          <p:cNvPr id="15" name="Rectangle 14"/>
          <p:cNvSpPr/>
          <p:nvPr/>
        </p:nvSpPr>
        <p:spPr>
          <a:xfrm>
            <a:off x="777240" y="5687568"/>
            <a:ext cx="10652760"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687568"/>
            <a:ext cx="10241280" cy="603504"/>
          </a:xfrm>
          <a:prstGeom prst="rect">
            <a:avLst/>
          </a:prstGeom>
          <a:noFill/>
        </p:spPr>
        <p:txBody>
          <a:bodyPr wrap="square" anchor="ctr">
            <a:spAutoFit/>
          </a:bodyPr>
          <a:lstStyle/>
          <a:p>
            <a:pPr algn="l">
              <a:spcAft>
                <a:spcPts val="400"/>
              </a:spcAft>
            </a:pPr>
            <a:r>
              <a:rPr sz="1100" b="1">
                <a:solidFill>
                  <a:srgbClr val="1F6FEB"/>
                </a:solidFill>
                <a:latin typeface="Arial"/>
              </a:rPr>
              <a:t>RULE   </a:t>
            </a:r>
            <a:r>
              <a:rPr sz="1250" b="0">
                <a:solidFill>
                  <a:srgbClr val="161B26"/>
                </a:solidFill>
                <a:latin typeface="Arial"/>
              </a:rPr>
              <a:t>A style guide is a policy: publish it in the wiki, verify it, and link every template to it.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DECISION RULE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Should This Content Be a Page or a Database?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331720"/>
            <a:ext cx="3017520" cy="210312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834640"/>
            <a:ext cx="2194560" cy="1097280"/>
          </a:xfrm>
          <a:prstGeom prst="rect">
            <a:avLst/>
          </a:prstGeom>
          <a:noFill/>
        </p:spPr>
        <p:txBody>
          <a:bodyPr wrap="square" anchor="ctr">
            <a:spAutoFit/>
          </a:bodyPr>
          <a:lstStyle/>
          <a:p>
            <a:pPr algn="ctr">
              <a:spcAft>
                <a:spcPts val="400"/>
              </a:spcAft>
            </a:pPr>
            <a:r>
              <a:rPr sz="1200" b="1">
                <a:solidFill>
                  <a:srgbClr val="FFFFFF"/>
                </a:solidFill>
                <a:latin typeface="Arial"/>
              </a:rPr>
              <a:t>Will there be many similar items that need sorting, filtering or a calendar?</a:t>
            </a:r>
          </a:p>
        </p:txBody>
      </p:sp>
      <p:sp>
        <p:nvSpPr>
          <p:cNvPr id="9" name="Rectangle 8"/>
          <p:cNvSpPr/>
          <p:nvPr/>
        </p:nvSpPr>
        <p:spPr>
          <a:xfrm>
            <a:off x="3931920" y="2761488"/>
            <a:ext cx="3200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251960" y="2732227"/>
            <a:ext cx="182880" cy="113385"/>
          </a:xfrm>
          <a:custGeom>
            <a:avLst/>
            <a:gdLst/>
            <a:ahLst/>
            <a:cxnLst/>
            <a:rect l="l" t="t" r="r" b="b"/>
            <a:pathLst>
              <a:path w="182880" h="113385">
                <a:moveTo>
                  <a:pt x="0" y="0"/>
                </a:moveTo>
                <a:lnTo>
                  <a:pt x="182880" y="56693"/>
                </a:lnTo>
                <a:lnTo>
                  <a:pt x="0" y="113385"/>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96596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965960"/>
            <a:ext cx="91440" cy="1920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112264"/>
            <a:ext cx="6400800" cy="365760"/>
          </a:xfrm>
          <a:prstGeom prst="rect">
            <a:avLst/>
          </a:prstGeom>
          <a:noFill/>
        </p:spPr>
        <p:txBody>
          <a:bodyPr wrap="square" anchor="t">
            <a:spAutoFit/>
          </a:bodyPr>
          <a:lstStyle/>
          <a:p>
            <a:pPr algn="l">
              <a:spcAft>
                <a:spcPts val="400"/>
              </a:spcAft>
            </a:pPr>
            <a:r>
              <a:rPr sz="1300" b="1">
                <a:solidFill>
                  <a:srgbClr val="10B981"/>
                </a:solidFill>
                <a:latin typeface="Arial"/>
              </a:rPr>
              <a:t>DATABASE</a:t>
            </a:r>
          </a:p>
        </p:txBody>
      </p:sp>
      <p:sp>
        <p:nvSpPr>
          <p:cNvPr id="14" name="TextBox 13"/>
          <p:cNvSpPr txBox="1"/>
          <p:nvPr/>
        </p:nvSpPr>
        <p:spPr>
          <a:xfrm>
            <a:off x="4828032" y="2514600"/>
            <a:ext cx="6400800" cy="1280160"/>
          </a:xfrm>
          <a:prstGeom prst="rect">
            <a:avLst/>
          </a:prstGeom>
          <a:noFill/>
        </p:spPr>
        <p:txBody>
          <a:bodyPr wrap="square">
            <a:spAutoFit/>
          </a:bodyPr>
          <a:lstStyle/>
          <a:p>
            <a:pPr>
              <a:spcAft>
                <a:spcPts val="600"/>
              </a:spcAft>
            </a:pPr>
            <a:r>
              <a:rPr sz="1300" b="0">
                <a:solidFill>
                  <a:srgbClr val="161B26"/>
                </a:solidFill>
                <a:latin typeface="Arial"/>
              </a:rPr>
              <a:t>•  Make it a database: each item becomes a page with properties</a:t>
            </a:r>
          </a:p>
          <a:p>
            <a:pPr>
              <a:spcAft>
                <a:spcPts val="600"/>
              </a:spcAft>
            </a:pPr>
            <a:r>
              <a:rPr sz="1300" b="0">
                <a:solidFill>
                  <a:srgbClr val="161B26"/>
                </a:solidFill>
                <a:latin typeface="Arial"/>
              </a:rPr>
              <a:t>•  Add views for each audience — board for editors, calendar for planning</a:t>
            </a:r>
          </a:p>
          <a:p>
            <a:pPr>
              <a:spcAft>
                <a:spcPts val="600"/>
              </a:spcAft>
            </a:pPr>
            <a:r>
              <a:rPr sz="1300" b="0">
                <a:solidFill>
                  <a:srgbClr val="161B26"/>
                </a:solidFill>
                <a:latin typeface="Arial"/>
              </a:rPr>
              <a:t>•  Templates give every new item the same structure</a:t>
            </a:r>
          </a:p>
        </p:txBody>
      </p:sp>
      <p:sp>
        <p:nvSpPr>
          <p:cNvPr id="15" name="Rectangle 14"/>
          <p:cNvSpPr/>
          <p:nvPr/>
        </p:nvSpPr>
        <p:spPr>
          <a:xfrm>
            <a:off x="3931920" y="5001768"/>
            <a:ext cx="3200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251960" y="4972507"/>
            <a:ext cx="182880" cy="113385"/>
          </a:xfrm>
          <a:custGeom>
            <a:avLst/>
            <a:gdLst/>
            <a:ahLst/>
            <a:cxnLst/>
            <a:rect l="l" t="t" r="r" b="b"/>
            <a:pathLst>
              <a:path w="182880" h="113385">
                <a:moveTo>
                  <a:pt x="0" y="0"/>
                </a:moveTo>
                <a:lnTo>
                  <a:pt x="182880" y="56693"/>
                </a:lnTo>
                <a:lnTo>
                  <a:pt x="0" y="113385"/>
                </a:lnTo>
                <a:close/>
              </a:path>
            </a:pathLst>
          </a:cu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420624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4206240"/>
            <a:ext cx="91440" cy="1920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4352544"/>
            <a:ext cx="6400800" cy="365760"/>
          </a:xfrm>
          <a:prstGeom prst="rect">
            <a:avLst/>
          </a:prstGeom>
          <a:noFill/>
        </p:spPr>
        <p:txBody>
          <a:bodyPr wrap="square" anchor="t">
            <a:spAutoFit/>
          </a:bodyPr>
          <a:lstStyle/>
          <a:p>
            <a:pPr algn="l">
              <a:spcAft>
                <a:spcPts val="400"/>
              </a:spcAft>
            </a:pPr>
            <a:r>
              <a:rPr sz="1300" b="1">
                <a:solidFill>
                  <a:srgbClr val="F59E0B"/>
                </a:solidFill>
                <a:latin typeface="Arial"/>
              </a:rPr>
              <a:t>PAGE</a:t>
            </a:r>
          </a:p>
        </p:txBody>
      </p:sp>
      <p:sp>
        <p:nvSpPr>
          <p:cNvPr id="20" name="TextBox 19"/>
          <p:cNvSpPr txBox="1"/>
          <p:nvPr/>
        </p:nvSpPr>
        <p:spPr>
          <a:xfrm>
            <a:off x="4828032" y="4754880"/>
            <a:ext cx="6400800" cy="1280160"/>
          </a:xfrm>
          <a:prstGeom prst="rect">
            <a:avLst/>
          </a:prstGeom>
          <a:noFill/>
        </p:spPr>
        <p:txBody>
          <a:bodyPr wrap="square">
            <a:spAutoFit/>
          </a:bodyPr>
          <a:lstStyle/>
          <a:p>
            <a:pPr>
              <a:spcAft>
                <a:spcPts val="600"/>
              </a:spcAft>
            </a:pPr>
            <a:r>
              <a:rPr sz="1300" b="0">
                <a:solidFill>
                  <a:srgbClr val="161B26"/>
                </a:solidFill>
                <a:latin typeface="Arial"/>
              </a:rPr>
              <a:t>•  Keep it a page: rich, one-off content built from blocks</a:t>
            </a:r>
          </a:p>
          <a:p>
            <a:pPr>
              <a:spcAft>
                <a:spcPts val="600"/>
              </a:spcAft>
            </a:pPr>
            <a:r>
              <a:rPr sz="1300" b="0">
                <a:solidFill>
                  <a:srgbClr val="161B26"/>
                </a:solidFill>
                <a:latin typeface="Arial"/>
              </a:rPr>
              <a:t>•  Use headings, a table of contents and callouts for structure</a:t>
            </a:r>
          </a:p>
          <a:p>
            <a:pPr>
              <a:spcAft>
                <a:spcPts val="600"/>
              </a:spcAft>
            </a:pPr>
            <a:r>
              <a:rPr sz="1300" b="0">
                <a:solidFill>
                  <a:srgbClr val="161B26"/>
                </a:solidFill>
                <a:latin typeface="Arial"/>
              </a:rPr>
              <a:t>•  Link it from a hub and give it an owner</a:t>
            </a:r>
          </a:p>
        </p:txBody>
      </p:sp>
      <p:sp>
        <p:nvSpPr>
          <p:cNvPr id="21" name="TextBox 20"/>
          <p:cNvSpPr txBox="1"/>
          <p:nvPr/>
        </p:nvSpPr>
        <p:spPr>
          <a:xfrm>
            <a:off x="777240" y="5989320"/>
            <a:ext cx="10607040" cy="457200"/>
          </a:xfrm>
          <a:prstGeom prst="rect">
            <a:avLst/>
          </a:prstGeom>
          <a:noFill/>
        </p:spPr>
        <p:txBody>
          <a:bodyPr wrap="square" anchor="t">
            <a:spAutoFit/>
          </a:bodyPr>
          <a:lstStyle/>
          <a:p>
            <a:pPr algn="l">
              <a:spcAft>
                <a:spcPts val="400"/>
              </a:spcAft>
            </a:pPr>
            <a:r>
              <a:rPr sz="1100" b="1">
                <a:solidFill>
                  <a:srgbClr val="7C3AED"/>
                </a:solidFill>
                <a:latin typeface="Arial"/>
              </a:rPr>
              <a:t>RULE   </a:t>
            </a:r>
            <a:r>
              <a:rPr sz="1300" b="0">
                <a:solidFill>
                  <a:srgbClr val="161B26"/>
                </a:solidFill>
                <a:latin typeface="Arial"/>
              </a:rPr>
              <a:t>Ten similar pages are a sign you need a database; ten different pages are a sign you need a hub.</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LAB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Apply the Style Guide: Callouts, Links, Backlinks, Equations and a Navigation 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06</a:t>
            </a:r>
          </a:p>
        </p:txBody>
      </p:sp>
      <p:sp>
        <p:nvSpPr>
          <p:cNvPr id="9" name="Rectangle 8"/>
          <p:cNvSpPr/>
          <p:nvPr/>
        </p:nvSpPr>
        <p:spPr>
          <a:xfrm>
            <a:off x="2286000" y="1691640"/>
            <a:ext cx="155448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554480" cy="365760"/>
          </a:xfrm>
          <a:prstGeom prst="rect">
            <a:avLst/>
          </a:prstGeom>
          <a:noFill/>
        </p:spPr>
        <p:txBody>
          <a:bodyPr wrap="square" anchor="t">
            <a:spAutoFit/>
          </a:bodyPr>
          <a:lstStyle/>
          <a:p>
            <a:pPr algn="ctr">
              <a:spcAft>
                <a:spcPts val="400"/>
              </a:spcAft>
            </a:pPr>
            <a:r>
              <a:rPr sz="1300" b="1">
                <a:solidFill>
                  <a:srgbClr val="5B6372"/>
                </a:solidFill>
                <a:latin typeface="Arial"/>
              </a:rPr>
              <a:t>K4 · A2</a:t>
            </a:r>
          </a:p>
        </p:txBody>
      </p:sp>
      <p:sp>
        <p:nvSpPr>
          <p:cNvPr id="11" name="Rectangle 10"/>
          <p:cNvSpPr/>
          <p:nvPr/>
        </p:nvSpPr>
        <p:spPr>
          <a:xfrm>
            <a:off x="3977639"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45 min</a:t>
            </a:r>
          </a:p>
        </p:txBody>
      </p:sp>
      <p:sp>
        <p:nvSpPr>
          <p:cNvPr id="13" name="TextBox 12"/>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apply the supplied Brightwave style guide across the Content Hub — colours, fonts, callout conventions, icons and covers — build a navigation hub with link-to-page blocks and backlinks so every article is reachable in two clicks, and document the pricing formula with KaTeX equations.</a:t>
            </a:r>
          </a:p>
        </p:txBody>
      </p:sp>
      <p:sp>
        <p:nvSpPr>
          <p:cNvPr id="14" name="Rectangle 13"/>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7" name="TextBox 16"/>
          <p:cNvSpPr txBox="1"/>
          <p:nvPr/>
        </p:nvSpPr>
        <p:spPr>
          <a:xfrm>
            <a:off x="1005840" y="4526280"/>
            <a:ext cx="10149840" cy="731520"/>
          </a:xfrm>
          <a:prstGeom prst="rect">
            <a:avLst/>
          </a:prstGeom>
          <a:noFill/>
        </p:spPr>
        <p:txBody>
          <a:bodyPr wrap="square" anchor="t">
            <a:spAutoFit/>
          </a:bodyPr>
          <a:lstStyle/>
          <a:p>
            <a:pPr algn="l">
              <a:spcAft>
                <a:spcPts val="400"/>
              </a:spcAft>
            </a:pPr>
            <a:r>
              <a:rPr sz="1600" b="1">
                <a:solidFill>
                  <a:srgbClr val="161B26"/>
                </a:solidFill>
                <a:latin typeface="Arial"/>
              </a:rPr>
              <a:t>A styled Content Hub with a navigation hub page, backlinks on every article, a style-compliant callout system and an equations page</a:t>
            </a:r>
          </a:p>
        </p:txBody>
      </p:sp>
      <p:sp>
        <p:nvSpPr>
          <p:cNvPr id="18" name="TextBox 17"/>
          <p:cNvSpPr txBox="1"/>
          <p:nvPr/>
        </p:nvSpPr>
        <p:spPr>
          <a:xfrm>
            <a:off x="1005840" y="52852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Notion styling, links and backlinks, math equations, link-to-page blocks</a:t>
            </a:r>
          </a:p>
        </p:txBody>
      </p:sp>
      <p:sp>
        <p:nvSpPr>
          <p:cNvPr id="19" name="Rectangle 18"/>
          <p:cNvSpPr/>
          <p:nvPr/>
        </p:nvSpPr>
        <p:spPr>
          <a:xfrm>
            <a:off x="777240"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89788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89788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K4 · A2</a:t>
            </a:r>
          </a:p>
        </p:txBody>
      </p:sp>
      <p:sp>
        <p:nvSpPr>
          <p:cNvPr id="22" name="Rectangle 21"/>
          <p:cNvSpPr/>
          <p:nvPr/>
        </p:nvSpPr>
        <p:spPr>
          <a:xfrm>
            <a:off x="4407408"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589788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89788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5" name="Rectangle 24"/>
          <p:cNvSpPr/>
          <p:nvPr/>
        </p:nvSpPr>
        <p:spPr>
          <a:xfrm>
            <a:off x="8037576"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7576" y="589788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589788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Screenshots · lab README checklist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Prepare</a:t>
            </a:r>
          </a:p>
        </p:txBody>
      </p:sp>
      <p:sp>
        <p:nvSpPr>
          <p:cNvPr id="12" name="TextBox 11"/>
          <p:cNvSpPr txBox="1"/>
          <p:nvPr/>
        </p:nvSpPr>
        <p:spPr>
          <a:xfrm>
            <a:off x="905256"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Apply the style guide</a:t>
            </a:r>
          </a:p>
        </p:txBody>
      </p:sp>
      <p:sp>
        <p:nvSpPr>
          <p:cNvPr id="13" name="Rectangle 12"/>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8174"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817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4053078"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Build</a:t>
            </a:r>
          </a:p>
        </p:txBody>
      </p:sp>
      <p:sp>
        <p:nvSpPr>
          <p:cNvPr id="20" name="TextBox 19"/>
          <p:cNvSpPr txBox="1"/>
          <p:nvPr/>
        </p:nvSpPr>
        <p:spPr>
          <a:xfrm>
            <a:off x="3678174"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Build the navigation hub</a:t>
            </a:r>
          </a:p>
        </p:txBody>
      </p:sp>
      <p:sp>
        <p:nvSpPr>
          <p:cNvPr id="21" name="Rectangle 20"/>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1092"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0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6825996"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28" name="TextBox 27"/>
          <p:cNvSpPr txBox="1"/>
          <p:nvPr/>
        </p:nvSpPr>
        <p:spPr>
          <a:xfrm>
            <a:off x="6451092"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Link and check backlinks</a:t>
            </a:r>
          </a:p>
        </p:txBody>
      </p:sp>
      <p:sp>
        <p:nvSpPr>
          <p:cNvPr id="29" name="Rectangle 28"/>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24010"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401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9598914"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36" name="TextBox 35"/>
          <p:cNvSpPr txBox="1"/>
          <p:nvPr/>
        </p:nvSpPr>
        <p:spPr>
          <a:xfrm>
            <a:off x="9224010"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Add math equations</a:t>
            </a:r>
          </a:p>
        </p:txBody>
      </p:sp>
      <p:sp>
        <p:nvSpPr>
          <p:cNvPr id="37" name="Rectangle 36"/>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 the full click-by-click procedure is in the Learner Guide (Lab 06) and the lab's instruction PDF.</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Apply the Style Guide: Callouts, Links, Backlinks, Equations and a Navigation 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058400" cy="457200"/>
          </a:xfrm>
          <a:prstGeom prst="rect">
            <a:avLst/>
          </a:prstGeom>
          <a:noFill/>
        </p:spPr>
        <p:txBody>
          <a:bodyPr wrap="square" anchor="t">
            <a:spAutoFit/>
          </a:bodyPr>
          <a:lstStyle/>
          <a:p>
            <a:pPr algn="l">
              <a:spcAft>
                <a:spcPts val="400"/>
              </a:spcAft>
            </a:pPr>
            <a:r>
              <a:rPr sz="1800" b="1">
                <a:solidFill>
                  <a:srgbClr val="127A3E"/>
                </a:solidFill>
                <a:latin typeface="Arial"/>
              </a:rPr>
              <a:t>✅  Acceptance check</a:t>
            </a:r>
          </a:p>
        </p:txBody>
      </p:sp>
      <p:sp>
        <p:nvSpPr>
          <p:cNvPr id="10" name="TextBox 9"/>
          <p:cNvSpPr txBox="1"/>
          <p:nvPr/>
        </p:nvSpPr>
        <p:spPr>
          <a:xfrm>
            <a:off x="1097280" y="2743200"/>
            <a:ext cx="10149840" cy="1737360"/>
          </a:xfrm>
          <a:prstGeom prst="rect">
            <a:avLst/>
          </a:prstGeom>
          <a:noFill/>
        </p:spPr>
        <p:txBody>
          <a:bodyPr wrap="square" anchor="t">
            <a:spAutoFit/>
          </a:bodyPr>
          <a:lstStyle/>
          <a:p>
            <a:pPr algn="l">
              <a:spcAft>
                <a:spcPts val="400"/>
              </a:spcAft>
            </a:pPr>
            <a:r>
              <a:rPr sz="1500" b="0">
                <a:solidFill>
                  <a:srgbClr val="161B26"/>
                </a:solidFill>
                <a:latin typeface="Arial"/>
              </a:rPr>
              <a:t>Every article follows the style guide (default font, emoji icon, no cover, colour-coded callouts), Content Hub is a navigation hub with link-to-page blocks and a table of contents, Company Home's backlinks list the article, and Pricing Formulas renders a block and an inline KaTeX equation.</a:t>
            </a:r>
          </a:p>
        </p:txBody>
      </p:sp>
      <p:sp>
        <p:nvSpPr>
          <p:cNvPr id="11" name="Rectangle 10"/>
          <p:cNvSpPr/>
          <p:nvPr/>
        </p:nvSpPr>
        <p:spPr>
          <a:xfrm>
            <a:off x="777240" y="4754880"/>
            <a:ext cx="1069848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5488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6" name="TextBox 15"/>
          <p:cNvSpPr txBox="1"/>
          <p:nvPr/>
        </p:nvSpPr>
        <p:spPr>
          <a:xfrm>
            <a:off x="146304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Re-read the step: most misses are the page menu (top right) versus the block handle (left of a block).</a:t>
            </a:r>
          </a:p>
        </p:txBody>
      </p:sp>
      <p:sp>
        <p:nvSpPr>
          <p:cNvPr id="17" name="Oval 16"/>
          <p:cNvSpPr/>
          <p:nvPr/>
        </p:nvSpPr>
        <p:spPr>
          <a:xfrm>
            <a:off x="461772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9" name="TextBox 18"/>
          <p:cNvSpPr txBox="1"/>
          <p:nvPr/>
        </p:nvSpPr>
        <p:spPr>
          <a:xfrm>
            <a:off x="498348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Check you are in the right page or teamspace — the sidebar shows the path.</a:t>
            </a:r>
          </a:p>
        </p:txBody>
      </p:sp>
      <p:sp>
        <p:nvSpPr>
          <p:cNvPr id="20" name="Oval 19"/>
          <p:cNvSpPr/>
          <p:nvPr/>
        </p:nvSpPr>
        <p:spPr>
          <a:xfrm>
            <a:off x="813816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22" name="TextBox 21"/>
          <p:cNvSpPr txBox="1"/>
          <p:nvPr/>
        </p:nvSpPr>
        <p:spPr>
          <a:xfrm>
            <a:off x="850392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Full click-by-click steps: Learner Guide and the lab's instruction PDF.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END OF DAY 1 · PM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Day 1 Recap — What You Can Now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Workspace and pages</a:t>
            </a:r>
          </a:p>
          <a:p>
            <a:pPr algn="l">
              <a:spcAft>
                <a:spcPts val="200"/>
              </a:spcAft>
            </a:pPr>
            <a:r>
              <a:rPr sz="1000" b="0">
                <a:solidFill>
                  <a:srgbClr val="5B6372"/>
                </a:solidFill>
                <a:latin typeface="Arial"/>
              </a:rPr>
              <a:t>Create a workspace, pages, sub-pages and blocks, and organise the sidebar (Lab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Policies and wikis</a:t>
            </a:r>
          </a:p>
          <a:p>
            <a:pPr algn="l">
              <a:spcAft>
                <a:spcPts val="200"/>
              </a:spcAft>
            </a:pPr>
            <a:r>
              <a:rPr sz="1000" b="0">
                <a:solidFill>
                  <a:srgbClr val="5B6372"/>
                </a:solidFill>
                <a:latin typeface="Arial"/>
              </a:rPr>
              <a:t>Import policies, assign owners, verify pages and publish the content policy (Lab 2).</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Collaboration</a:t>
            </a:r>
          </a:p>
          <a:p>
            <a:pPr algn="l">
              <a:spcAft>
                <a:spcPts val="200"/>
              </a:spcAft>
            </a:pPr>
            <a:r>
              <a:rPr sz="1000" b="0">
                <a:solidFill>
                  <a:srgbClr val="5B6372"/>
                </a:solidFill>
                <a:latin typeface="Arial"/>
              </a:rPr>
              <a:t>Review with comments, mentions, reminders, Inbox and search filters (Lab 3).</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Rich content</a:t>
            </a:r>
          </a:p>
          <a:p>
            <a:pPr algn="l">
              <a:spcAft>
                <a:spcPts val="200"/>
              </a:spcAft>
            </a:pPr>
            <a:r>
              <a:rPr sz="1000" b="0">
                <a:solidFill>
                  <a:srgbClr val="5B6372"/>
                </a:solidFill>
                <a:latin typeface="Arial"/>
              </a:rPr>
              <a:t>Post and structure an article with blocks, columns and tables (Lab 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Media and reuse</a:t>
            </a:r>
          </a:p>
          <a:p>
            <a:pPr algn="l">
              <a:spcAft>
                <a:spcPts val="200"/>
              </a:spcAft>
            </a:pPr>
            <a:r>
              <a:rPr sz="1000" b="0">
                <a:solidFill>
                  <a:srgbClr val="5B6372"/>
                </a:solidFill>
                <a:latin typeface="Arial"/>
              </a:rPr>
              <a:t>Images, files, embeds, code blocks, buttons and synced blocks (Lab 5).</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Curation</a:t>
            </a:r>
          </a:p>
          <a:p>
            <a:pPr algn="l">
              <a:spcAft>
                <a:spcPts val="200"/>
              </a:spcAft>
            </a:pPr>
            <a:r>
              <a:rPr sz="1000" b="0">
                <a:solidFill>
                  <a:srgbClr val="5B6372"/>
                </a:solidFill>
                <a:latin typeface="Arial"/>
              </a:rPr>
              <a:t>Apply a style guide, build a navigation hub, link and backlink, add equations (Lab 6).</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6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100" b="1">
                <a:solidFill>
                  <a:srgbClr val="10B981"/>
                </a:solidFill>
                <a:latin typeface="Arial"/>
              </a:rPr>
              <a:t>See you tomorrow at 9:30am — Databases, Publishing and Notion AI</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 · LU3 · A3 · K3</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Database Essentials</a:t>
            </a:r>
          </a:p>
        </p:txBody>
      </p:sp>
      <p:sp>
        <p:nvSpPr>
          <p:cNvPr id="7" name="TextBox 6"/>
          <p:cNvSpPr txBox="1"/>
          <p:nvPr/>
        </p:nvSpPr>
        <p:spPr>
          <a:xfrm>
            <a:off x="1161288" y="4343400"/>
            <a:ext cx="9692640" cy="1188720"/>
          </a:xfrm>
          <a:prstGeom prst="rect">
            <a:avLst/>
          </a:prstGeom>
          <a:noFill/>
        </p:spPr>
        <p:txBody>
          <a:bodyPr wrap="square" anchor="t">
            <a:spAutoFit/>
          </a:bodyPr>
          <a:lstStyle/>
          <a:p>
            <a:pPr algn="l">
              <a:spcAft>
                <a:spcPts val="400"/>
              </a:spcAft>
            </a:pPr>
            <a:r>
              <a:rPr sz="1400" b="0">
                <a:solidFill>
                  <a:srgbClr val="5B6372"/>
                </a:solidFill>
                <a:latin typeface="Arial"/>
              </a:rPr>
              <a:t>Introduction to databases in Notion · properties and data sources · tasks, dependencies and linked databases · database views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advClick="1">
    <p:push dir="l"/>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Database Essentials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A database is a set of pages</a:t>
            </a:r>
          </a:p>
          <a:p>
            <a:pPr algn="l">
              <a:spcAft>
                <a:spcPts val="200"/>
              </a:spcAft>
            </a:pPr>
            <a:r>
              <a:rPr sz="1000" b="0">
                <a:solidFill>
                  <a:srgbClr val="5B6372"/>
                </a:solidFill>
                <a:latin typeface="Arial"/>
              </a:rPr>
              <a:t>Every row, card or event is a full Notion page with properties on top and free content below. Full-page or inline, the data is the same.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Properties give structure</a:t>
            </a:r>
          </a:p>
          <a:p>
            <a:pPr algn="l">
              <a:spcAft>
                <a:spcPts val="200"/>
              </a:spcAft>
            </a:pPr>
            <a:r>
              <a:rPr sz="1000" b="0">
                <a:solidFill>
                  <a:srgbClr val="5B6372"/>
                </a:solidFill>
                <a:latin typeface="Arial"/>
              </a:rPr>
              <a:t>Title, text, number, select, multi-select, status, date, person, files, checkbox, URL, email, phone, formula, relation, rollup, created/edited time and ID.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Databases vs spreadsheets</a:t>
            </a:r>
          </a:p>
          <a:p>
            <a:pPr algn="l">
              <a:spcAft>
                <a:spcPts val="200"/>
              </a:spcAft>
            </a:pPr>
            <a:r>
              <a:rPr sz="1000" b="0">
                <a:solidFill>
                  <a:srgbClr val="5B6372"/>
                </a:solidFill>
                <a:latin typeface="Arial"/>
              </a:rPr>
              <a:t>There are no cell coordinates; each row has the same properties with its own values. That is why the same data can be shown as a board or calendar.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Views change the lens</a:t>
            </a:r>
          </a:p>
          <a:p>
            <a:pPr algn="l">
              <a:spcAft>
                <a:spcPts val="200"/>
              </a:spcAft>
            </a:pPr>
            <a:r>
              <a:rPr sz="1000" b="0">
                <a:solidFill>
                  <a:srgbClr val="5B6372"/>
                </a:solidFill>
                <a:latin typeface="Arial"/>
              </a:rPr>
              <a:t>Table, board, list, calendar, timeline, gallery, chart and form are layouts of one data source; each view keeps its own filters, sorts and groups.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Filters, sorts and groups</a:t>
            </a:r>
          </a:p>
          <a:p>
            <a:pPr algn="l">
              <a:spcAft>
                <a:spcPts val="200"/>
              </a:spcAft>
            </a:pPr>
            <a:r>
              <a:rPr sz="1000" b="0">
                <a:solidFill>
                  <a:srgbClr val="5B6372"/>
                </a:solidFill>
                <a:latin typeface="Arial"/>
              </a:rPr>
              <a:t>Simple filters target one property; advanced filters combine AND/OR groups. A filtered view also sets defaults on new rows (a forcing function).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Data sources and linked views</a:t>
            </a:r>
          </a:p>
          <a:p>
            <a:pPr algn="l">
              <a:spcAft>
                <a:spcPts val="200"/>
              </a:spcAft>
            </a:pPr>
            <a:r>
              <a:rPr sz="1000" b="0">
                <a:solidFill>
                  <a:srgbClr val="5B6372"/>
                </a:solidFill>
                <a:latin typeface="Arial"/>
              </a:rPr>
              <a:t>A linked view shows an existing data source in another page with its own views; sub-items and dependencies model task hierarchies and date shifting.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CORE IDEA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Database Is a Collection of Pages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b-collection-pages.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Every row is a page</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Open any row, card or event: properties on top, unlimited content below.</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Properties contextualise</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Dates, status, people, links and files label every item consistently.</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Many ways to view</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The same data as table, board, list, calendar, timeline, gallery, chart or form.</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Multiple data sources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One database can hold several data sources — contacts, companies and deals side by side.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VIEWS ARE POSSIBLE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Databases Are Not Spreadsheets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Aspect</a:t>
            </a:r>
          </a:p>
        </p:txBody>
      </p:sp>
      <p:sp>
        <p:nvSpPr>
          <p:cNvPr id="9" name="Rectangle 8"/>
          <p:cNvSpPr/>
          <p:nvPr/>
        </p:nvSpPr>
        <p:spPr>
          <a:xfrm>
            <a:off x="3329513"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Spreadsheet</a:t>
            </a:r>
          </a:p>
        </p:txBody>
      </p:sp>
      <p:sp>
        <p:nvSpPr>
          <p:cNvPr id="11" name="Rectangle 10"/>
          <p:cNvSpPr/>
          <p:nvPr/>
        </p:nvSpPr>
        <p:spPr>
          <a:xfrm>
            <a:off x="7370612"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0340"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Notion database</a:t>
            </a:r>
          </a:p>
        </p:txBody>
      </p:sp>
      <p:sp>
        <p:nvSpPr>
          <p:cNvPr id="13" name="Rectangle 12"/>
          <p:cNvSpPr/>
          <p:nvPr/>
        </p:nvSpPr>
        <p:spPr>
          <a:xfrm>
            <a:off x="777240" y="233172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317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Unit of data</a:t>
            </a:r>
          </a:p>
        </p:txBody>
      </p:sp>
      <p:sp>
        <p:nvSpPr>
          <p:cNvPr id="15" name="Rectangle 14"/>
          <p:cNvSpPr/>
          <p:nvPr/>
        </p:nvSpPr>
        <p:spPr>
          <a:xfrm>
            <a:off x="3329513" y="233172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33172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A cell at coordinates B2</a:t>
            </a:r>
          </a:p>
        </p:txBody>
      </p:sp>
      <p:sp>
        <p:nvSpPr>
          <p:cNvPr id="17" name="Rectangle 16"/>
          <p:cNvSpPr/>
          <p:nvPr/>
        </p:nvSpPr>
        <p:spPr>
          <a:xfrm>
            <a:off x="7370612" y="233172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0340" y="233172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A row (page) with named properties</a:t>
            </a:r>
          </a:p>
        </p:txBody>
      </p:sp>
      <p:sp>
        <p:nvSpPr>
          <p:cNvPr id="19" name="Rectangle 18"/>
          <p:cNvSpPr/>
          <p:nvPr/>
        </p:nvSpPr>
        <p:spPr>
          <a:xfrm>
            <a:off x="777240" y="288798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8798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Formulas reference</a:t>
            </a:r>
          </a:p>
        </p:txBody>
      </p:sp>
      <p:sp>
        <p:nvSpPr>
          <p:cNvPr id="21" name="Rectangle 20"/>
          <p:cNvSpPr/>
          <p:nvPr/>
        </p:nvSpPr>
        <p:spPr>
          <a:xfrm>
            <a:off x="3329513" y="288798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288798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Cells: =B2+D5</a:t>
            </a:r>
          </a:p>
        </p:txBody>
      </p:sp>
      <p:sp>
        <p:nvSpPr>
          <p:cNvPr id="23" name="Rectangle 22"/>
          <p:cNvSpPr/>
          <p:nvPr/>
        </p:nvSpPr>
        <p:spPr>
          <a:xfrm>
            <a:off x="7370612" y="288798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0340" y="288798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Properties: prop("Hours") * prop("Rate")</a:t>
            </a:r>
          </a:p>
        </p:txBody>
      </p:sp>
      <p:sp>
        <p:nvSpPr>
          <p:cNvPr id="25" name="Rectangle 24"/>
          <p:cNvSpPr/>
          <p:nvPr/>
        </p:nvSpPr>
        <p:spPr>
          <a:xfrm>
            <a:off x="777240" y="344424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44424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Layout</a:t>
            </a:r>
          </a:p>
        </p:txBody>
      </p:sp>
      <p:sp>
        <p:nvSpPr>
          <p:cNvPr id="27" name="Rectangle 26"/>
          <p:cNvSpPr/>
          <p:nvPr/>
        </p:nvSpPr>
        <p:spPr>
          <a:xfrm>
            <a:off x="3329513" y="344424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44424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One grid</a:t>
            </a:r>
          </a:p>
        </p:txBody>
      </p:sp>
      <p:sp>
        <p:nvSpPr>
          <p:cNvPr id="29" name="Rectangle 28"/>
          <p:cNvSpPr/>
          <p:nvPr/>
        </p:nvSpPr>
        <p:spPr>
          <a:xfrm>
            <a:off x="7370612" y="344424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0340" y="344424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Table, board, calendar, timeline, gallery, list, chart, form</a:t>
            </a:r>
          </a:p>
        </p:txBody>
      </p:sp>
      <p:sp>
        <p:nvSpPr>
          <p:cNvPr id="31" name="Rectangle 30"/>
          <p:cNvSpPr/>
          <p:nvPr/>
        </p:nvSpPr>
        <p:spPr>
          <a:xfrm>
            <a:off x="777240" y="400050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00050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Rich content</a:t>
            </a:r>
          </a:p>
        </p:txBody>
      </p:sp>
      <p:sp>
        <p:nvSpPr>
          <p:cNvPr id="33" name="Rectangle 32"/>
          <p:cNvSpPr/>
          <p:nvPr/>
        </p:nvSpPr>
        <p:spPr>
          <a:xfrm>
            <a:off x="3329513" y="400050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400050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Text in a cell</a:t>
            </a:r>
          </a:p>
        </p:txBody>
      </p:sp>
      <p:sp>
        <p:nvSpPr>
          <p:cNvPr id="35" name="Rectangle 34"/>
          <p:cNvSpPr/>
          <p:nvPr/>
        </p:nvSpPr>
        <p:spPr>
          <a:xfrm>
            <a:off x="7370612" y="400050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0340" y="400050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A whole page under every row</a:t>
            </a:r>
          </a:p>
        </p:txBody>
      </p:sp>
      <p:sp>
        <p:nvSpPr>
          <p:cNvPr id="37" name="Rectangle 36"/>
          <p:cNvSpPr/>
          <p:nvPr/>
        </p:nvSpPr>
        <p:spPr>
          <a:xfrm>
            <a:off x="777240" y="455676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55676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Relationships</a:t>
            </a:r>
          </a:p>
        </p:txBody>
      </p:sp>
      <p:sp>
        <p:nvSpPr>
          <p:cNvPr id="39" name="Rectangle 38"/>
          <p:cNvSpPr/>
          <p:nvPr/>
        </p:nvSpPr>
        <p:spPr>
          <a:xfrm>
            <a:off x="3329513" y="455676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39241" y="455676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VLOOKUP across sheets</a:t>
            </a:r>
          </a:p>
        </p:txBody>
      </p:sp>
      <p:sp>
        <p:nvSpPr>
          <p:cNvPr id="41" name="Rectangle 40"/>
          <p:cNvSpPr/>
          <p:nvPr/>
        </p:nvSpPr>
        <p:spPr>
          <a:xfrm>
            <a:off x="7370612" y="455676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0340" y="455676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Relations and rollups between databases</a:t>
            </a:r>
          </a:p>
        </p:txBody>
      </p:sp>
      <p:sp>
        <p:nvSpPr>
          <p:cNvPr id="43" name="Rectangle 42"/>
          <p:cNvSpPr/>
          <p:nvPr/>
        </p:nvSpPr>
        <p:spPr>
          <a:xfrm>
            <a:off x="777240" y="511302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1130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Filtering</a:t>
            </a:r>
          </a:p>
        </p:txBody>
      </p:sp>
      <p:sp>
        <p:nvSpPr>
          <p:cNvPr id="45" name="Rectangle 44"/>
          <p:cNvSpPr/>
          <p:nvPr/>
        </p:nvSpPr>
        <p:spPr>
          <a:xfrm>
            <a:off x="3329513" y="511302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39241" y="511302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Filter rows in place</a:t>
            </a:r>
          </a:p>
        </p:txBody>
      </p:sp>
      <p:sp>
        <p:nvSpPr>
          <p:cNvPr id="47" name="Rectangle 46"/>
          <p:cNvSpPr/>
          <p:nvPr/>
        </p:nvSpPr>
        <p:spPr>
          <a:xfrm>
            <a:off x="7370612" y="511302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80340" y="511302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Saved views with their own filters, sorts and groups</a:t>
            </a:r>
          </a:p>
        </p:txBody>
      </p:sp>
      <p:sp>
        <p:nvSpPr>
          <p:cNvPr id="49" name="Rectangle 48"/>
          <p:cNvSpPr/>
          <p:nvPr/>
        </p:nvSpPr>
        <p:spPr>
          <a:xfrm>
            <a:off x="777240" y="5852160"/>
            <a:ext cx="10634472"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5840" y="5852160"/>
            <a:ext cx="10268712" cy="566928"/>
          </a:xfrm>
          <a:prstGeom prst="rect">
            <a:avLst/>
          </a:prstGeom>
          <a:noFill/>
        </p:spPr>
        <p:txBody>
          <a:bodyPr wrap="square" anchor="ctr">
            <a:spAutoFit/>
          </a:bodyPr>
          <a:lstStyle/>
          <a:p>
            <a:pPr algn="l">
              <a:spcAft>
                <a:spcPts val="400"/>
              </a:spcAft>
            </a:pPr>
            <a:r>
              <a:rPr sz="1100" b="1">
                <a:solidFill>
                  <a:srgbClr val="1F6FEB"/>
                </a:solidFill>
                <a:latin typeface="Arial"/>
              </a:rPr>
              <a:t>RULE   </a:t>
            </a:r>
            <a:r>
              <a:rPr sz="1250" b="0">
                <a:solidFill>
                  <a:srgbClr val="161B26"/>
                </a:solidFill>
                <a:latin typeface="Arial"/>
              </a:rPr>
              <a:t>The Name (Title) property cannot be deleted — it is the page title of every row.</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STRUCTURE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Database Properties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naging-properties.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Writable types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Text, number, select, multi-select, status, date, person, files &amp; media, checkbox, URL, email, phone, relation.</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Computed types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Formula, rollup, created time/by, last edited time/by, ID, button, verification.</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Manage in bulk</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Edit property → type, name, options, number format; drag to reorder; hide per view; restore deleted.</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Property defaults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Filtered views and templates pre-fill values on new rows — a forcing function.</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 SOURCE, MANY LENSES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Views, Filters, Sorts and Groups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iews.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Add a view</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 next to the tabs; each view has a layout, visible properties, filters, sorts, groups and a load limit.</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Simple vs advanced filters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One property per simple filter; advanced filters mix AND / OR in nested groups.</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Sorts and groups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Sort by several properties in order; group any layout (board columns, table sections).</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Save for everyone</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Changes to a shared view are personal until you click Save for everyone.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EIGHT LAYOUTS, ONE DATA SOURCE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Choosing a Layout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Layout</a:t>
            </a:r>
          </a:p>
        </p:txBody>
      </p:sp>
      <p:sp>
        <p:nvSpPr>
          <p:cNvPr id="9" name="Rectangle 8"/>
          <p:cNvSpPr/>
          <p:nvPr/>
        </p:nvSpPr>
        <p:spPr>
          <a:xfrm>
            <a:off x="3329513"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Best for</a:t>
            </a:r>
          </a:p>
        </p:txBody>
      </p:sp>
      <p:sp>
        <p:nvSpPr>
          <p:cNvPr id="11" name="Rectangle 10"/>
          <p:cNvSpPr/>
          <p:nvPr/>
        </p:nvSpPr>
        <p:spPr>
          <a:xfrm>
            <a:off x="6023579"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33307"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Grouped by</a:t>
            </a:r>
          </a:p>
        </p:txBody>
      </p:sp>
      <p:sp>
        <p:nvSpPr>
          <p:cNvPr id="13" name="Rectangle 12"/>
          <p:cNvSpPr/>
          <p:nvPr/>
        </p:nvSpPr>
        <p:spPr>
          <a:xfrm>
            <a:off x="8717645"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7373"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Brightwave use</a:t>
            </a:r>
          </a:p>
        </p:txBody>
      </p:sp>
      <p:sp>
        <p:nvSpPr>
          <p:cNvPr id="15" name="Rectangle 14"/>
          <p:cNvSpPr/>
          <p:nvPr/>
        </p:nvSpPr>
        <p:spPr>
          <a:xfrm>
            <a:off x="777240" y="2331720"/>
            <a:ext cx="2552273"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31720"/>
            <a:ext cx="2277953" cy="474345"/>
          </a:xfrm>
          <a:prstGeom prst="rect">
            <a:avLst/>
          </a:prstGeom>
          <a:noFill/>
        </p:spPr>
        <p:txBody>
          <a:bodyPr wrap="square" anchor="ctr">
            <a:spAutoFit/>
          </a:bodyPr>
          <a:lstStyle/>
          <a:p>
            <a:pPr algn="l">
              <a:spcAft>
                <a:spcPts val="400"/>
              </a:spcAft>
            </a:pPr>
            <a:r>
              <a:rPr sz="1150" b="1">
                <a:solidFill>
                  <a:srgbClr val="161B26"/>
                </a:solidFill>
                <a:latin typeface="Arial"/>
              </a:rPr>
              <a:t>Table</a:t>
            </a:r>
          </a:p>
        </p:txBody>
      </p:sp>
      <p:sp>
        <p:nvSpPr>
          <p:cNvPr id="17" name="Rectangle 16"/>
          <p:cNvSpPr/>
          <p:nvPr/>
        </p:nvSpPr>
        <p:spPr>
          <a:xfrm>
            <a:off x="3329513" y="2331720"/>
            <a:ext cx="2694066"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9241" y="2331720"/>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Editing many properties at once</a:t>
            </a:r>
          </a:p>
        </p:txBody>
      </p:sp>
      <p:sp>
        <p:nvSpPr>
          <p:cNvPr id="19" name="Rectangle 18"/>
          <p:cNvSpPr/>
          <p:nvPr/>
        </p:nvSpPr>
        <p:spPr>
          <a:xfrm>
            <a:off x="6023579" y="2331720"/>
            <a:ext cx="2694066"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3307" y="2331720"/>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Any property</a:t>
            </a:r>
          </a:p>
        </p:txBody>
      </p:sp>
      <p:sp>
        <p:nvSpPr>
          <p:cNvPr id="21" name="Rectangle 20"/>
          <p:cNvSpPr/>
          <p:nvPr/>
        </p:nvSpPr>
        <p:spPr>
          <a:xfrm>
            <a:off x="8717645" y="2331720"/>
            <a:ext cx="2694066"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7373" y="2331720"/>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Content Calendar master view</a:t>
            </a:r>
          </a:p>
        </p:txBody>
      </p:sp>
      <p:sp>
        <p:nvSpPr>
          <p:cNvPr id="23" name="Rectangle 22"/>
          <p:cNvSpPr/>
          <p:nvPr/>
        </p:nvSpPr>
        <p:spPr>
          <a:xfrm>
            <a:off x="777240" y="2806065"/>
            <a:ext cx="2552273"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06065"/>
            <a:ext cx="2277953" cy="474345"/>
          </a:xfrm>
          <a:prstGeom prst="rect">
            <a:avLst/>
          </a:prstGeom>
          <a:noFill/>
        </p:spPr>
        <p:txBody>
          <a:bodyPr wrap="square" anchor="ctr">
            <a:spAutoFit/>
          </a:bodyPr>
          <a:lstStyle/>
          <a:p>
            <a:pPr algn="l">
              <a:spcAft>
                <a:spcPts val="400"/>
              </a:spcAft>
            </a:pPr>
            <a:r>
              <a:rPr sz="1150" b="1">
                <a:solidFill>
                  <a:srgbClr val="161B26"/>
                </a:solidFill>
                <a:latin typeface="Arial"/>
              </a:rPr>
              <a:t>Board</a:t>
            </a:r>
          </a:p>
        </p:txBody>
      </p:sp>
      <p:sp>
        <p:nvSpPr>
          <p:cNvPr id="25" name="Rectangle 24"/>
          <p:cNvSpPr/>
          <p:nvPr/>
        </p:nvSpPr>
        <p:spPr>
          <a:xfrm>
            <a:off x="3329513" y="2806065"/>
            <a:ext cx="2694066"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39241" y="2806065"/>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Status flow (kanban)</a:t>
            </a:r>
          </a:p>
        </p:txBody>
      </p:sp>
      <p:sp>
        <p:nvSpPr>
          <p:cNvPr id="27" name="Rectangle 26"/>
          <p:cNvSpPr/>
          <p:nvPr/>
        </p:nvSpPr>
        <p:spPr>
          <a:xfrm>
            <a:off x="6023579" y="2806065"/>
            <a:ext cx="2694066"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33307" y="2806065"/>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Select / status / person</a:t>
            </a:r>
          </a:p>
        </p:txBody>
      </p:sp>
      <p:sp>
        <p:nvSpPr>
          <p:cNvPr id="29" name="Rectangle 28"/>
          <p:cNvSpPr/>
          <p:nvPr/>
        </p:nvSpPr>
        <p:spPr>
          <a:xfrm>
            <a:off x="8717645" y="2806065"/>
            <a:ext cx="2694066"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27373" y="2806065"/>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Editorial pipeline</a:t>
            </a:r>
          </a:p>
        </p:txBody>
      </p:sp>
      <p:sp>
        <p:nvSpPr>
          <p:cNvPr id="31" name="Rectangle 30"/>
          <p:cNvSpPr/>
          <p:nvPr/>
        </p:nvSpPr>
        <p:spPr>
          <a:xfrm>
            <a:off x="777240" y="3280410"/>
            <a:ext cx="2552273"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280410"/>
            <a:ext cx="2277953" cy="474345"/>
          </a:xfrm>
          <a:prstGeom prst="rect">
            <a:avLst/>
          </a:prstGeom>
          <a:noFill/>
        </p:spPr>
        <p:txBody>
          <a:bodyPr wrap="square" anchor="ctr">
            <a:spAutoFit/>
          </a:bodyPr>
          <a:lstStyle/>
          <a:p>
            <a:pPr algn="l">
              <a:spcAft>
                <a:spcPts val="400"/>
              </a:spcAft>
            </a:pPr>
            <a:r>
              <a:rPr sz="1150" b="1">
                <a:solidFill>
                  <a:srgbClr val="161B26"/>
                </a:solidFill>
                <a:latin typeface="Arial"/>
              </a:rPr>
              <a:t>Calendar</a:t>
            </a:r>
          </a:p>
        </p:txBody>
      </p:sp>
      <p:sp>
        <p:nvSpPr>
          <p:cNvPr id="33" name="Rectangle 32"/>
          <p:cNvSpPr/>
          <p:nvPr/>
        </p:nvSpPr>
        <p:spPr>
          <a:xfrm>
            <a:off x="3329513" y="3280410"/>
            <a:ext cx="2694066"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3280410"/>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Dated items by day or week</a:t>
            </a:r>
          </a:p>
        </p:txBody>
      </p:sp>
      <p:sp>
        <p:nvSpPr>
          <p:cNvPr id="35" name="Rectangle 34"/>
          <p:cNvSpPr/>
          <p:nvPr/>
        </p:nvSpPr>
        <p:spPr>
          <a:xfrm>
            <a:off x="6023579" y="3280410"/>
            <a:ext cx="2694066"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3307" y="3280410"/>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Date property</a:t>
            </a:r>
          </a:p>
        </p:txBody>
      </p:sp>
      <p:sp>
        <p:nvSpPr>
          <p:cNvPr id="37" name="Rectangle 36"/>
          <p:cNvSpPr/>
          <p:nvPr/>
        </p:nvSpPr>
        <p:spPr>
          <a:xfrm>
            <a:off x="8717645" y="3280410"/>
            <a:ext cx="2694066"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27373" y="3280410"/>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Publishing schedule</a:t>
            </a:r>
          </a:p>
        </p:txBody>
      </p:sp>
      <p:sp>
        <p:nvSpPr>
          <p:cNvPr id="39" name="Rectangle 38"/>
          <p:cNvSpPr/>
          <p:nvPr/>
        </p:nvSpPr>
        <p:spPr>
          <a:xfrm>
            <a:off x="777240" y="3754755"/>
            <a:ext cx="2552273"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754755"/>
            <a:ext cx="2277953" cy="474345"/>
          </a:xfrm>
          <a:prstGeom prst="rect">
            <a:avLst/>
          </a:prstGeom>
          <a:noFill/>
        </p:spPr>
        <p:txBody>
          <a:bodyPr wrap="square" anchor="ctr">
            <a:spAutoFit/>
          </a:bodyPr>
          <a:lstStyle/>
          <a:p>
            <a:pPr algn="l">
              <a:spcAft>
                <a:spcPts val="400"/>
              </a:spcAft>
            </a:pPr>
            <a:r>
              <a:rPr sz="1150" b="1">
                <a:solidFill>
                  <a:srgbClr val="161B26"/>
                </a:solidFill>
                <a:latin typeface="Arial"/>
              </a:rPr>
              <a:t>Timeline</a:t>
            </a:r>
          </a:p>
        </p:txBody>
      </p:sp>
      <p:sp>
        <p:nvSpPr>
          <p:cNvPr id="41" name="Rectangle 40"/>
          <p:cNvSpPr/>
          <p:nvPr/>
        </p:nvSpPr>
        <p:spPr>
          <a:xfrm>
            <a:off x="3329513" y="3754755"/>
            <a:ext cx="2694066"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39241" y="3754755"/>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Dependencies and durations (Gantt)</a:t>
            </a:r>
          </a:p>
        </p:txBody>
      </p:sp>
      <p:sp>
        <p:nvSpPr>
          <p:cNvPr id="43" name="Rectangle 42"/>
          <p:cNvSpPr/>
          <p:nvPr/>
        </p:nvSpPr>
        <p:spPr>
          <a:xfrm>
            <a:off x="6023579" y="3754755"/>
            <a:ext cx="2694066"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33307" y="3754755"/>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Person / project</a:t>
            </a:r>
          </a:p>
        </p:txBody>
      </p:sp>
      <p:sp>
        <p:nvSpPr>
          <p:cNvPr id="45" name="Rectangle 44"/>
          <p:cNvSpPr/>
          <p:nvPr/>
        </p:nvSpPr>
        <p:spPr>
          <a:xfrm>
            <a:off x="8717645" y="3754755"/>
            <a:ext cx="2694066"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27373" y="3754755"/>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Client project plan</a:t>
            </a:r>
          </a:p>
        </p:txBody>
      </p:sp>
      <p:sp>
        <p:nvSpPr>
          <p:cNvPr id="47" name="Rectangle 46"/>
          <p:cNvSpPr/>
          <p:nvPr/>
        </p:nvSpPr>
        <p:spPr>
          <a:xfrm>
            <a:off x="777240" y="4229100"/>
            <a:ext cx="2552273"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229100"/>
            <a:ext cx="2277953" cy="474345"/>
          </a:xfrm>
          <a:prstGeom prst="rect">
            <a:avLst/>
          </a:prstGeom>
          <a:noFill/>
        </p:spPr>
        <p:txBody>
          <a:bodyPr wrap="square" anchor="ctr">
            <a:spAutoFit/>
          </a:bodyPr>
          <a:lstStyle/>
          <a:p>
            <a:pPr algn="l">
              <a:spcAft>
                <a:spcPts val="400"/>
              </a:spcAft>
            </a:pPr>
            <a:r>
              <a:rPr sz="1150" b="1">
                <a:solidFill>
                  <a:srgbClr val="161B26"/>
                </a:solidFill>
                <a:latin typeface="Arial"/>
              </a:rPr>
              <a:t>List</a:t>
            </a:r>
          </a:p>
        </p:txBody>
      </p:sp>
      <p:sp>
        <p:nvSpPr>
          <p:cNvPr id="49" name="Rectangle 48"/>
          <p:cNvSpPr/>
          <p:nvPr/>
        </p:nvSpPr>
        <p:spPr>
          <a:xfrm>
            <a:off x="3329513" y="4229100"/>
            <a:ext cx="2694066"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9241" y="4229100"/>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Simple, mobile-friendly lists</a:t>
            </a:r>
          </a:p>
        </p:txBody>
      </p:sp>
      <p:sp>
        <p:nvSpPr>
          <p:cNvPr id="51" name="Rectangle 50"/>
          <p:cNvSpPr/>
          <p:nvPr/>
        </p:nvSpPr>
        <p:spPr>
          <a:xfrm>
            <a:off x="6023579" y="4229100"/>
            <a:ext cx="2694066"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33307" y="4229100"/>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Any property</a:t>
            </a:r>
          </a:p>
        </p:txBody>
      </p:sp>
      <p:sp>
        <p:nvSpPr>
          <p:cNvPr id="53" name="Rectangle 52"/>
          <p:cNvSpPr/>
          <p:nvPr/>
        </p:nvSpPr>
        <p:spPr>
          <a:xfrm>
            <a:off x="8717645" y="4229100"/>
            <a:ext cx="2694066"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27373" y="4229100"/>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Policies index</a:t>
            </a:r>
          </a:p>
        </p:txBody>
      </p:sp>
      <p:sp>
        <p:nvSpPr>
          <p:cNvPr id="55" name="Rectangle 54"/>
          <p:cNvSpPr/>
          <p:nvPr/>
        </p:nvSpPr>
        <p:spPr>
          <a:xfrm>
            <a:off x="777240" y="4703445"/>
            <a:ext cx="2552273"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4703445"/>
            <a:ext cx="2277953" cy="474345"/>
          </a:xfrm>
          <a:prstGeom prst="rect">
            <a:avLst/>
          </a:prstGeom>
          <a:noFill/>
        </p:spPr>
        <p:txBody>
          <a:bodyPr wrap="square" anchor="ctr">
            <a:spAutoFit/>
          </a:bodyPr>
          <a:lstStyle/>
          <a:p>
            <a:pPr algn="l">
              <a:spcAft>
                <a:spcPts val="400"/>
              </a:spcAft>
            </a:pPr>
            <a:r>
              <a:rPr sz="1150" b="1">
                <a:solidFill>
                  <a:srgbClr val="161B26"/>
                </a:solidFill>
                <a:latin typeface="Arial"/>
              </a:rPr>
              <a:t>Gallery</a:t>
            </a:r>
          </a:p>
        </p:txBody>
      </p:sp>
      <p:sp>
        <p:nvSpPr>
          <p:cNvPr id="57" name="Rectangle 56"/>
          <p:cNvSpPr/>
          <p:nvPr/>
        </p:nvSpPr>
        <p:spPr>
          <a:xfrm>
            <a:off x="3329513" y="4703445"/>
            <a:ext cx="2694066"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39241" y="4703445"/>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Visual items with covers</a:t>
            </a:r>
          </a:p>
        </p:txBody>
      </p:sp>
      <p:sp>
        <p:nvSpPr>
          <p:cNvPr id="59" name="Rectangle 58"/>
          <p:cNvSpPr/>
          <p:nvPr/>
        </p:nvSpPr>
        <p:spPr>
          <a:xfrm>
            <a:off x="6023579" y="4703445"/>
            <a:ext cx="2694066"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33307" y="4703445"/>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Any property</a:t>
            </a:r>
          </a:p>
        </p:txBody>
      </p:sp>
      <p:sp>
        <p:nvSpPr>
          <p:cNvPr id="61" name="Rectangle 60"/>
          <p:cNvSpPr/>
          <p:nvPr/>
        </p:nvSpPr>
        <p:spPr>
          <a:xfrm>
            <a:off x="8717645" y="4703445"/>
            <a:ext cx="2694066"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27373" y="4703445"/>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Design assets, portfolio</a:t>
            </a:r>
          </a:p>
        </p:txBody>
      </p:sp>
      <p:sp>
        <p:nvSpPr>
          <p:cNvPr id="63" name="Rectangle 62"/>
          <p:cNvSpPr/>
          <p:nvPr/>
        </p:nvSpPr>
        <p:spPr>
          <a:xfrm>
            <a:off x="777240" y="5177790"/>
            <a:ext cx="2552273"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14400" y="5177790"/>
            <a:ext cx="2277953" cy="474345"/>
          </a:xfrm>
          <a:prstGeom prst="rect">
            <a:avLst/>
          </a:prstGeom>
          <a:noFill/>
        </p:spPr>
        <p:txBody>
          <a:bodyPr wrap="square" anchor="ctr">
            <a:spAutoFit/>
          </a:bodyPr>
          <a:lstStyle/>
          <a:p>
            <a:pPr algn="l">
              <a:spcAft>
                <a:spcPts val="400"/>
              </a:spcAft>
            </a:pPr>
            <a:r>
              <a:rPr sz="1150" b="1">
                <a:solidFill>
                  <a:srgbClr val="161B26"/>
                </a:solidFill>
                <a:latin typeface="Arial"/>
              </a:rPr>
              <a:t>Chart</a:t>
            </a:r>
          </a:p>
        </p:txBody>
      </p:sp>
      <p:sp>
        <p:nvSpPr>
          <p:cNvPr id="65" name="Rectangle 64"/>
          <p:cNvSpPr/>
          <p:nvPr/>
        </p:nvSpPr>
        <p:spPr>
          <a:xfrm>
            <a:off x="3329513" y="5177790"/>
            <a:ext cx="2694066"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439241" y="5177790"/>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Bars, lines, donuts from properties</a:t>
            </a:r>
          </a:p>
        </p:txBody>
      </p:sp>
      <p:sp>
        <p:nvSpPr>
          <p:cNvPr id="67" name="Rectangle 66"/>
          <p:cNvSpPr/>
          <p:nvPr/>
        </p:nvSpPr>
        <p:spPr>
          <a:xfrm>
            <a:off x="6023579" y="5177790"/>
            <a:ext cx="2694066"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33307" y="5177790"/>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Any property</a:t>
            </a:r>
          </a:p>
        </p:txBody>
      </p:sp>
      <p:sp>
        <p:nvSpPr>
          <p:cNvPr id="69" name="Rectangle 68"/>
          <p:cNvSpPr/>
          <p:nvPr/>
        </p:nvSpPr>
        <p:spPr>
          <a:xfrm>
            <a:off x="8717645" y="5177790"/>
            <a:ext cx="2694066" cy="47434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827373" y="5177790"/>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Metrics dashboard</a:t>
            </a:r>
          </a:p>
        </p:txBody>
      </p:sp>
      <p:sp>
        <p:nvSpPr>
          <p:cNvPr id="71" name="Rectangle 70"/>
          <p:cNvSpPr/>
          <p:nvPr/>
        </p:nvSpPr>
        <p:spPr>
          <a:xfrm>
            <a:off x="777240" y="5652135"/>
            <a:ext cx="2552273"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4400" y="5652135"/>
            <a:ext cx="2277953" cy="474345"/>
          </a:xfrm>
          <a:prstGeom prst="rect">
            <a:avLst/>
          </a:prstGeom>
          <a:noFill/>
        </p:spPr>
        <p:txBody>
          <a:bodyPr wrap="square" anchor="ctr">
            <a:spAutoFit/>
          </a:bodyPr>
          <a:lstStyle/>
          <a:p>
            <a:pPr algn="l">
              <a:spcAft>
                <a:spcPts val="400"/>
              </a:spcAft>
            </a:pPr>
            <a:r>
              <a:rPr sz="1150" b="1">
                <a:solidFill>
                  <a:srgbClr val="161B26"/>
                </a:solidFill>
                <a:latin typeface="Arial"/>
              </a:rPr>
              <a:t>Form</a:t>
            </a:r>
          </a:p>
        </p:txBody>
      </p:sp>
      <p:sp>
        <p:nvSpPr>
          <p:cNvPr id="73" name="Rectangle 72"/>
          <p:cNvSpPr/>
          <p:nvPr/>
        </p:nvSpPr>
        <p:spPr>
          <a:xfrm>
            <a:off x="3329513" y="5652135"/>
            <a:ext cx="2694066"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439241" y="5652135"/>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Collect responses as new rows</a:t>
            </a:r>
          </a:p>
        </p:txBody>
      </p:sp>
      <p:sp>
        <p:nvSpPr>
          <p:cNvPr id="75" name="Rectangle 74"/>
          <p:cNvSpPr/>
          <p:nvPr/>
        </p:nvSpPr>
        <p:spPr>
          <a:xfrm>
            <a:off x="6023579" y="5652135"/>
            <a:ext cx="2694066"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33307" y="5652135"/>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a:t>
            </a:r>
          </a:p>
        </p:txBody>
      </p:sp>
      <p:sp>
        <p:nvSpPr>
          <p:cNvPr id="77" name="Rectangle 76"/>
          <p:cNvSpPr/>
          <p:nvPr/>
        </p:nvSpPr>
        <p:spPr>
          <a:xfrm>
            <a:off x="8717645" y="5652135"/>
            <a:ext cx="2694066" cy="47434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827373" y="5652135"/>
            <a:ext cx="2474610" cy="474345"/>
          </a:xfrm>
          <a:prstGeom prst="rect">
            <a:avLst/>
          </a:prstGeom>
          <a:noFill/>
        </p:spPr>
        <p:txBody>
          <a:bodyPr wrap="square" anchor="ctr">
            <a:spAutoFit/>
          </a:bodyPr>
          <a:lstStyle/>
          <a:p>
            <a:pPr algn="ctr">
              <a:spcAft>
                <a:spcPts val="400"/>
              </a:spcAft>
            </a:pPr>
            <a:r>
              <a:rPr sz="1100" b="0">
                <a:solidFill>
                  <a:srgbClr val="5B6372"/>
                </a:solidFill>
                <a:latin typeface="Arial"/>
              </a:rPr>
              <a:t>Client requests, feedback</a:t>
            </a:r>
          </a:p>
        </p:txBody>
      </p:sp>
      <p:sp>
        <p:nvSpPr>
          <p:cNvPr id="79" name="TextBox 7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80" name="TextBox 7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1" name="TextBox 8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TASKS THAT KNOW EACH OTHER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Sub-items and Dependencies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ub-items.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Sub-items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Parent item / Sub-items properties turn a flat list into a hierarchy with a toggle per parent.</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Dependencies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Blocked by / Blocking properties draw arrows on the timeline.</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Date shifting</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Choose whether moving a blocker shifts dependents always, only when dates overlap, or never.</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Linked databases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/linked view shows a data source elsewhere with its own views — dashboards without duplication.</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Content Calendar by Status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WHAT THE DATA SHOWS</a:t>
            </a:r>
          </a:p>
        </p:txBody>
      </p:sp>
      <p:sp>
        <p:nvSpPr>
          <p:cNvPr id="11" name="TextBox 10"/>
          <p:cNvSpPr txBox="1"/>
          <p:nvPr/>
        </p:nvSpPr>
        <p:spPr>
          <a:xfrm>
            <a:off x="8778240" y="2560320"/>
            <a:ext cx="2377440" cy="2103120"/>
          </a:xfrm>
          <a:prstGeom prst="rect">
            <a:avLst/>
          </a:prstGeom>
          <a:noFill/>
        </p:spPr>
        <p:txBody>
          <a:bodyPr wrap="square" anchor="t">
            <a:spAutoFit/>
          </a:bodyPr>
          <a:lstStyle/>
          <a:p>
            <a:pPr algn="l">
              <a:spcAft>
                <a:spcPts val="400"/>
              </a:spcAft>
            </a:pPr>
            <a:r>
              <a:rPr sz="1250" b="0">
                <a:solidFill>
                  <a:srgbClr val="161B26"/>
                </a:solidFill>
                <a:latin typeface="Arial"/>
              </a:rPr>
              <a:t>A donut of the 36 calendar items: 39% published, 17% scheduled, and a third still in draft or idea — the board view makes that backlog visible to every editor.</a:t>
            </a:r>
          </a:p>
        </p:txBody>
      </p:sp>
      <p:sp>
        <p:nvSpPr>
          <p:cNvPr id="12" name="Rectangle 11"/>
          <p:cNvSpPr/>
          <p:nvPr/>
        </p:nvSpPr>
        <p:spPr>
          <a:xfrm>
            <a:off x="8732520" y="475488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91947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919472"/>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846320"/>
            <a:ext cx="2103120" cy="1005840"/>
          </a:xfrm>
          <a:prstGeom prst="rect">
            <a:avLst/>
          </a:prstGeom>
          <a:noFill/>
        </p:spPr>
        <p:txBody>
          <a:bodyPr wrap="square" anchor="t">
            <a:spAutoFit/>
          </a:bodyPr>
          <a:lstStyle/>
          <a:p>
            <a:pPr algn="l">
              <a:spcAft>
                <a:spcPts val="100"/>
              </a:spcAft>
            </a:pPr>
            <a:r>
              <a:rPr sz="950" b="0">
                <a:solidFill>
                  <a:srgbClr val="5B6372"/>
                </a:solidFill>
                <a:latin typeface="Arial"/>
              </a:rPr>
              <a:t>Native PowerPoint chart · editable data · indicative teaching figures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FIRST FIVE MOVES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Setting Up a New Database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Create</a:t>
            </a:r>
          </a:p>
        </p:txBody>
      </p:sp>
      <p:sp>
        <p:nvSpPr>
          <p:cNvPr id="12" name="TextBox 11"/>
          <p:cNvSpPr txBox="1"/>
          <p:nvPr/>
        </p:nvSpPr>
        <p:spPr>
          <a:xfrm>
            <a:off x="905256"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New page → Table, or /database inline, or import a CSV</a:t>
            </a:r>
          </a:p>
        </p:txBody>
      </p:sp>
      <p:sp>
        <p:nvSpPr>
          <p:cNvPr id="13" name="Rectangle 12"/>
          <p:cNvSpPr/>
          <p:nvPr/>
        </p:nvSpPr>
        <p:spPr>
          <a:xfrm>
            <a:off x="262067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73771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995574"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95574"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23590"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359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3498494"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Add pages</a:t>
            </a:r>
          </a:p>
        </p:txBody>
      </p:sp>
      <p:sp>
        <p:nvSpPr>
          <p:cNvPr id="20" name="TextBox 19"/>
          <p:cNvSpPr txBox="1"/>
          <p:nvPr/>
        </p:nvSpPr>
        <p:spPr>
          <a:xfrm>
            <a:off x="3123590" y="3200400"/>
            <a:ext cx="1505102" cy="1005840"/>
          </a:xfrm>
          <a:prstGeom prst="rect">
            <a:avLst/>
          </a:prstGeom>
          <a:noFill/>
        </p:spPr>
        <p:txBody>
          <a:bodyPr wrap="square" anchor="t">
            <a:spAutoFit/>
          </a:bodyPr>
          <a:lstStyle/>
          <a:p>
            <a:pPr algn="l">
              <a:spcAft>
                <a:spcPts val="400"/>
              </a:spcAft>
            </a:pPr>
            <a:r>
              <a:rPr sz="1100" b="0">
                <a:solidFill>
                  <a:srgbClr val="5B6372"/>
                </a:solidFill>
                <a:latin typeface="Arial"/>
              </a:rPr>
              <a:t>New row or card; each opens as a page</a:t>
            </a:r>
          </a:p>
        </p:txBody>
      </p:sp>
      <p:sp>
        <p:nvSpPr>
          <p:cNvPr id="21" name="Rectangle 20"/>
          <p:cNvSpPr/>
          <p:nvPr/>
        </p:nvSpPr>
        <p:spPr>
          <a:xfrm>
            <a:off x="483900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95604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13908"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13908"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341924"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192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5716828"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Add properties</a:t>
            </a:r>
          </a:p>
        </p:txBody>
      </p:sp>
      <p:sp>
        <p:nvSpPr>
          <p:cNvPr id="28" name="TextBox 27"/>
          <p:cNvSpPr txBox="1"/>
          <p:nvPr/>
        </p:nvSpPr>
        <p:spPr>
          <a:xfrm>
            <a:off x="5341924" y="3200400"/>
            <a:ext cx="1505102" cy="1005840"/>
          </a:xfrm>
          <a:prstGeom prst="rect">
            <a:avLst/>
          </a:prstGeom>
          <a:noFill/>
        </p:spPr>
        <p:txBody>
          <a:bodyPr wrap="square" anchor="t">
            <a:spAutoFit/>
          </a:bodyPr>
          <a:lstStyle/>
          <a:p>
            <a:pPr algn="l">
              <a:spcAft>
                <a:spcPts val="400"/>
              </a:spcAft>
            </a:pPr>
            <a:r>
              <a:rPr sz="900" b="0">
                <a:solidFill>
                  <a:srgbClr val="5B6372"/>
                </a:solidFill>
                <a:latin typeface="Arial"/>
              </a:rPr>
              <a:t>Status, date, person, select — the fields you will filter by</a:t>
            </a:r>
          </a:p>
        </p:txBody>
      </p:sp>
      <p:sp>
        <p:nvSpPr>
          <p:cNvPr id="29" name="Rectangle 28"/>
          <p:cNvSpPr/>
          <p:nvPr/>
        </p:nvSpPr>
        <p:spPr>
          <a:xfrm>
            <a:off x="7057338"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7174382"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432242"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32242"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60258"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60258"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7935162"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Add views</a:t>
            </a:r>
          </a:p>
        </p:txBody>
      </p:sp>
      <p:sp>
        <p:nvSpPr>
          <p:cNvPr id="36" name="TextBox 35"/>
          <p:cNvSpPr txBox="1"/>
          <p:nvPr/>
        </p:nvSpPr>
        <p:spPr>
          <a:xfrm>
            <a:off x="7560258"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Board for flow, calendar for dates, gallery for visuals</a:t>
            </a:r>
          </a:p>
        </p:txBody>
      </p:sp>
      <p:sp>
        <p:nvSpPr>
          <p:cNvPr id="37" name="Rectangle 36"/>
          <p:cNvSpPr/>
          <p:nvPr/>
        </p:nvSpPr>
        <p:spPr>
          <a:xfrm>
            <a:off x="92756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93927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50576"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0576"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778592"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785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43" name="TextBox 42"/>
          <p:cNvSpPr txBox="1"/>
          <p:nvPr/>
        </p:nvSpPr>
        <p:spPr>
          <a:xfrm>
            <a:off x="10153496"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Edit views</a:t>
            </a:r>
          </a:p>
        </p:txBody>
      </p:sp>
      <p:sp>
        <p:nvSpPr>
          <p:cNvPr id="44" name="TextBox 43"/>
          <p:cNvSpPr txBox="1"/>
          <p:nvPr/>
        </p:nvSpPr>
        <p:spPr>
          <a:xfrm>
            <a:off x="9778592"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Filter, sort, group, hide properties; Save for everyone</a:t>
            </a:r>
          </a:p>
        </p:txBody>
      </p:sp>
      <p:sp>
        <p:nvSpPr>
          <p:cNvPr id="45" name="Rectangle 44"/>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Build with AI can draft the properties and views from a one-sentence description — then you refine them.</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LAB · FOUNDATION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Build the Content Calendar Database with Properties, Views and Filters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07</a:t>
            </a:r>
          </a:p>
        </p:txBody>
      </p:sp>
      <p:sp>
        <p:nvSpPr>
          <p:cNvPr id="9" name="Rectangle 8"/>
          <p:cNvSpPr/>
          <p:nvPr/>
        </p:nvSpPr>
        <p:spPr>
          <a:xfrm>
            <a:off x="2286000" y="1691640"/>
            <a:ext cx="155448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554480" cy="365760"/>
          </a:xfrm>
          <a:prstGeom prst="rect">
            <a:avLst/>
          </a:prstGeom>
          <a:noFill/>
        </p:spPr>
        <p:txBody>
          <a:bodyPr wrap="square" anchor="t">
            <a:spAutoFit/>
          </a:bodyPr>
          <a:lstStyle/>
          <a:p>
            <a:pPr algn="ctr">
              <a:spcAft>
                <a:spcPts val="400"/>
              </a:spcAft>
            </a:pPr>
            <a:r>
              <a:rPr sz="1300" b="1">
                <a:solidFill>
                  <a:srgbClr val="5B6372"/>
                </a:solidFill>
                <a:latin typeface="Arial"/>
              </a:rPr>
              <a:t>K3 · A3</a:t>
            </a:r>
          </a:p>
        </p:txBody>
      </p:sp>
      <p:sp>
        <p:nvSpPr>
          <p:cNvPr id="11" name="Rectangle 10"/>
          <p:cNvSpPr/>
          <p:nvPr/>
        </p:nvSpPr>
        <p:spPr>
          <a:xfrm>
            <a:off x="3977639"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30 min</a:t>
            </a:r>
          </a:p>
        </p:txBody>
      </p:sp>
      <p:sp>
        <p:nvSpPr>
          <p:cNvPr id="13" name="TextBox 12"/>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import the supplied content calendar CSV into a full-page database in the Content Hub, correct the property types, open rows as pages, add board, calendar and gallery views, and build filtered views for each editor so the team maintains every web asset from one source.</a:t>
            </a:r>
          </a:p>
        </p:txBody>
      </p:sp>
      <p:sp>
        <p:nvSpPr>
          <p:cNvPr id="14" name="Rectangle 13"/>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7" name="TextBox 16"/>
          <p:cNvSpPr txBox="1"/>
          <p:nvPr/>
        </p:nvSpPr>
        <p:spPr>
          <a:xfrm>
            <a:off x="1005840" y="4526280"/>
            <a:ext cx="10149840" cy="731520"/>
          </a:xfrm>
          <a:prstGeom prst="rect">
            <a:avLst/>
          </a:prstGeom>
          <a:noFill/>
        </p:spPr>
        <p:txBody>
          <a:bodyPr wrap="square" anchor="t">
            <a:spAutoFit/>
          </a:bodyPr>
          <a:lstStyle/>
          <a:p>
            <a:pPr algn="l">
              <a:spcAft>
                <a:spcPts val="400"/>
              </a:spcAft>
            </a:pPr>
            <a:r>
              <a:rPr sz="1600" b="1">
                <a:solidFill>
                  <a:srgbClr val="161B26"/>
                </a:solidFill>
                <a:latin typeface="Arial"/>
              </a:rPr>
              <a:t>A Content Calendar database with typed properties, five views (table, board by status, calendar by publish date, gallery, 'My items'), filters, sorts and grouping</a:t>
            </a:r>
          </a:p>
        </p:txBody>
      </p:sp>
      <p:sp>
        <p:nvSpPr>
          <p:cNvPr id="18" name="TextBox 17"/>
          <p:cNvSpPr txBox="1"/>
          <p:nvPr/>
        </p:nvSpPr>
        <p:spPr>
          <a:xfrm>
            <a:off x="1005840" y="52852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Notion databases (table, board, calendar, gallery views)</a:t>
            </a:r>
          </a:p>
        </p:txBody>
      </p:sp>
      <p:sp>
        <p:nvSpPr>
          <p:cNvPr id="19" name="Rectangle 18"/>
          <p:cNvSpPr/>
          <p:nvPr/>
        </p:nvSpPr>
        <p:spPr>
          <a:xfrm>
            <a:off x="777240"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89788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89788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K3 · A3</a:t>
            </a:r>
          </a:p>
        </p:txBody>
      </p:sp>
      <p:sp>
        <p:nvSpPr>
          <p:cNvPr id="22" name="Rectangle 21"/>
          <p:cNvSpPr/>
          <p:nvPr/>
        </p:nvSpPr>
        <p:spPr>
          <a:xfrm>
            <a:off x="4407408"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589788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89788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Foundation</a:t>
            </a:r>
          </a:p>
        </p:txBody>
      </p:sp>
      <p:sp>
        <p:nvSpPr>
          <p:cNvPr id="25" name="Rectangle 24"/>
          <p:cNvSpPr/>
          <p:nvPr/>
        </p:nvSpPr>
        <p:spPr>
          <a:xfrm>
            <a:off x="8037576"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7576" y="589788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589788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Screenshots · lab README checklist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Prepare</a:t>
            </a:r>
          </a:p>
        </p:txBody>
      </p:sp>
      <p:sp>
        <p:nvSpPr>
          <p:cNvPr id="12" name="TextBox 11"/>
          <p:cNvSpPr txBox="1"/>
          <p:nvPr/>
        </p:nvSpPr>
        <p:spPr>
          <a:xfrm>
            <a:off x="905256"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Import the CSV as a database</a:t>
            </a:r>
          </a:p>
        </p:txBody>
      </p:sp>
      <p:sp>
        <p:nvSpPr>
          <p:cNvPr id="13" name="Rectangle 12"/>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8174"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817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4053078"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Build</a:t>
            </a:r>
          </a:p>
        </p:txBody>
      </p:sp>
      <p:sp>
        <p:nvSpPr>
          <p:cNvPr id="20" name="TextBox 19"/>
          <p:cNvSpPr txBox="1"/>
          <p:nvPr/>
        </p:nvSpPr>
        <p:spPr>
          <a:xfrm>
            <a:off x="3678174"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Fix property types</a:t>
            </a:r>
          </a:p>
        </p:txBody>
      </p:sp>
      <p:sp>
        <p:nvSpPr>
          <p:cNvPr id="21" name="Rectangle 20"/>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1092"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0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6825996"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28" name="TextBox 27"/>
          <p:cNvSpPr txBox="1"/>
          <p:nvPr/>
        </p:nvSpPr>
        <p:spPr>
          <a:xfrm>
            <a:off x="6451092"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Add board, calendar and gallery views</a:t>
            </a:r>
          </a:p>
        </p:txBody>
      </p:sp>
      <p:sp>
        <p:nvSpPr>
          <p:cNvPr id="29" name="Rectangle 28"/>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24010"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401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9598914"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36" name="TextBox 35"/>
          <p:cNvSpPr txBox="1"/>
          <p:nvPr/>
        </p:nvSpPr>
        <p:spPr>
          <a:xfrm>
            <a:off x="9224010"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Filter, sort and group</a:t>
            </a:r>
          </a:p>
        </p:txBody>
      </p:sp>
      <p:sp>
        <p:nvSpPr>
          <p:cNvPr id="37" name="Rectangle 36"/>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 the full click-by-click procedure is in the Learner Guide (Lab 07) and the lab's instruction PDF.</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Build the Content Calendar Database with Properties, Views and Filters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058400" cy="457200"/>
          </a:xfrm>
          <a:prstGeom prst="rect">
            <a:avLst/>
          </a:prstGeom>
          <a:noFill/>
        </p:spPr>
        <p:txBody>
          <a:bodyPr wrap="square" anchor="t">
            <a:spAutoFit/>
          </a:bodyPr>
          <a:lstStyle/>
          <a:p>
            <a:pPr algn="l">
              <a:spcAft>
                <a:spcPts val="400"/>
              </a:spcAft>
            </a:pPr>
            <a:r>
              <a:rPr sz="1800" b="1">
                <a:solidFill>
                  <a:srgbClr val="127A3E"/>
                </a:solidFill>
                <a:latin typeface="Arial"/>
              </a:rPr>
              <a:t>✅  Acceptance check</a:t>
            </a:r>
          </a:p>
        </p:txBody>
      </p:sp>
      <p:sp>
        <p:nvSpPr>
          <p:cNvPr id="10" name="TextBox 9"/>
          <p:cNvSpPr txBox="1"/>
          <p:nvPr/>
        </p:nvSpPr>
        <p:spPr>
          <a:xfrm>
            <a:off x="1097280" y="2743200"/>
            <a:ext cx="10149840" cy="1737360"/>
          </a:xfrm>
          <a:prstGeom prst="rect">
            <a:avLst/>
          </a:prstGeom>
          <a:noFill/>
        </p:spPr>
        <p:txBody>
          <a:bodyPr wrap="square" anchor="t">
            <a:spAutoFit/>
          </a:bodyPr>
          <a:lstStyle/>
          <a:p>
            <a:pPr algn="l">
              <a:spcAft>
                <a:spcPts val="400"/>
              </a:spcAft>
            </a:pPr>
            <a:r>
              <a:rPr sz="1500" b="0">
                <a:solidFill>
                  <a:srgbClr val="161B26"/>
                </a:solidFill>
                <a:latin typeface="Arial"/>
              </a:rPr>
              <a:t>Content Calendar contains every row from content-calendar.csv with the corrected property types, has table, board (grouped by Status, sub-grouped by Channel), calendar, gallery and My items views, the advanced filter returns only the matching rows, and the database is locked.</a:t>
            </a:r>
          </a:p>
        </p:txBody>
      </p:sp>
      <p:sp>
        <p:nvSpPr>
          <p:cNvPr id="11" name="Rectangle 10"/>
          <p:cNvSpPr/>
          <p:nvPr/>
        </p:nvSpPr>
        <p:spPr>
          <a:xfrm>
            <a:off x="777240" y="4754880"/>
            <a:ext cx="1069848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5488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6" name="TextBox 15"/>
          <p:cNvSpPr txBox="1"/>
          <p:nvPr/>
        </p:nvSpPr>
        <p:spPr>
          <a:xfrm>
            <a:off x="146304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Re-read the step: most misses are the page menu (top right) versus the block handle (left of a block).</a:t>
            </a:r>
          </a:p>
        </p:txBody>
      </p:sp>
      <p:sp>
        <p:nvSpPr>
          <p:cNvPr id="17" name="Oval 16"/>
          <p:cNvSpPr/>
          <p:nvPr/>
        </p:nvSpPr>
        <p:spPr>
          <a:xfrm>
            <a:off x="461772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9" name="TextBox 18"/>
          <p:cNvSpPr txBox="1"/>
          <p:nvPr/>
        </p:nvSpPr>
        <p:spPr>
          <a:xfrm>
            <a:off x="498348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Check you are in the right page or teamspace — the sidebar shows the path.</a:t>
            </a:r>
          </a:p>
        </p:txBody>
      </p:sp>
      <p:sp>
        <p:nvSpPr>
          <p:cNvPr id="20" name="Oval 19"/>
          <p:cNvSpPr/>
          <p:nvPr/>
        </p:nvSpPr>
        <p:spPr>
          <a:xfrm>
            <a:off x="813816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22" name="TextBox 21"/>
          <p:cNvSpPr txBox="1"/>
          <p:nvPr/>
        </p:nvSpPr>
        <p:spPr>
          <a:xfrm>
            <a:off x="850392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Full click-by-click steps: Learner Guide and the lab's instruction PDF.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LAB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Manage Client Projects with Sub-tasks, Dependencies, Timeline and Linked Views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08</a:t>
            </a:r>
          </a:p>
        </p:txBody>
      </p:sp>
      <p:sp>
        <p:nvSpPr>
          <p:cNvPr id="9" name="Rectangle 8"/>
          <p:cNvSpPr/>
          <p:nvPr/>
        </p:nvSpPr>
        <p:spPr>
          <a:xfrm>
            <a:off x="2286000" y="1691640"/>
            <a:ext cx="155448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554480" cy="365760"/>
          </a:xfrm>
          <a:prstGeom prst="rect">
            <a:avLst/>
          </a:prstGeom>
          <a:noFill/>
        </p:spPr>
        <p:txBody>
          <a:bodyPr wrap="square" anchor="t">
            <a:spAutoFit/>
          </a:bodyPr>
          <a:lstStyle/>
          <a:p>
            <a:pPr algn="ctr">
              <a:spcAft>
                <a:spcPts val="400"/>
              </a:spcAft>
            </a:pPr>
            <a:r>
              <a:rPr sz="1300" b="1">
                <a:solidFill>
                  <a:srgbClr val="5B6372"/>
                </a:solidFill>
                <a:latin typeface="Arial"/>
              </a:rPr>
              <a:t>K3 · A3</a:t>
            </a:r>
          </a:p>
        </p:txBody>
      </p:sp>
      <p:sp>
        <p:nvSpPr>
          <p:cNvPr id="11" name="Rectangle 10"/>
          <p:cNvSpPr/>
          <p:nvPr/>
        </p:nvSpPr>
        <p:spPr>
          <a:xfrm>
            <a:off x="3977639"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30 min</a:t>
            </a:r>
          </a:p>
        </p:txBody>
      </p:sp>
      <p:sp>
        <p:nvSpPr>
          <p:cNvPr id="13" name="TextBox 12"/>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create the Projects and Tasks databases in Client Projects from the supplied CSVs, turn on sub-items and dependencies so date changes shift dependent tasks, plan the Nova Retail launch on a timeline, and embed linked views of the tasks inside each project page and on the Company Home dashboard.</a:t>
            </a:r>
          </a:p>
        </p:txBody>
      </p:sp>
      <p:sp>
        <p:nvSpPr>
          <p:cNvPr id="14" name="Rectangle 13"/>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7" name="TextBox 16"/>
          <p:cNvSpPr txBox="1"/>
          <p:nvPr/>
        </p:nvSpPr>
        <p:spPr>
          <a:xfrm>
            <a:off x="1005840" y="4526280"/>
            <a:ext cx="10149840" cy="731520"/>
          </a:xfrm>
          <a:prstGeom prst="rect">
            <a:avLst/>
          </a:prstGeom>
          <a:noFill/>
        </p:spPr>
        <p:txBody>
          <a:bodyPr wrap="square" anchor="t">
            <a:spAutoFit/>
          </a:bodyPr>
          <a:lstStyle/>
          <a:p>
            <a:pPr algn="l">
              <a:spcAft>
                <a:spcPts val="400"/>
              </a:spcAft>
            </a:pPr>
            <a:r>
              <a:rPr sz="1600" b="1">
                <a:solidFill>
                  <a:srgbClr val="161B26"/>
                </a:solidFill>
                <a:latin typeface="Arial"/>
              </a:rPr>
              <a:t>Projects and Tasks databases with sub-tasks, dependencies and a timeline, plus linked task views inside project pages and on Company Home</a:t>
            </a:r>
          </a:p>
        </p:txBody>
      </p:sp>
      <p:sp>
        <p:nvSpPr>
          <p:cNvPr id="18" name="TextBox 17"/>
          <p:cNvSpPr txBox="1"/>
          <p:nvPr/>
        </p:nvSpPr>
        <p:spPr>
          <a:xfrm>
            <a:off x="1005840" y="52852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Notion databases (timeline, sub-items, dependencies, linked views)</a:t>
            </a:r>
          </a:p>
        </p:txBody>
      </p:sp>
      <p:sp>
        <p:nvSpPr>
          <p:cNvPr id="19" name="Rectangle 18"/>
          <p:cNvSpPr/>
          <p:nvPr/>
        </p:nvSpPr>
        <p:spPr>
          <a:xfrm>
            <a:off x="777240"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89788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89788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K3 · A3</a:t>
            </a:r>
          </a:p>
        </p:txBody>
      </p:sp>
      <p:sp>
        <p:nvSpPr>
          <p:cNvPr id="22" name="Rectangle 21"/>
          <p:cNvSpPr/>
          <p:nvPr/>
        </p:nvSpPr>
        <p:spPr>
          <a:xfrm>
            <a:off x="4407408"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589788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89788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5" name="Rectangle 24"/>
          <p:cNvSpPr/>
          <p:nvPr/>
        </p:nvSpPr>
        <p:spPr>
          <a:xfrm>
            <a:off x="8037576"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7576" y="589788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589788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Screenshots · lab README checklist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Prepare</a:t>
            </a:r>
          </a:p>
        </p:txBody>
      </p:sp>
      <p:sp>
        <p:nvSpPr>
          <p:cNvPr id="12" name="TextBox 11"/>
          <p:cNvSpPr txBox="1"/>
          <p:nvPr/>
        </p:nvSpPr>
        <p:spPr>
          <a:xfrm>
            <a:off x="905256"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Create Projects and Tasks</a:t>
            </a:r>
          </a:p>
        </p:txBody>
      </p:sp>
      <p:sp>
        <p:nvSpPr>
          <p:cNvPr id="13" name="Rectangle 12"/>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8174"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817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4053078"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Build</a:t>
            </a:r>
          </a:p>
        </p:txBody>
      </p:sp>
      <p:sp>
        <p:nvSpPr>
          <p:cNvPr id="20" name="TextBox 19"/>
          <p:cNvSpPr txBox="1"/>
          <p:nvPr/>
        </p:nvSpPr>
        <p:spPr>
          <a:xfrm>
            <a:off x="3678174"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Enable sub-items and dependencies</a:t>
            </a:r>
          </a:p>
        </p:txBody>
      </p:sp>
      <p:sp>
        <p:nvSpPr>
          <p:cNvPr id="21" name="Rectangle 20"/>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1092"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0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6825996"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28" name="TextBox 27"/>
          <p:cNvSpPr txBox="1"/>
          <p:nvPr/>
        </p:nvSpPr>
        <p:spPr>
          <a:xfrm>
            <a:off x="6451092"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Plan on the timeline</a:t>
            </a:r>
          </a:p>
        </p:txBody>
      </p:sp>
      <p:sp>
        <p:nvSpPr>
          <p:cNvPr id="29" name="Rectangle 28"/>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24010"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401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9598914"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36" name="TextBox 35"/>
          <p:cNvSpPr txBox="1"/>
          <p:nvPr/>
        </p:nvSpPr>
        <p:spPr>
          <a:xfrm>
            <a:off x="9224010"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Embed linked views</a:t>
            </a:r>
          </a:p>
        </p:txBody>
      </p:sp>
      <p:sp>
        <p:nvSpPr>
          <p:cNvPr id="37" name="Rectangle 36"/>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 the full click-by-click procedure is in the Learner Guide (Lab 08) and the lab's instruction PDF.</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Manage Client Projects with Sub-tasks, Dependencies, Timeline and Linked Views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058400" cy="457200"/>
          </a:xfrm>
          <a:prstGeom prst="rect">
            <a:avLst/>
          </a:prstGeom>
          <a:noFill/>
        </p:spPr>
        <p:txBody>
          <a:bodyPr wrap="square" anchor="t">
            <a:spAutoFit/>
          </a:bodyPr>
          <a:lstStyle/>
          <a:p>
            <a:pPr algn="l">
              <a:spcAft>
                <a:spcPts val="400"/>
              </a:spcAft>
            </a:pPr>
            <a:r>
              <a:rPr sz="1800" b="1">
                <a:solidFill>
                  <a:srgbClr val="127A3E"/>
                </a:solidFill>
                <a:latin typeface="Arial"/>
              </a:rPr>
              <a:t>✅  Acceptance check</a:t>
            </a:r>
          </a:p>
        </p:txBody>
      </p:sp>
      <p:sp>
        <p:nvSpPr>
          <p:cNvPr id="10" name="TextBox 9"/>
          <p:cNvSpPr txBox="1"/>
          <p:nvPr/>
        </p:nvSpPr>
        <p:spPr>
          <a:xfrm>
            <a:off x="1097280" y="2743200"/>
            <a:ext cx="10149840" cy="1737360"/>
          </a:xfrm>
          <a:prstGeom prst="rect">
            <a:avLst/>
          </a:prstGeom>
          <a:noFill/>
        </p:spPr>
        <p:txBody>
          <a:bodyPr wrap="square" anchor="t">
            <a:spAutoFit/>
          </a:bodyPr>
          <a:lstStyle/>
          <a:p>
            <a:pPr algn="l">
              <a:spcAft>
                <a:spcPts val="400"/>
              </a:spcAft>
            </a:pPr>
            <a:r>
              <a:rPr sz="1500" b="0">
                <a:solidFill>
                  <a:srgbClr val="161B26"/>
                </a:solidFill>
                <a:latin typeface="Arial"/>
              </a:rPr>
              <a:t>Tasks has parent tasks with sub-items and dependency arrows on the timeline, moving a blocking task shifts its dependents, the Overdue view lists only late open tasks, the Nova Retail Launch page shows only its own tasks in a linked view, and Company Home shows locked linked views of Tasks and Content Calendar.</a:t>
            </a:r>
          </a:p>
        </p:txBody>
      </p:sp>
      <p:sp>
        <p:nvSpPr>
          <p:cNvPr id="11" name="Rectangle 10"/>
          <p:cNvSpPr/>
          <p:nvPr/>
        </p:nvSpPr>
        <p:spPr>
          <a:xfrm>
            <a:off x="777240" y="4754880"/>
            <a:ext cx="1069848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5488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6" name="TextBox 15"/>
          <p:cNvSpPr txBox="1"/>
          <p:nvPr/>
        </p:nvSpPr>
        <p:spPr>
          <a:xfrm>
            <a:off x="146304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Re-read the step: most misses are the page menu (top right) versus the block handle (left of a block).</a:t>
            </a:r>
          </a:p>
        </p:txBody>
      </p:sp>
      <p:sp>
        <p:nvSpPr>
          <p:cNvPr id="17" name="Oval 16"/>
          <p:cNvSpPr/>
          <p:nvPr/>
        </p:nvSpPr>
        <p:spPr>
          <a:xfrm>
            <a:off x="461772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9" name="TextBox 18"/>
          <p:cNvSpPr txBox="1"/>
          <p:nvPr/>
        </p:nvSpPr>
        <p:spPr>
          <a:xfrm>
            <a:off x="498348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Check you are in the right page or teamspace — the sidebar shows the path.</a:t>
            </a:r>
          </a:p>
        </p:txBody>
      </p:sp>
      <p:sp>
        <p:nvSpPr>
          <p:cNvPr id="20" name="Oval 19"/>
          <p:cNvSpPr/>
          <p:nvPr/>
        </p:nvSpPr>
        <p:spPr>
          <a:xfrm>
            <a:off x="813816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22" name="TextBox 21"/>
          <p:cNvSpPr txBox="1"/>
          <p:nvPr/>
        </p:nvSpPr>
        <p:spPr>
          <a:xfrm>
            <a:off x="850392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Full click-by-click steps: Learner Guide and the lab's instruction PDF.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 · LU3 · A4 · K7</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Advanced Database Features</a:t>
            </a:r>
          </a:p>
        </p:txBody>
      </p:sp>
      <p:sp>
        <p:nvSpPr>
          <p:cNvPr id="7" name="TextBox 6"/>
          <p:cNvSpPr txBox="1"/>
          <p:nvPr/>
        </p:nvSpPr>
        <p:spPr>
          <a:xfrm>
            <a:off x="1161288" y="4343400"/>
            <a:ext cx="9692640" cy="1188720"/>
          </a:xfrm>
          <a:prstGeom prst="rect">
            <a:avLst/>
          </a:prstGeom>
          <a:noFill/>
        </p:spPr>
        <p:txBody>
          <a:bodyPr wrap="square" anchor="t">
            <a:spAutoFit/>
          </a:bodyPr>
          <a:lstStyle/>
          <a:p>
            <a:pPr algn="l">
              <a:spcAft>
                <a:spcPts val="400"/>
              </a:spcAft>
            </a:pPr>
            <a:r>
              <a:rPr sz="1400" b="0">
                <a:solidFill>
                  <a:srgbClr val="5B6372"/>
                </a:solidFill>
                <a:latin typeface="Arial"/>
              </a:rPr>
              <a:t>Relations, rollups and database templates · formula basics and syntax · database automations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advClick="1">
    <p:push dir="l"/>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Advanced Database Features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Relations connect databases</a:t>
            </a:r>
          </a:p>
          <a:p>
            <a:pPr algn="l">
              <a:spcAft>
                <a:spcPts val="200"/>
              </a:spcAft>
            </a:pPr>
            <a:r>
              <a:rPr sz="1000" b="0">
                <a:solidFill>
                  <a:srgbClr val="5B6372"/>
                </a:solidFill>
                <a:latin typeface="Arial"/>
              </a:rPr>
              <a:t>A relation property links rows in the same or another database, optionally two-way, so a project knows its tasks and a task knows its project.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Rollups summarise relations</a:t>
            </a:r>
          </a:p>
          <a:p>
            <a:pPr algn="l">
              <a:spcAft>
                <a:spcPts val="200"/>
              </a:spcAft>
            </a:pPr>
            <a:r>
              <a:rPr sz="1000" b="0">
                <a:solidFill>
                  <a:srgbClr val="5B6372"/>
                </a:solidFill>
                <a:latin typeface="Arial"/>
              </a:rPr>
              <a:t>A rollup reads a property through a relation and aggregates it: count tasks, sum hours, show the earliest due date, percent complete.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Formulas compute</a:t>
            </a:r>
          </a:p>
          <a:p>
            <a:pPr algn="l">
              <a:spcAft>
                <a:spcPts val="200"/>
              </a:spcAft>
            </a:pPr>
            <a:r>
              <a:rPr sz="1000" b="0">
                <a:solidFill>
                  <a:srgbClr val="5B6372"/>
                </a:solidFill>
                <a:latin typeface="Arial"/>
              </a:rPr>
              <a:t>Formulas use properties, built-ins and functions (if, dateBetween, format, prop) to produce text, numbers, dates, booleans or lists.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Database templates</a:t>
            </a:r>
          </a:p>
          <a:p>
            <a:pPr algn="l">
              <a:spcAft>
                <a:spcPts val="200"/>
              </a:spcAft>
            </a:pPr>
            <a:r>
              <a:rPr sz="1000" b="0">
                <a:solidFill>
                  <a:srgbClr val="5B6372"/>
                </a:solidFill>
                <a:latin typeface="Arial"/>
              </a:rPr>
              <a:t>A template pre-fills page content and property defaults; set one as default per view so every new brief or ticket starts complete.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Automations act on triggers</a:t>
            </a:r>
          </a:p>
          <a:p>
            <a:pPr algn="l">
              <a:spcAft>
                <a:spcPts val="200"/>
              </a:spcAft>
            </a:pPr>
            <a:r>
              <a:rPr sz="1000" b="0">
                <a:solidFill>
                  <a:srgbClr val="5B6372"/>
                </a:solidFill>
                <a:latin typeface="Arial"/>
              </a:rPr>
              <a:t>When a property changes or a page is added, an automation can edit properties, add pages, send Slack messages or notify people.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Market awareness</a:t>
            </a:r>
          </a:p>
          <a:p>
            <a:pPr algn="l">
              <a:spcAft>
                <a:spcPts val="200"/>
              </a:spcAft>
            </a:pPr>
            <a:r>
              <a:rPr sz="1000" b="0">
                <a:solidFill>
                  <a:srgbClr val="5B6372"/>
                </a:solidFill>
                <a:latin typeface="Arial"/>
              </a:rPr>
              <a:t>Notion competes with Confluence, SharePoint, Coda, Airtable and Monday; know the plan tiers and where each tool fits to advise the organisation.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RELATIONAL MODEL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Relations Connect Databases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238375"/>
            <a:ext cx="6073140" cy="3432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elations.jpg"/>
          <p:cNvPicPr>
            <a:picLocks noChangeAspect="1"/>
          </p:cNvPicPr>
          <p:nvPr/>
        </p:nvPicPr>
        <p:blipFill>
          <a:blip r:embed="rId2"/>
          <a:stretch>
            <a:fillRect/>
          </a:stretch>
        </p:blipFill>
        <p:spPr>
          <a:xfrm>
            <a:off x="777240" y="2257425"/>
            <a:ext cx="6035040" cy="339471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Same or different database</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Relate Tasks to Projects, Projects to Clients, or a task to its parent task.</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Two-way by default</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Show on the related database creates the reciprocal property — edit either side.</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Limit and display</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Limit to one page for one-to-many; show as a property or hide in a view.</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Brightwave model</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Clients → Projects → Tasks and Deliverables — one source of truth for every client.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AGGREGATE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Rollups Summarise Related Rows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ollups.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Read through a relation</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Choose the relation, the property and the calculation.</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Calculations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Count, count values, sum, average, min, max, earliest / latest date, percent checked or per group.</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Show original</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Show the related values themselves — a client sees its project names inline.</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Examples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Total hours per project, % tasks done, next due date, total budget per client.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COMPUTE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Formula Basics and Syntax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ormula.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Reference properties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prop("Name") reads a property; the editor autocompletes properties and functions.</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Data types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Text, number, date, boolean, person, page and list — functions are typed, so convert with format() or toNumber().</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Everyday functions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if, and, or, empty, dateBetween, dateAdd, now, format, round, concat, length, contains.</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Read the docs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The formula reference lists every function with examples; test on one row first.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COPY, ADAPT, TEST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Formula Patterns Used in the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Goal</a:t>
            </a:r>
          </a:p>
        </p:txBody>
      </p:sp>
      <p:sp>
        <p:nvSpPr>
          <p:cNvPr id="9" name="Rectangle 8"/>
          <p:cNvSpPr/>
          <p:nvPr/>
        </p:nvSpPr>
        <p:spPr>
          <a:xfrm>
            <a:off x="3329513"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Formula</a:t>
            </a:r>
          </a:p>
        </p:txBody>
      </p:sp>
      <p:sp>
        <p:nvSpPr>
          <p:cNvPr id="11" name="Rectangle 10"/>
          <p:cNvSpPr/>
          <p:nvPr/>
        </p:nvSpPr>
        <p:spPr>
          <a:xfrm>
            <a:off x="7370612"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0340"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Result type</a:t>
            </a:r>
          </a:p>
        </p:txBody>
      </p:sp>
      <p:sp>
        <p:nvSpPr>
          <p:cNvPr id="13" name="Rectangle 12"/>
          <p:cNvSpPr/>
          <p:nvPr/>
        </p:nvSpPr>
        <p:spPr>
          <a:xfrm>
            <a:off x="777240" y="2331720"/>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31720"/>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Days left to a deadline</a:t>
            </a:r>
          </a:p>
        </p:txBody>
      </p:sp>
      <p:sp>
        <p:nvSpPr>
          <p:cNvPr id="15" name="Rectangle 14"/>
          <p:cNvSpPr/>
          <p:nvPr/>
        </p:nvSpPr>
        <p:spPr>
          <a:xfrm>
            <a:off x="3329513" y="2331720"/>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331720"/>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dateBetween(prop("Dates").end, now(), "days")</a:t>
            </a:r>
          </a:p>
        </p:txBody>
      </p:sp>
      <p:sp>
        <p:nvSpPr>
          <p:cNvPr id="17" name="Rectangle 16"/>
          <p:cNvSpPr/>
          <p:nvPr/>
        </p:nvSpPr>
        <p:spPr>
          <a:xfrm>
            <a:off x="7370612" y="2331720"/>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0340" y="2331720"/>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Number</a:t>
            </a:r>
          </a:p>
        </p:txBody>
      </p:sp>
      <p:sp>
        <p:nvSpPr>
          <p:cNvPr id="19" name="Rectangle 18"/>
          <p:cNvSpPr/>
          <p:nvPr/>
        </p:nvSpPr>
        <p:spPr>
          <a:xfrm>
            <a:off x="777240" y="2898648"/>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98648"/>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Traffic-light health</a:t>
            </a:r>
          </a:p>
        </p:txBody>
      </p:sp>
      <p:sp>
        <p:nvSpPr>
          <p:cNvPr id="21" name="Rectangle 20"/>
          <p:cNvSpPr/>
          <p:nvPr/>
        </p:nvSpPr>
        <p:spPr>
          <a:xfrm>
            <a:off x="3329513" y="2898648"/>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2898648"/>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if(prop("Tasks Done") &gt;= 0.8, "🟢", if(prop("Days Left") &lt; 7, "🔴", "🟡"))</a:t>
            </a:r>
          </a:p>
        </p:txBody>
      </p:sp>
      <p:sp>
        <p:nvSpPr>
          <p:cNvPr id="23" name="Rectangle 22"/>
          <p:cNvSpPr/>
          <p:nvPr/>
        </p:nvSpPr>
        <p:spPr>
          <a:xfrm>
            <a:off x="7370612" y="2898648"/>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0340" y="2898648"/>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Text</a:t>
            </a:r>
          </a:p>
        </p:txBody>
      </p:sp>
      <p:sp>
        <p:nvSpPr>
          <p:cNvPr id="25" name="Rectangle 24"/>
          <p:cNvSpPr/>
          <p:nvPr/>
        </p:nvSpPr>
        <p:spPr>
          <a:xfrm>
            <a:off x="777240" y="3465576"/>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465576"/>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Budget per hour</a:t>
            </a:r>
          </a:p>
        </p:txBody>
      </p:sp>
      <p:sp>
        <p:nvSpPr>
          <p:cNvPr id="27" name="Rectangle 26"/>
          <p:cNvSpPr/>
          <p:nvPr/>
        </p:nvSpPr>
        <p:spPr>
          <a:xfrm>
            <a:off x="3329513" y="3465576"/>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465576"/>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format(round(prop("Budget (SGD)") / prop("Total Hours")))</a:t>
            </a:r>
          </a:p>
        </p:txBody>
      </p:sp>
      <p:sp>
        <p:nvSpPr>
          <p:cNvPr id="29" name="Rectangle 28"/>
          <p:cNvSpPr/>
          <p:nvPr/>
        </p:nvSpPr>
        <p:spPr>
          <a:xfrm>
            <a:off x="7370612" y="3465576"/>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0340" y="3465576"/>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Text</a:t>
            </a:r>
          </a:p>
        </p:txBody>
      </p:sp>
      <p:sp>
        <p:nvSpPr>
          <p:cNvPr id="31" name="Rectangle 30"/>
          <p:cNvSpPr/>
          <p:nvPr/>
        </p:nvSpPr>
        <p:spPr>
          <a:xfrm>
            <a:off x="777240" y="4032504"/>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032504"/>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Priority score</a:t>
            </a:r>
          </a:p>
        </p:txBody>
      </p:sp>
      <p:sp>
        <p:nvSpPr>
          <p:cNvPr id="33" name="Rectangle 32"/>
          <p:cNvSpPr/>
          <p:nvPr/>
        </p:nvSpPr>
        <p:spPr>
          <a:xfrm>
            <a:off x="3329513" y="4032504"/>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4032504"/>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prop("Impact") - prop("Effort")</a:t>
            </a:r>
          </a:p>
        </p:txBody>
      </p:sp>
      <p:sp>
        <p:nvSpPr>
          <p:cNvPr id="35" name="Rectangle 34"/>
          <p:cNvSpPr/>
          <p:nvPr/>
        </p:nvSpPr>
        <p:spPr>
          <a:xfrm>
            <a:off x="7370612" y="4032504"/>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0340" y="4032504"/>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Number</a:t>
            </a:r>
          </a:p>
        </p:txBody>
      </p:sp>
      <p:sp>
        <p:nvSpPr>
          <p:cNvPr id="37" name="Rectangle 36"/>
          <p:cNvSpPr/>
          <p:nvPr/>
        </p:nvSpPr>
        <p:spPr>
          <a:xfrm>
            <a:off x="777240" y="4599432"/>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599432"/>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Overdue flag</a:t>
            </a:r>
          </a:p>
        </p:txBody>
      </p:sp>
      <p:sp>
        <p:nvSpPr>
          <p:cNvPr id="39" name="Rectangle 38"/>
          <p:cNvSpPr/>
          <p:nvPr/>
        </p:nvSpPr>
        <p:spPr>
          <a:xfrm>
            <a:off x="3329513" y="4599432"/>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39241" y="4599432"/>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and(prop("Due") &lt; now(), prop("Status") != "Done")</a:t>
            </a:r>
          </a:p>
        </p:txBody>
      </p:sp>
      <p:sp>
        <p:nvSpPr>
          <p:cNvPr id="41" name="Rectangle 40"/>
          <p:cNvSpPr/>
          <p:nvPr/>
        </p:nvSpPr>
        <p:spPr>
          <a:xfrm>
            <a:off x="7370612" y="4599432"/>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0340" y="4599432"/>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Boolean</a:t>
            </a:r>
          </a:p>
        </p:txBody>
      </p:sp>
      <p:sp>
        <p:nvSpPr>
          <p:cNvPr id="43" name="Rectangle 42"/>
          <p:cNvSpPr/>
          <p:nvPr/>
        </p:nvSpPr>
        <p:spPr>
          <a:xfrm>
            <a:off x="777240" y="5166360"/>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166360"/>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Minutes to text</a:t>
            </a:r>
          </a:p>
        </p:txBody>
      </p:sp>
      <p:sp>
        <p:nvSpPr>
          <p:cNvPr id="45" name="Rectangle 44"/>
          <p:cNvSpPr/>
          <p:nvPr/>
        </p:nvSpPr>
        <p:spPr>
          <a:xfrm>
            <a:off x="3329513" y="5166360"/>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39241" y="5166360"/>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format(round(prop("Avg Time (s)") / 60)) + " min"</a:t>
            </a:r>
          </a:p>
        </p:txBody>
      </p:sp>
      <p:sp>
        <p:nvSpPr>
          <p:cNvPr id="47" name="Rectangle 46"/>
          <p:cNvSpPr/>
          <p:nvPr/>
        </p:nvSpPr>
        <p:spPr>
          <a:xfrm>
            <a:off x="7370612" y="5166360"/>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80340" y="5166360"/>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Text</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START COMPLETE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Database Templates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238375"/>
            <a:ext cx="6073140" cy="3432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b-templates.jpg"/>
          <p:cNvPicPr>
            <a:picLocks noChangeAspect="1"/>
          </p:cNvPicPr>
          <p:nvPr/>
        </p:nvPicPr>
        <p:blipFill>
          <a:blip r:embed="rId2"/>
          <a:stretch>
            <a:fillRect/>
          </a:stretch>
        </p:blipFill>
        <p:spPr>
          <a:xfrm>
            <a:off x="777240" y="2257425"/>
            <a:ext cx="6035040" cy="339471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Create a template</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New ▾ → New template: page content plus default property values.</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Dynamic values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Date → Now or Today; Person → who duplicated the page.</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Default per view</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Set as default for this view or all views so every new row starts from it.</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Nested databases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A template can contain a linked view filtered to the new page — a project brief with its own task list.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 ON TRIGGERS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Database Automations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utomation.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Triggers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Page added; property edited (any or to a value); a button clicked; on a schedule.</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Actions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Edit property, add a page, send Slack or Gmail notification, notify a person, send a webhook, define variables.</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Buttons in pages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A /button can add a page, edit pages or open a page — a mini automation on demand.</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Governance</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Automations run as the creator; document them in the wiki and review quarterly.</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KNOW THE FIELD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Market Awareness — Notion Versus Other CMS Offerings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Tool</a:t>
            </a:r>
          </a:p>
        </p:txBody>
      </p:sp>
      <p:sp>
        <p:nvSpPr>
          <p:cNvPr id="9" name="Rectangle 8"/>
          <p:cNvSpPr/>
          <p:nvPr/>
        </p:nvSpPr>
        <p:spPr>
          <a:xfrm>
            <a:off x="3329513"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Strength</a:t>
            </a:r>
          </a:p>
        </p:txBody>
      </p:sp>
      <p:sp>
        <p:nvSpPr>
          <p:cNvPr id="11" name="Rectangle 10"/>
          <p:cNvSpPr/>
          <p:nvPr/>
        </p:nvSpPr>
        <p:spPr>
          <a:xfrm>
            <a:off x="6023579"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33307"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Weakness for Brightwave</a:t>
            </a:r>
          </a:p>
        </p:txBody>
      </p:sp>
      <p:sp>
        <p:nvSpPr>
          <p:cNvPr id="13" name="Rectangle 12"/>
          <p:cNvSpPr/>
          <p:nvPr/>
        </p:nvSpPr>
        <p:spPr>
          <a:xfrm>
            <a:off x="8717645"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7373"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Fit</a:t>
            </a:r>
          </a:p>
        </p:txBody>
      </p:sp>
      <p:sp>
        <p:nvSpPr>
          <p:cNvPr id="15" name="Rectangle 14"/>
          <p:cNvSpPr/>
          <p:nvPr/>
        </p:nvSpPr>
        <p:spPr>
          <a:xfrm>
            <a:off x="777240" y="233172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317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Notion</a:t>
            </a:r>
          </a:p>
        </p:txBody>
      </p:sp>
      <p:sp>
        <p:nvSpPr>
          <p:cNvPr id="17" name="Rectangle 16"/>
          <p:cNvSpPr/>
          <p:nvPr/>
        </p:nvSpPr>
        <p:spPr>
          <a:xfrm>
            <a:off x="3329513" y="233172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9241" y="23317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Docs + databases + wiki + publishing in one; AI built in</a:t>
            </a:r>
          </a:p>
        </p:txBody>
      </p:sp>
      <p:sp>
        <p:nvSpPr>
          <p:cNvPr id="19" name="Rectangle 18"/>
          <p:cNvSpPr/>
          <p:nvPr/>
        </p:nvSpPr>
        <p:spPr>
          <a:xfrm>
            <a:off x="6023579" y="233172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3307" y="23317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Limited offline; web publishing is simple, not a full site builder</a:t>
            </a:r>
          </a:p>
        </p:txBody>
      </p:sp>
      <p:sp>
        <p:nvSpPr>
          <p:cNvPr id="21" name="Rectangle 20"/>
          <p:cNvSpPr/>
          <p:nvPr/>
        </p:nvSpPr>
        <p:spPr>
          <a:xfrm>
            <a:off x="8717645" y="233172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7373" y="23317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Primary CMS</a:t>
            </a:r>
          </a:p>
        </p:txBody>
      </p:sp>
      <p:sp>
        <p:nvSpPr>
          <p:cNvPr id="23" name="Rectangle 22"/>
          <p:cNvSpPr/>
          <p:nvPr/>
        </p:nvSpPr>
        <p:spPr>
          <a:xfrm>
            <a:off x="777240" y="288798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8798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Confluence</a:t>
            </a:r>
          </a:p>
        </p:txBody>
      </p:sp>
      <p:sp>
        <p:nvSpPr>
          <p:cNvPr id="25" name="Rectangle 24"/>
          <p:cNvSpPr/>
          <p:nvPr/>
        </p:nvSpPr>
        <p:spPr>
          <a:xfrm>
            <a:off x="3329513" y="288798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39241" y="288798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Enterprise wiki, Jira integration</a:t>
            </a:r>
          </a:p>
        </p:txBody>
      </p:sp>
      <p:sp>
        <p:nvSpPr>
          <p:cNvPr id="27" name="Rectangle 26"/>
          <p:cNvSpPr/>
          <p:nvPr/>
        </p:nvSpPr>
        <p:spPr>
          <a:xfrm>
            <a:off x="6023579" y="288798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33307" y="288798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Weak databases; heavier admin</a:t>
            </a:r>
          </a:p>
        </p:txBody>
      </p:sp>
      <p:sp>
        <p:nvSpPr>
          <p:cNvPr id="29" name="Rectangle 28"/>
          <p:cNvSpPr/>
          <p:nvPr/>
        </p:nvSpPr>
        <p:spPr>
          <a:xfrm>
            <a:off x="8717645" y="288798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27373" y="288798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Not needed</a:t>
            </a:r>
          </a:p>
        </p:txBody>
      </p:sp>
      <p:sp>
        <p:nvSpPr>
          <p:cNvPr id="31" name="Rectangle 30"/>
          <p:cNvSpPr/>
          <p:nvPr/>
        </p:nvSpPr>
        <p:spPr>
          <a:xfrm>
            <a:off x="777240" y="344424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44424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Airtable</a:t>
            </a:r>
          </a:p>
        </p:txBody>
      </p:sp>
      <p:sp>
        <p:nvSpPr>
          <p:cNvPr id="33" name="Rectangle 32"/>
          <p:cNvSpPr/>
          <p:nvPr/>
        </p:nvSpPr>
        <p:spPr>
          <a:xfrm>
            <a:off x="3329513" y="344424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344424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Powerful relational databases and interfaces</a:t>
            </a:r>
          </a:p>
        </p:txBody>
      </p:sp>
      <p:sp>
        <p:nvSpPr>
          <p:cNvPr id="35" name="Rectangle 34"/>
          <p:cNvSpPr/>
          <p:nvPr/>
        </p:nvSpPr>
        <p:spPr>
          <a:xfrm>
            <a:off x="6023579" y="344424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3307" y="344424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Thin documents and wiki</a:t>
            </a:r>
          </a:p>
        </p:txBody>
      </p:sp>
      <p:sp>
        <p:nvSpPr>
          <p:cNvPr id="37" name="Rectangle 36"/>
          <p:cNvSpPr/>
          <p:nvPr/>
        </p:nvSpPr>
        <p:spPr>
          <a:xfrm>
            <a:off x="8717645" y="344424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27373" y="344424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Overlap with Notion databases</a:t>
            </a:r>
          </a:p>
        </p:txBody>
      </p:sp>
      <p:sp>
        <p:nvSpPr>
          <p:cNvPr id="39" name="Rectangle 38"/>
          <p:cNvSpPr/>
          <p:nvPr/>
        </p:nvSpPr>
        <p:spPr>
          <a:xfrm>
            <a:off x="777240" y="400050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00050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Monday.com</a:t>
            </a:r>
          </a:p>
        </p:txBody>
      </p:sp>
      <p:sp>
        <p:nvSpPr>
          <p:cNvPr id="41" name="Rectangle 40"/>
          <p:cNvSpPr/>
          <p:nvPr/>
        </p:nvSpPr>
        <p:spPr>
          <a:xfrm>
            <a:off x="3329513" y="400050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39241" y="400050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Visual project boards and automations</a:t>
            </a:r>
          </a:p>
        </p:txBody>
      </p:sp>
      <p:sp>
        <p:nvSpPr>
          <p:cNvPr id="43" name="Rectangle 42"/>
          <p:cNvSpPr/>
          <p:nvPr/>
        </p:nvSpPr>
        <p:spPr>
          <a:xfrm>
            <a:off x="6023579" y="400050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33307" y="400050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Not a knowledge base</a:t>
            </a:r>
          </a:p>
        </p:txBody>
      </p:sp>
      <p:sp>
        <p:nvSpPr>
          <p:cNvPr id="45" name="Rectangle 44"/>
          <p:cNvSpPr/>
          <p:nvPr/>
        </p:nvSpPr>
        <p:spPr>
          <a:xfrm>
            <a:off x="8717645" y="400050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27373" y="400050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Overlap with Tasks</a:t>
            </a:r>
          </a:p>
        </p:txBody>
      </p:sp>
      <p:sp>
        <p:nvSpPr>
          <p:cNvPr id="47" name="Rectangle 46"/>
          <p:cNvSpPr/>
          <p:nvPr/>
        </p:nvSpPr>
        <p:spPr>
          <a:xfrm>
            <a:off x="777240" y="455676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55676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SharePoint</a:t>
            </a:r>
          </a:p>
        </p:txBody>
      </p:sp>
      <p:sp>
        <p:nvSpPr>
          <p:cNvPr id="49" name="Rectangle 48"/>
          <p:cNvSpPr/>
          <p:nvPr/>
        </p:nvSpPr>
        <p:spPr>
          <a:xfrm>
            <a:off x="3329513" y="455676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9241" y="455676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Microsoft 365 integration, governance</a:t>
            </a:r>
          </a:p>
        </p:txBody>
      </p:sp>
      <p:sp>
        <p:nvSpPr>
          <p:cNvPr id="51" name="Rectangle 50"/>
          <p:cNvSpPr/>
          <p:nvPr/>
        </p:nvSpPr>
        <p:spPr>
          <a:xfrm>
            <a:off x="6023579" y="455676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33307" y="455676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Complex; poor authoring experience</a:t>
            </a:r>
          </a:p>
        </p:txBody>
      </p:sp>
      <p:sp>
        <p:nvSpPr>
          <p:cNvPr id="53" name="Rectangle 52"/>
          <p:cNvSpPr/>
          <p:nvPr/>
        </p:nvSpPr>
        <p:spPr>
          <a:xfrm>
            <a:off x="8717645" y="455676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27373" y="455676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Only if M365-centric</a:t>
            </a:r>
          </a:p>
        </p:txBody>
      </p:sp>
      <p:sp>
        <p:nvSpPr>
          <p:cNvPr id="55" name="Rectangle 54"/>
          <p:cNvSpPr/>
          <p:nvPr/>
        </p:nvSpPr>
        <p:spPr>
          <a:xfrm>
            <a:off x="777240" y="511302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51130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WordPress</a:t>
            </a:r>
          </a:p>
        </p:txBody>
      </p:sp>
      <p:sp>
        <p:nvSpPr>
          <p:cNvPr id="57" name="Rectangle 56"/>
          <p:cNvSpPr/>
          <p:nvPr/>
        </p:nvSpPr>
        <p:spPr>
          <a:xfrm>
            <a:off x="3329513" y="511302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39241" y="51130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Full public websites, plug-in ecosystem</a:t>
            </a:r>
          </a:p>
        </p:txBody>
      </p:sp>
      <p:sp>
        <p:nvSpPr>
          <p:cNvPr id="59" name="Rectangle 58"/>
          <p:cNvSpPr/>
          <p:nvPr/>
        </p:nvSpPr>
        <p:spPr>
          <a:xfrm>
            <a:off x="6023579" y="511302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33307" y="51130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No internal wiki or task management</a:t>
            </a:r>
          </a:p>
        </p:txBody>
      </p:sp>
      <p:sp>
        <p:nvSpPr>
          <p:cNvPr id="61" name="Rectangle 60"/>
          <p:cNvSpPr/>
          <p:nvPr/>
        </p:nvSpPr>
        <p:spPr>
          <a:xfrm>
            <a:off x="8717645" y="511302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27373" y="51130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Public site at scale</a:t>
            </a:r>
          </a:p>
        </p:txBody>
      </p:sp>
      <p:sp>
        <p:nvSpPr>
          <p:cNvPr id="63" name="Rectangle 62"/>
          <p:cNvSpPr/>
          <p:nvPr/>
        </p:nvSpPr>
        <p:spPr>
          <a:xfrm>
            <a:off x="777240" y="5852160"/>
            <a:ext cx="10634472"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05840" y="5852160"/>
            <a:ext cx="10268712" cy="566928"/>
          </a:xfrm>
          <a:prstGeom prst="rect">
            <a:avLst/>
          </a:prstGeom>
          <a:noFill/>
        </p:spPr>
        <p:txBody>
          <a:bodyPr wrap="square" anchor="ctr">
            <a:spAutoFit/>
          </a:bodyPr>
          <a:lstStyle/>
          <a:p>
            <a:pPr algn="l">
              <a:spcAft>
                <a:spcPts val="400"/>
              </a:spcAft>
            </a:pPr>
            <a:r>
              <a:rPr sz="1100" b="1">
                <a:solidFill>
                  <a:srgbClr val="1F6FEB"/>
                </a:solidFill>
                <a:latin typeface="Arial"/>
              </a:rPr>
              <a:t>RULE   </a:t>
            </a:r>
            <a:r>
              <a:rPr sz="1250" b="0">
                <a:solidFill>
                  <a:srgbClr val="161B26"/>
                </a:solidFill>
                <a:latin typeface="Arial"/>
              </a:rPr>
              <a:t>Evaluate on pricing tier, databases, wiki, permissions, API and publishing — then recommend, do not assume.</a:t>
            </a:r>
          </a:p>
        </p:txBody>
      </p:sp>
      <p:sp>
        <p:nvSpPr>
          <p:cNvPr id="65" name="TextBox 6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66" name="TextBox 6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7" name="TextBox 6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Plan Tiers — What Each Adds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WHAT THE DATA SHOWS</a:t>
            </a:r>
          </a:p>
        </p:txBody>
      </p:sp>
      <p:sp>
        <p:nvSpPr>
          <p:cNvPr id="11" name="TextBox 10"/>
          <p:cNvSpPr txBox="1"/>
          <p:nvPr/>
        </p:nvSpPr>
        <p:spPr>
          <a:xfrm>
            <a:off x="8778240" y="2560320"/>
            <a:ext cx="2377440" cy="2103120"/>
          </a:xfrm>
          <a:prstGeom prst="rect">
            <a:avLst/>
          </a:prstGeom>
          <a:noFill/>
        </p:spPr>
        <p:txBody>
          <a:bodyPr wrap="square" anchor="t">
            <a:spAutoFit/>
          </a:bodyPr>
          <a:lstStyle/>
          <a:p>
            <a:pPr algn="l">
              <a:spcAft>
                <a:spcPts val="400"/>
              </a:spcAft>
            </a:pPr>
            <a:r>
              <a:rPr sz="1250" b="0">
                <a:solidFill>
                  <a:srgbClr val="161B26"/>
                </a:solidFill>
                <a:latin typeface="Arial"/>
              </a:rPr>
              <a:t>Indicative tier comparison: page history grows from 7 days to a year and guest limits from 10 to 250. Notion AI, SAML SSO and private teamspaces arrive at Business; audit logs and SCIM at Enterprise. Always confirm current limits on notion.com/pricing.</a:t>
            </a:r>
          </a:p>
        </p:txBody>
      </p:sp>
      <p:sp>
        <p:nvSpPr>
          <p:cNvPr id="12" name="Rectangle 11"/>
          <p:cNvSpPr/>
          <p:nvPr/>
        </p:nvSpPr>
        <p:spPr>
          <a:xfrm>
            <a:off x="8732520" y="475488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91947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919472"/>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846320"/>
            <a:ext cx="2103120" cy="1005840"/>
          </a:xfrm>
          <a:prstGeom prst="rect">
            <a:avLst/>
          </a:prstGeom>
          <a:noFill/>
        </p:spPr>
        <p:txBody>
          <a:bodyPr wrap="square" anchor="t">
            <a:spAutoFit/>
          </a:bodyPr>
          <a:lstStyle/>
          <a:p>
            <a:pPr algn="l">
              <a:spcAft>
                <a:spcPts val="100"/>
              </a:spcAft>
            </a:pPr>
            <a:r>
              <a:rPr sz="950" b="0">
                <a:solidFill>
                  <a:srgbClr val="5B6372"/>
                </a:solidFill>
                <a:latin typeface="Arial"/>
              </a:rPr>
              <a:t>Native PowerPoint chart · editable data · indicative teaching figures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LAB · ADVANCED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Connect Clients, Projects and Deliverables with Relations, Rollups, Formulas, Templates and Automations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09</a:t>
            </a:r>
          </a:p>
        </p:txBody>
      </p:sp>
      <p:sp>
        <p:nvSpPr>
          <p:cNvPr id="9" name="Rectangle 8"/>
          <p:cNvSpPr/>
          <p:nvPr/>
        </p:nvSpPr>
        <p:spPr>
          <a:xfrm>
            <a:off x="2286000" y="1691640"/>
            <a:ext cx="155448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554480" cy="365760"/>
          </a:xfrm>
          <a:prstGeom prst="rect">
            <a:avLst/>
          </a:prstGeom>
          <a:noFill/>
        </p:spPr>
        <p:txBody>
          <a:bodyPr wrap="square" anchor="t">
            <a:spAutoFit/>
          </a:bodyPr>
          <a:lstStyle/>
          <a:p>
            <a:pPr algn="ctr">
              <a:spcAft>
                <a:spcPts val="400"/>
              </a:spcAft>
            </a:pPr>
            <a:r>
              <a:rPr sz="1300" b="1">
                <a:solidFill>
                  <a:srgbClr val="5B6372"/>
                </a:solidFill>
                <a:latin typeface="Arial"/>
              </a:rPr>
              <a:t>K7 · A4</a:t>
            </a:r>
          </a:p>
        </p:txBody>
      </p:sp>
      <p:sp>
        <p:nvSpPr>
          <p:cNvPr id="11" name="Rectangle 10"/>
          <p:cNvSpPr/>
          <p:nvPr/>
        </p:nvSpPr>
        <p:spPr>
          <a:xfrm>
            <a:off x="3977639"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40 min</a:t>
            </a:r>
          </a:p>
        </p:txBody>
      </p:sp>
      <p:sp>
        <p:nvSpPr>
          <p:cNvPr id="13" name="TextBox 12"/>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create the Clients and Deliverables databases, relate Clients → Projects → Tasks and Deliverables, roll up hours, budgets and completion, write formulas for health status and days remaining, build a Project Brief template, add an automation that notifies the owner when a deliverable is approved, and complete a market comparison of Notion against Confluence, Airtable and Monday.</a:t>
            </a:r>
          </a:p>
        </p:txBody>
      </p:sp>
      <p:sp>
        <p:nvSpPr>
          <p:cNvPr id="14" name="Rectangle 13"/>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7" name="TextBox 16"/>
          <p:cNvSpPr txBox="1"/>
          <p:nvPr/>
        </p:nvSpPr>
        <p:spPr>
          <a:xfrm>
            <a:off x="1005840" y="4526280"/>
            <a:ext cx="10149840" cy="731520"/>
          </a:xfrm>
          <a:prstGeom prst="rect">
            <a:avLst/>
          </a:prstGeom>
          <a:noFill/>
        </p:spPr>
        <p:txBody>
          <a:bodyPr wrap="square" anchor="t">
            <a:spAutoFit/>
          </a:bodyPr>
          <a:lstStyle/>
          <a:p>
            <a:pPr algn="l">
              <a:spcAft>
                <a:spcPts val="400"/>
              </a:spcAft>
            </a:pPr>
            <a:r>
              <a:rPr sz="1600" b="1">
                <a:solidFill>
                  <a:srgbClr val="161B26"/>
                </a:solidFill>
                <a:latin typeface="Arial"/>
              </a:rPr>
              <a:t>A relational model (Clients, Projects, Tasks, Deliverables) with rollups, formulas, a default project template, one automation and a CMS market comparison table</a:t>
            </a:r>
          </a:p>
        </p:txBody>
      </p:sp>
      <p:sp>
        <p:nvSpPr>
          <p:cNvPr id="18" name="TextBox 17"/>
          <p:cNvSpPr txBox="1"/>
          <p:nvPr/>
        </p:nvSpPr>
        <p:spPr>
          <a:xfrm>
            <a:off x="1005840" y="52852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Notion relations, rollups, formulas, database templates, automations</a:t>
            </a:r>
          </a:p>
        </p:txBody>
      </p:sp>
      <p:sp>
        <p:nvSpPr>
          <p:cNvPr id="19" name="Rectangle 18"/>
          <p:cNvSpPr/>
          <p:nvPr/>
        </p:nvSpPr>
        <p:spPr>
          <a:xfrm>
            <a:off x="777240"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89788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89788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K7 · A4</a:t>
            </a:r>
          </a:p>
        </p:txBody>
      </p:sp>
      <p:sp>
        <p:nvSpPr>
          <p:cNvPr id="22" name="Rectangle 21"/>
          <p:cNvSpPr/>
          <p:nvPr/>
        </p:nvSpPr>
        <p:spPr>
          <a:xfrm>
            <a:off x="4407408"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589788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89788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Advanced</a:t>
            </a:r>
          </a:p>
        </p:txBody>
      </p:sp>
      <p:sp>
        <p:nvSpPr>
          <p:cNvPr id="25" name="Rectangle 24"/>
          <p:cNvSpPr/>
          <p:nvPr/>
        </p:nvSpPr>
        <p:spPr>
          <a:xfrm>
            <a:off x="8037576"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7576" y="589788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589788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Screenshots · lab README checklist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Prepare</a:t>
            </a:r>
          </a:p>
        </p:txBody>
      </p:sp>
      <p:sp>
        <p:nvSpPr>
          <p:cNvPr id="12" name="TextBox 11"/>
          <p:cNvSpPr txBox="1"/>
          <p:nvPr/>
        </p:nvSpPr>
        <p:spPr>
          <a:xfrm>
            <a:off x="905256"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Create relations</a:t>
            </a:r>
          </a:p>
        </p:txBody>
      </p:sp>
      <p:sp>
        <p:nvSpPr>
          <p:cNvPr id="13" name="Rectangle 12"/>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8174"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817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4053078"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Build</a:t>
            </a:r>
          </a:p>
        </p:txBody>
      </p:sp>
      <p:sp>
        <p:nvSpPr>
          <p:cNvPr id="20" name="TextBox 19"/>
          <p:cNvSpPr txBox="1"/>
          <p:nvPr/>
        </p:nvSpPr>
        <p:spPr>
          <a:xfrm>
            <a:off x="3678174"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Add rollups and formulas</a:t>
            </a:r>
          </a:p>
        </p:txBody>
      </p:sp>
      <p:sp>
        <p:nvSpPr>
          <p:cNvPr id="21" name="Rectangle 20"/>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1092"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0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6825996"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28" name="TextBox 27"/>
          <p:cNvSpPr txBox="1"/>
          <p:nvPr/>
        </p:nvSpPr>
        <p:spPr>
          <a:xfrm>
            <a:off x="6451092"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Build templates and automations</a:t>
            </a:r>
          </a:p>
        </p:txBody>
      </p:sp>
      <p:sp>
        <p:nvSpPr>
          <p:cNvPr id="29" name="Rectangle 28"/>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24010"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401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9598914"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36" name="TextBox 35"/>
          <p:cNvSpPr txBox="1"/>
          <p:nvPr/>
        </p:nvSpPr>
        <p:spPr>
          <a:xfrm>
            <a:off x="9224010"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Compare market offerings</a:t>
            </a:r>
          </a:p>
        </p:txBody>
      </p:sp>
      <p:sp>
        <p:nvSpPr>
          <p:cNvPr id="37" name="Rectangle 36"/>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 the full click-by-click procedure is in the Learner Guide (Lab 09) and the lab's instruction PDF.</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Connect Clients, Projects and Deliverables with Relations, Rollups, Formulas, Templates and Automations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058400" cy="457200"/>
          </a:xfrm>
          <a:prstGeom prst="rect">
            <a:avLst/>
          </a:prstGeom>
          <a:noFill/>
        </p:spPr>
        <p:txBody>
          <a:bodyPr wrap="square" anchor="t">
            <a:spAutoFit/>
          </a:bodyPr>
          <a:lstStyle/>
          <a:p>
            <a:pPr algn="l">
              <a:spcAft>
                <a:spcPts val="400"/>
              </a:spcAft>
            </a:pPr>
            <a:r>
              <a:rPr sz="1800" b="1">
                <a:solidFill>
                  <a:srgbClr val="127A3E"/>
                </a:solidFill>
                <a:latin typeface="Arial"/>
              </a:rPr>
              <a:t>✅  Acceptance check</a:t>
            </a:r>
          </a:p>
        </p:txBody>
      </p:sp>
      <p:sp>
        <p:nvSpPr>
          <p:cNvPr id="10" name="TextBox 9"/>
          <p:cNvSpPr txBox="1"/>
          <p:nvPr/>
        </p:nvSpPr>
        <p:spPr>
          <a:xfrm>
            <a:off x="1097280" y="2743200"/>
            <a:ext cx="10149840" cy="1737360"/>
          </a:xfrm>
          <a:prstGeom prst="rect">
            <a:avLst/>
          </a:prstGeom>
          <a:noFill/>
        </p:spPr>
        <p:txBody>
          <a:bodyPr wrap="square" anchor="t">
            <a:spAutoFit/>
          </a:bodyPr>
          <a:lstStyle/>
          <a:p>
            <a:pPr algn="l">
              <a:spcAft>
                <a:spcPts val="400"/>
              </a:spcAft>
            </a:pPr>
            <a:r>
              <a:rPr sz="1500" b="0">
                <a:solidFill>
                  <a:srgbClr val="161B26"/>
                </a:solidFill>
                <a:latin typeface="Arial"/>
              </a:rPr>
              <a:t>Clients show Active Projects and Total Budget rollups, each project shows Total Hours, Tasks Done, Next Due, Days Left and a Health formula, new projects open with the Project Brief template, approving a deliverable sets Approved On and notifies the owner, and the Market Offerings table is complete for four tools.</a:t>
            </a:r>
          </a:p>
        </p:txBody>
      </p:sp>
      <p:sp>
        <p:nvSpPr>
          <p:cNvPr id="11" name="Rectangle 10"/>
          <p:cNvSpPr/>
          <p:nvPr/>
        </p:nvSpPr>
        <p:spPr>
          <a:xfrm>
            <a:off x="777240" y="4754880"/>
            <a:ext cx="1069848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5488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6" name="TextBox 15"/>
          <p:cNvSpPr txBox="1"/>
          <p:nvPr/>
        </p:nvSpPr>
        <p:spPr>
          <a:xfrm>
            <a:off x="146304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Re-read the step: most misses are the page menu (top right) versus the block handle (left of a block).</a:t>
            </a:r>
          </a:p>
        </p:txBody>
      </p:sp>
      <p:sp>
        <p:nvSpPr>
          <p:cNvPr id="17" name="Oval 16"/>
          <p:cNvSpPr/>
          <p:nvPr/>
        </p:nvSpPr>
        <p:spPr>
          <a:xfrm>
            <a:off x="461772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9" name="TextBox 18"/>
          <p:cNvSpPr txBox="1"/>
          <p:nvPr/>
        </p:nvSpPr>
        <p:spPr>
          <a:xfrm>
            <a:off x="498348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Check you are in the right page or teamspace — the sidebar shows the path.</a:t>
            </a:r>
          </a:p>
        </p:txBody>
      </p:sp>
      <p:sp>
        <p:nvSpPr>
          <p:cNvPr id="20" name="Oval 19"/>
          <p:cNvSpPr/>
          <p:nvPr/>
        </p:nvSpPr>
        <p:spPr>
          <a:xfrm>
            <a:off x="813816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22" name="TextBox 21"/>
          <p:cNvSpPr txBox="1"/>
          <p:nvPr/>
        </p:nvSpPr>
        <p:spPr>
          <a:xfrm>
            <a:off x="850392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Full click-by-click steps: Learner Guide and the lab's instruction PDF.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6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100" b="1">
                <a:solidFill>
                  <a:srgbClr val="F59E0B"/>
                </a:solidFill>
                <a:latin typeface="Arial"/>
              </a:rPr>
              <a:t>1 hour · back for PM digital attendance</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 · LU4 · A5 · K6</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Collaboration and Publishing</a:t>
            </a:r>
          </a:p>
        </p:txBody>
      </p:sp>
      <p:sp>
        <p:nvSpPr>
          <p:cNvPr id="7" name="TextBox 6"/>
          <p:cNvSpPr txBox="1"/>
          <p:nvPr/>
        </p:nvSpPr>
        <p:spPr>
          <a:xfrm>
            <a:off x="1161288" y="4343400"/>
            <a:ext cx="9692640" cy="1188720"/>
          </a:xfrm>
          <a:prstGeom prst="rect">
            <a:avLst/>
          </a:prstGeom>
          <a:noFill/>
        </p:spPr>
        <p:txBody>
          <a:bodyPr wrap="square" anchor="t">
            <a:spAutoFit/>
          </a:bodyPr>
          <a:lstStyle/>
          <a:p>
            <a:pPr algn="l">
              <a:spcAft>
                <a:spcPts val="400"/>
              </a:spcAft>
            </a:pPr>
            <a:r>
              <a:rPr sz="1400" b="0">
                <a:solidFill>
                  <a:srgbClr val="5B6372"/>
                </a:solidFill>
                <a:latin typeface="Arial"/>
              </a:rPr>
              <a:t>Sharing, permissions and member management · collaborative activities · public pages and web publishing · page analytics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advClick="1">
    <p:push dir="l"/>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Collaboration and Publishing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Permission levels</a:t>
            </a:r>
          </a:p>
          <a:p>
            <a:pPr algn="l">
              <a:spcAft>
                <a:spcPts val="200"/>
              </a:spcAft>
            </a:pPr>
            <a:r>
              <a:rPr sz="1000" b="0">
                <a:solidFill>
                  <a:srgbClr val="5B6372"/>
                </a:solidFill>
                <a:latin typeface="Arial"/>
              </a:rPr>
              <a:t>Full access, can edit, can edit content (databases only), can comment and can view; set per person, group, teamspace or the whole workspace.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Members, guests and groups</a:t>
            </a:r>
          </a:p>
          <a:p>
            <a:pPr algn="l">
              <a:spcAft>
                <a:spcPts val="200"/>
              </a:spcAft>
            </a:pPr>
            <a:r>
              <a:rPr sz="1000" b="0">
                <a:solidFill>
                  <a:srgbClr val="5B6372"/>
                </a:solidFill>
                <a:latin typeface="Arial"/>
              </a:rPr>
              <a:t>Members join the workspace; guests are invited to specific pages; groups make permissions repeatable. Owners manage security settings.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Teamspaces</a:t>
            </a:r>
          </a:p>
          <a:p>
            <a:pPr algn="l">
              <a:spcAft>
                <a:spcPts val="200"/>
              </a:spcAft>
            </a:pPr>
            <a:r>
              <a:rPr sz="1000" b="0">
                <a:solidFill>
                  <a:srgbClr val="5B6372"/>
                </a:solidFill>
                <a:latin typeface="Arial"/>
              </a:rPr>
              <a:t>Open, closed or private spaces with their own owners, members and default permissions — the unit of organisation for departments and clients.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Page lock and view lock</a:t>
            </a:r>
          </a:p>
          <a:p>
            <a:pPr algn="l">
              <a:spcAft>
                <a:spcPts val="200"/>
              </a:spcAft>
            </a:pPr>
            <a:r>
              <a:rPr sz="1000" b="0">
                <a:solidFill>
                  <a:srgbClr val="5B6372"/>
                </a:solidFill>
                <a:latin typeface="Arial"/>
              </a:rPr>
              <a:t>Lock a page to prevent accidental edits and lock database views so structure stays fixed while data can still 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Publish to the web</a:t>
            </a:r>
          </a:p>
          <a:p>
            <a:pPr algn="l">
              <a:spcAft>
                <a:spcPts val="200"/>
              </a:spcAft>
            </a:pPr>
            <a:r>
              <a:rPr sz="1000" b="0">
                <a:solidFill>
                  <a:srgbClr val="5B6372"/>
                </a:solidFill>
                <a:latin typeface="Arial"/>
              </a:rPr>
              <a:t>Any page can become a public site with a notion.site URL, search-engine indexing, duplication and comment settings, and a public home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Page analytics</a:t>
            </a:r>
          </a:p>
          <a:p>
            <a:pPr algn="l">
              <a:spcAft>
                <a:spcPts val="200"/>
              </a:spcAft>
            </a:pPr>
            <a:r>
              <a:rPr sz="1000" b="0">
                <a:solidFill>
                  <a:srgbClr val="5B6372"/>
                </a:solidFill>
                <a:latin typeface="Arial"/>
              </a:rPr>
              <a:t>Every page shows views, unique visitors and viewers over time; workspace analytics adds member engagement, content and search behaviour.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CAN DO WHAT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Sharing and Permission Levels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dit-permissions.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Five levels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Full access · Can edit · Can edit content (databases) · Can comment · Can view.</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Where they apply</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Per person, per group, per teamspace and for the whole workspace; sub-pages inherit unless restricted.</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Can edit content</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Users add and edit rows but cannot change properties, views, filters or locks — perfect for guests.</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See who has access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Share shows every person and group; Request access lets others ask.</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MANAGE PEOPLE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Members, Guests and Groups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238375"/>
            <a:ext cx="6073140" cy="3432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embers-guests.jpg"/>
          <p:cNvPicPr>
            <a:picLocks noChangeAspect="1"/>
          </p:cNvPicPr>
          <p:nvPr/>
        </p:nvPicPr>
        <p:blipFill>
          <a:blip r:embed="rId2"/>
          <a:stretch>
            <a:fillRect/>
          </a:stretch>
        </p:blipFill>
        <p:spPr>
          <a:xfrm>
            <a:off x="777240" y="2257425"/>
            <a:ext cx="6035040" cy="339471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Members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Join the workspace by invite, link or allowed email domain; count toward billing.</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Guests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Invited to specific pages only; free on most plans up to a limit; convert to members later.</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Groups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Named sets of members (Editors, Designers) that carry permissions together.</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Owners and admins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Workspace owners control security, billing and teamspaces; membership admins manage people.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UNIT OF ORGANISATION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Teamspaces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238375"/>
            <a:ext cx="6073140" cy="3432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amspaces.jpg"/>
          <p:cNvPicPr>
            <a:picLocks noChangeAspect="1"/>
          </p:cNvPicPr>
          <p:nvPr/>
        </p:nvPicPr>
        <p:blipFill>
          <a:blip r:embed="rId2"/>
          <a:stretch>
            <a:fillRect/>
          </a:stretch>
        </p:blipFill>
        <p:spPr>
          <a:xfrm>
            <a:off x="777240" y="2257425"/>
            <a:ext cx="6035040" cy="339471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Open, closed, private</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Open: anyone can join; closed: visible but invite-only; private: hidden (Business and above).</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Owners and members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Teamspace owners set default access, members, permissions and security settings.</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Create or convert</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 next to Teamspaces, or turn an existing page into a teamspace.</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Brightwave structure</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Company (open) for the wiki and hub; Client Work (closed) for client projects with guests.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GOVERN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Security Settings and Page Lock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ecurity-sharing.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Workspace security</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Disable public sharing, guests, export or duplication; allowed email domains; 2-step verification.</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Page lock</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 → Lock page blocks edits; anyone with edit access can unlock — a safeguard, not a permission.</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Lock database</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Locks properties and views while data stays editable.</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Enterprise controls</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SAML SSO, SCIM provisioning, audit log, managed users, domain verification, HIPAA options.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PUBLIC PAGES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Publish to the Web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238375"/>
            <a:ext cx="6073140" cy="3432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ublish-web.jpg"/>
          <p:cNvPicPr>
            <a:picLocks noChangeAspect="1"/>
          </p:cNvPicPr>
          <p:nvPr/>
        </p:nvPicPr>
        <p:blipFill>
          <a:blip r:embed="rId2"/>
          <a:stretch>
            <a:fillRect/>
          </a:stretch>
        </p:blipFill>
        <p:spPr>
          <a:xfrm>
            <a:off x="777240" y="2257425"/>
            <a:ext cx="6035040" cy="339471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One switch</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Share → Publish → Publish to web gives a notion.site URL for the page and its sub-pages.</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Options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Search engine indexing, allow duplicate as template, allow comments, link expiry (paid).</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Sites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Set a public home page, custom domain (paid), navigation and a favicon under Settings → Sites.</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Brightwave Help Centre</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Published with indexing on and duplication off; private pages stay private.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Page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238375"/>
            <a:ext cx="6073140" cy="3432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orkspace-analytics.jpg"/>
          <p:cNvPicPr>
            <a:picLocks noChangeAspect="1"/>
          </p:cNvPicPr>
          <p:nvPr/>
        </p:nvPicPr>
        <p:blipFill>
          <a:blip r:embed="rId2"/>
          <a:stretch>
            <a:fillRect/>
          </a:stretch>
        </p:blipFill>
        <p:spPr>
          <a:xfrm>
            <a:off x="777240" y="2257425"/>
            <a:ext cx="6035040" cy="339471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Per page</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Views, unique visitors and the viewer list over 7, 30 or 90 days — from the page ⋯ menu.</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Workspace analytics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Member engagement, content analysis (most viewed, stale pages) and search behaviour (paid plans).</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Opting out</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Workspace owners can disable analytics; individuals can hide their own views.</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Beyond Notion</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Public pages can be measured with Google Analytics via a custom domain and site settings.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TYPES OF METRICS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Performance Metrics for a Content Management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Metric type</a:t>
            </a:r>
          </a:p>
        </p:txBody>
      </p:sp>
      <p:sp>
        <p:nvSpPr>
          <p:cNvPr id="9" name="Rectangle 8"/>
          <p:cNvSpPr/>
          <p:nvPr/>
        </p:nvSpPr>
        <p:spPr>
          <a:xfrm>
            <a:off x="3329513"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Examples</a:t>
            </a:r>
          </a:p>
        </p:txBody>
      </p:sp>
      <p:sp>
        <p:nvSpPr>
          <p:cNvPr id="11" name="Rectangle 10"/>
          <p:cNvSpPr/>
          <p:nvPr/>
        </p:nvSpPr>
        <p:spPr>
          <a:xfrm>
            <a:off x="6023579"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33307"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Where it comes from</a:t>
            </a:r>
          </a:p>
        </p:txBody>
      </p:sp>
      <p:sp>
        <p:nvSpPr>
          <p:cNvPr id="13" name="Rectangle 12"/>
          <p:cNvSpPr/>
          <p:nvPr/>
        </p:nvSpPr>
        <p:spPr>
          <a:xfrm>
            <a:off x="8717645"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7373"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Decision it informs</a:t>
            </a:r>
          </a:p>
        </p:txBody>
      </p:sp>
      <p:sp>
        <p:nvSpPr>
          <p:cNvPr id="15" name="Rectangle 14"/>
          <p:cNvSpPr/>
          <p:nvPr/>
        </p:nvSpPr>
        <p:spPr>
          <a:xfrm>
            <a:off x="777240" y="2331720"/>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31720"/>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Reach</a:t>
            </a:r>
          </a:p>
        </p:txBody>
      </p:sp>
      <p:sp>
        <p:nvSpPr>
          <p:cNvPr id="17" name="Rectangle 16"/>
          <p:cNvSpPr/>
          <p:nvPr/>
        </p:nvSpPr>
        <p:spPr>
          <a:xfrm>
            <a:off x="3329513" y="2331720"/>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9241" y="2331720"/>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Page views, unique visitors, traffic by section</a:t>
            </a:r>
          </a:p>
        </p:txBody>
      </p:sp>
      <p:sp>
        <p:nvSpPr>
          <p:cNvPr id="19" name="Rectangle 18"/>
          <p:cNvSpPr/>
          <p:nvPr/>
        </p:nvSpPr>
        <p:spPr>
          <a:xfrm>
            <a:off x="6023579" y="2331720"/>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3307" y="2331720"/>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Page analytics, workspace analytics</a:t>
            </a:r>
          </a:p>
        </p:txBody>
      </p:sp>
      <p:sp>
        <p:nvSpPr>
          <p:cNvPr id="21" name="Rectangle 20"/>
          <p:cNvSpPr/>
          <p:nvPr/>
        </p:nvSpPr>
        <p:spPr>
          <a:xfrm>
            <a:off x="8717645" y="2331720"/>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7373" y="2331720"/>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What to promote or retire</a:t>
            </a:r>
          </a:p>
        </p:txBody>
      </p:sp>
      <p:sp>
        <p:nvSpPr>
          <p:cNvPr id="23" name="Rectangle 22"/>
          <p:cNvSpPr/>
          <p:nvPr/>
        </p:nvSpPr>
        <p:spPr>
          <a:xfrm>
            <a:off x="777240" y="2898648"/>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98648"/>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Engagement</a:t>
            </a:r>
          </a:p>
        </p:txBody>
      </p:sp>
      <p:sp>
        <p:nvSpPr>
          <p:cNvPr id="25" name="Rectangle 24"/>
          <p:cNvSpPr/>
          <p:nvPr/>
        </p:nvSpPr>
        <p:spPr>
          <a:xfrm>
            <a:off x="3329513" y="2898648"/>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39241" y="2898648"/>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Time on page, comments, reactions, return visits</a:t>
            </a:r>
          </a:p>
        </p:txBody>
      </p:sp>
      <p:sp>
        <p:nvSpPr>
          <p:cNvPr id="27" name="Rectangle 26"/>
          <p:cNvSpPr/>
          <p:nvPr/>
        </p:nvSpPr>
        <p:spPr>
          <a:xfrm>
            <a:off x="6023579" y="2898648"/>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33307" y="2898648"/>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Analytics sample, comments</a:t>
            </a:r>
          </a:p>
        </p:txBody>
      </p:sp>
      <p:sp>
        <p:nvSpPr>
          <p:cNvPr id="29" name="Rectangle 28"/>
          <p:cNvSpPr/>
          <p:nvPr/>
        </p:nvSpPr>
        <p:spPr>
          <a:xfrm>
            <a:off x="8717645" y="2898648"/>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27373" y="2898648"/>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Which formats work</a:t>
            </a:r>
          </a:p>
        </p:txBody>
      </p:sp>
      <p:sp>
        <p:nvSpPr>
          <p:cNvPr id="31" name="Rectangle 30"/>
          <p:cNvSpPr/>
          <p:nvPr/>
        </p:nvSpPr>
        <p:spPr>
          <a:xfrm>
            <a:off x="777240" y="3465576"/>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465576"/>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Freshness</a:t>
            </a:r>
          </a:p>
        </p:txBody>
      </p:sp>
      <p:sp>
        <p:nvSpPr>
          <p:cNvPr id="33" name="Rectangle 32"/>
          <p:cNvSpPr/>
          <p:nvPr/>
        </p:nvSpPr>
        <p:spPr>
          <a:xfrm>
            <a:off x="3329513" y="3465576"/>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3465576"/>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Verified pages, pages past expiry, last edited age</a:t>
            </a:r>
          </a:p>
        </p:txBody>
      </p:sp>
      <p:sp>
        <p:nvSpPr>
          <p:cNvPr id="35" name="Rectangle 34"/>
          <p:cNvSpPr/>
          <p:nvPr/>
        </p:nvSpPr>
        <p:spPr>
          <a:xfrm>
            <a:off x="6023579" y="3465576"/>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3307" y="3465576"/>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Wiki verification view</a:t>
            </a:r>
          </a:p>
        </p:txBody>
      </p:sp>
      <p:sp>
        <p:nvSpPr>
          <p:cNvPr id="37" name="Rectangle 36"/>
          <p:cNvSpPr/>
          <p:nvPr/>
        </p:nvSpPr>
        <p:spPr>
          <a:xfrm>
            <a:off x="8717645" y="3465576"/>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27373" y="3465576"/>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Review priorities</a:t>
            </a:r>
          </a:p>
        </p:txBody>
      </p:sp>
      <p:sp>
        <p:nvSpPr>
          <p:cNvPr id="39" name="Rectangle 38"/>
          <p:cNvSpPr/>
          <p:nvPr/>
        </p:nvSpPr>
        <p:spPr>
          <a:xfrm>
            <a:off x="777240" y="4032504"/>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032504"/>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Throughput</a:t>
            </a:r>
          </a:p>
        </p:txBody>
      </p:sp>
      <p:sp>
        <p:nvSpPr>
          <p:cNvPr id="41" name="Rectangle 40"/>
          <p:cNvSpPr/>
          <p:nvPr/>
        </p:nvSpPr>
        <p:spPr>
          <a:xfrm>
            <a:off x="3329513" y="4032504"/>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39241" y="4032504"/>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Items published per week, cycle time draft → published</a:t>
            </a:r>
          </a:p>
        </p:txBody>
      </p:sp>
      <p:sp>
        <p:nvSpPr>
          <p:cNvPr id="43" name="Rectangle 42"/>
          <p:cNvSpPr/>
          <p:nvPr/>
        </p:nvSpPr>
        <p:spPr>
          <a:xfrm>
            <a:off x="6023579" y="4032504"/>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33307" y="4032504"/>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Content Calendar rollups</a:t>
            </a:r>
          </a:p>
        </p:txBody>
      </p:sp>
      <p:sp>
        <p:nvSpPr>
          <p:cNvPr id="45" name="Rectangle 44"/>
          <p:cNvSpPr/>
          <p:nvPr/>
        </p:nvSpPr>
        <p:spPr>
          <a:xfrm>
            <a:off x="8717645" y="4032504"/>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27373" y="4032504"/>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Capacity planning</a:t>
            </a:r>
          </a:p>
        </p:txBody>
      </p:sp>
      <p:sp>
        <p:nvSpPr>
          <p:cNvPr id="47" name="Rectangle 46"/>
          <p:cNvSpPr/>
          <p:nvPr/>
        </p:nvSpPr>
        <p:spPr>
          <a:xfrm>
            <a:off x="777240" y="4599432"/>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599432"/>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Quality</a:t>
            </a:r>
          </a:p>
        </p:txBody>
      </p:sp>
      <p:sp>
        <p:nvSpPr>
          <p:cNvPr id="49" name="Rectangle 48"/>
          <p:cNvSpPr/>
          <p:nvPr/>
        </p:nvSpPr>
        <p:spPr>
          <a:xfrm>
            <a:off x="3329513" y="4599432"/>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9241" y="4599432"/>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Broken links, missing owners, search with no result</a:t>
            </a:r>
          </a:p>
        </p:txBody>
      </p:sp>
      <p:sp>
        <p:nvSpPr>
          <p:cNvPr id="51" name="Rectangle 50"/>
          <p:cNvSpPr/>
          <p:nvPr/>
        </p:nvSpPr>
        <p:spPr>
          <a:xfrm>
            <a:off x="6023579" y="4599432"/>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33307" y="4599432"/>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Search behaviour, audits</a:t>
            </a:r>
          </a:p>
        </p:txBody>
      </p:sp>
      <p:sp>
        <p:nvSpPr>
          <p:cNvPr id="53" name="Rectangle 52"/>
          <p:cNvSpPr/>
          <p:nvPr/>
        </p:nvSpPr>
        <p:spPr>
          <a:xfrm>
            <a:off x="8717645" y="4599432"/>
            <a:ext cx="2694066"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27373" y="4599432"/>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Curation backlog</a:t>
            </a:r>
          </a:p>
        </p:txBody>
      </p:sp>
      <p:sp>
        <p:nvSpPr>
          <p:cNvPr id="55" name="Rectangle 54"/>
          <p:cNvSpPr/>
          <p:nvPr/>
        </p:nvSpPr>
        <p:spPr>
          <a:xfrm>
            <a:off x="777240" y="5166360"/>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5166360"/>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Satisfaction</a:t>
            </a:r>
          </a:p>
        </p:txBody>
      </p:sp>
      <p:sp>
        <p:nvSpPr>
          <p:cNvPr id="57" name="Rectangle 56"/>
          <p:cNvSpPr/>
          <p:nvPr/>
        </p:nvSpPr>
        <p:spPr>
          <a:xfrm>
            <a:off x="3329513" y="5166360"/>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39241" y="5166360"/>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Feedback sentiment, FAQ deflection, support tickets</a:t>
            </a:r>
          </a:p>
        </p:txBody>
      </p:sp>
      <p:sp>
        <p:nvSpPr>
          <p:cNvPr id="59" name="Rectangle 58"/>
          <p:cNvSpPr/>
          <p:nvPr/>
        </p:nvSpPr>
        <p:spPr>
          <a:xfrm>
            <a:off x="6023579" y="5166360"/>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33307" y="5166360"/>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Visitor Feedback database</a:t>
            </a:r>
          </a:p>
        </p:txBody>
      </p:sp>
      <p:sp>
        <p:nvSpPr>
          <p:cNvPr id="61" name="Rectangle 60"/>
          <p:cNvSpPr/>
          <p:nvPr/>
        </p:nvSpPr>
        <p:spPr>
          <a:xfrm>
            <a:off x="8717645" y="5166360"/>
            <a:ext cx="2694066"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27373" y="5166360"/>
            <a:ext cx="2474610" cy="566928"/>
          </a:xfrm>
          <a:prstGeom prst="rect">
            <a:avLst/>
          </a:prstGeom>
          <a:noFill/>
        </p:spPr>
        <p:txBody>
          <a:bodyPr wrap="square" anchor="ctr">
            <a:spAutoFit/>
          </a:bodyPr>
          <a:lstStyle/>
          <a:p>
            <a:pPr algn="ctr">
              <a:spcAft>
                <a:spcPts val="400"/>
              </a:spcAft>
            </a:pPr>
            <a:r>
              <a:rPr sz="1100" b="0">
                <a:solidFill>
                  <a:srgbClr val="5B6372"/>
                </a:solidFill>
                <a:latin typeface="Arial"/>
              </a:rPr>
              <a:t>Experience improvements</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Help Centre Views by Week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WHAT THE DATA SHOWS</a:t>
            </a:r>
          </a:p>
        </p:txBody>
      </p:sp>
      <p:sp>
        <p:nvSpPr>
          <p:cNvPr id="11" name="TextBox 10"/>
          <p:cNvSpPr txBox="1"/>
          <p:nvPr/>
        </p:nvSpPr>
        <p:spPr>
          <a:xfrm>
            <a:off x="8778240" y="2560320"/>
            <a:ext cx="2377440" cy="2103120"/>
          </a:xfrm>
          <a:prstGeom prst="rect">
            <a:avLst/>
          </a:prstGeom>
          <a:noFill/>
        </p:spPr>
        <p:txBody>
          <a:bodyPr wrap="square" anchor="t">
            <a:spAutoFit/>
          </a:bodyPr>
          <a:lstStyle/>
          <a:p>
            <a:pPr algn="l">
              <a:spcAft>
                <a:spcPts val="400"/>
              </a:spcAft>
            </a:pPr>
            <a:r>
              <a:rPr sz="1250" b="0">
                <a:solidFill>
                  <a:srgbClr val="161B26"/>
                </a:solidFill>
                <a:latin typeface="Arial"/>
              </a:rPr>
              <a:t>Views more than doubled over twelve weeks after the Help Centre was published and indexed; unique visitors grew in step, so growth is new readers, not repeat traffic. The metrics dashboard in Lab 10 charts this from page-analytics-sample.csv.</a:t>
            </a:r>
          </a:p>
        </p:txBody>
      </p:sp>
      <p:sp>
        <p:nvSpPr>
          <p:cNvPr id="12" name="Rectangle 11"/>
          <p:cNvSpPr/>
          <p:nvPr/>
        </p:nvSpPr>
        <p:spPr>
          <a:xfrm>
            <a:off x="8732520" y="475488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91947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919472"/>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846320"/>
            <a:ext cx="2103120" cy="1005840"/>
          </a:xfrm>
          <a:prstGeom prst="rect">
            <a:avLst/>
          </a:prstGeom>
          <a:noFill/>
        </p:spPr>
        <p:txBody>
          <a:bodyPr wrap="square" anchor="t">
            <a:spAutoFit/>
          </a:bodyPr>
          <a:lstStyle/>
          <a:p>
            <a:pPr algn="l">
              <a:spcAft>
                <a:spcPts val="100"/>
              </a:spcAft>
            </a:pPr>
            <a:r>
              <a:rPr sz="950" b="0">
                <a:solidFill>
                  <a:srgbClr val="5B6372"/>
                </a:solidFill>
                <a:latin typeface="Arial"/>
              </a:rPr>
              <a:t>Native PowerPoint chart · editable data · indicative teaching figures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 LAB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Share, Set Permissions, Publish the Help Centre and Read Page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10</a:t>
            </a:r>
          </a:p>
        </p:txBody>
      </p:sp>
      <p:sp>
        <p:nvSpPr>
          <p:cNvPr id="9" name="Rectangle 8"/>
          <p:cNvSpPr/>
          <p:nvPr/>
        </p:nvSpPr>
        <p:spPr>
          <a:xfrm>
            <a:off x="2286000" y="1691640"/>
            <a:ext cx="155448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554480" cy="365760"/>
          </a:xfrm>
          <a:prstGeom prst="rect">
            <a:avLst/>
          </a:prstGeom>
          <a:noFill/>
        </p:spPr>
        <p:txBody>
          <a:bodyPr wrap="square" anchor="t">
            <a:spAutoFit/>
          </a:bodyPr>
          <a:lstStyle/>
          <a:p>
            <a:pPr algn="ctr">
              <a:spcAft>
                <a:spcPts val="400"/>
              </a:spcAft>
            </a:pPr>
            <a:r>
              <a:rPr sz="1300" b="1">
                <a:solidFill>
                  <a:srgbClr val="5B6372"/>
                </a:solidFill>
                <a:latin typeface="Arial"/>
              </a:rPr>
              <a:t>K6 · A5</a:t>
            </a:r>
          </a:p>
        </p:txBody>
      </p:sp>
      <p:sp>
        <p:nvSpPr>
          <p:cNvPr id="11" name="Rectangle 10"/>
          <p:cNvSpPr/>
          <p:nvPr/>
        </p:nvSpPr>
        <p:spPr>
          <a:xfrm>
            <a:off x="3977639"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25 min</a:t>
            </a:r>
          </a:p>
        </p:txBody>
      </p:sp>
      <p:sp>
        <p:nvSpPr>
          <p:cNvPr id="13" name="TextBox 12"/>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apply the supplied access matrix with members, guests, groups and teamspaces, lock the policy pages, publish the Help Centre to the web with search indexing and a public home page, then read page analytics and build a metrics dashboard from the supplied analytics sample so you can report on views, visitors and engagement.</a:t>
            </a:r>
          </a:p>
        </p:txBody>
      </p:sp>
      <p:sp>
        <p:nvSpPr>
          <p:cNvPr id="14" name="Rectangle 13"/>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7" name="TextBox 16"/>
          <p:cNvSpPr txBox="1"/>
          <p:nvPr/>
        </p:nvSpPr>
        <p:spPr>
          <a:xfrm>
            <a:off x="1005840" y="4526280"/>
            <a:ext cx="10149840" cy="731520"/>
          </a:xfrm>
          <a:prstGeom prst="rect">
            <a:avLst/>
          </a:prstGeom>
          <a:noFill/>
        </p:spPr>
        <p:txBody>
          <a:bodyPr wrap="square" anchor="t">
            <a:spAutoFit/>
          </a:bodyPr>
          <a:lstStyle/>
          <a:p>
            <a:pPr algn="l">
              <a:spcAft>
                <a:spcPts val="400"/>
              </a:spcAft>
            </a:pPr>
            <a:r>
              <a:rPr sz="1600" b="1">
                <a:solidFill>
                  <a:srgbClr val="161B26"/>
                </a:solidFill>
                <a:latin typeface="Arial"/>
              </a:rPr>
              <a:t>A permission model matching the access matrix, a published Help Centre site, a page-analytics reading and a content metrics dashboard with a chart</a:t>
            </a:r>
          </a:p>
        </p:txBody>
      </p:sp>
      <p:sp>
        <p:nvSpPr>
          <p:cNvPr id="18" name="TextBox 17"/>
          <p:cNvSpPr txBox="1"/>
          <p:nvPr/>
        </p:nvSpPr>
        <p:spPr>
          <a:xfrm>
            <a:off x="1005840" y="52852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Notion sharing, teamspaces, Publish to web, page analytics, chart view</a:t>
            </a:r>
          </a:p>
        </p:txBody>
      </p:sp>
      <p:sp>
        <p:nvSpPr>
          <p:cNvPr id="19" name="Rectangle 18"/>
          <p:cNvSpPr/>
          <p:nvPr/>
        </p:nvSpPr>
        <p:spPr>
          <a:xfrm>
            <a:off x="777240"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89788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89788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K6 · A5</a:t>
            </a:r>
          </a:p>
        </p:txBody>
      </p:sp>
      <p:sp>
        <p:nvSpPr>
          <p:cNvPr id="22" name="Rectangle 21"/>
          <p:cNvSpPr/>
          <p:nvPr/>
        </p:nvSpPr>
        <p:spPr>
          <a:xfrm>
            <a:off x="4407408"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589788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89788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5" name="Rectangle 24"/>
          <p:cNvSpPr/>
          <p:nvPr/>
        </p:nvSpPr>
        <p:spPr>
          <a:xfrm>
            <a:off x="8037576"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7576" y="589788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589788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Screenshots · lab README checklist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Prepare</a:t>
            </a:r>
          </a:p>
        </p:txBody>
      </p:sp>
      <p:sp>
        <p:nvSpPr>
          <p:cNvPr id="12" name="TextBox 11"/>
          <p:cNvSpPr txBox="1"/>
          <p:nvPr/>
        </p:nvSpPr>
        <p:spPr>
          <a:xfrm>
            <a:off x="905256"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Apply the access matrix</a:t>
            </a:r>
          </a:p>
        </p:txBody>
      </p:sp>
      <p:sp>
        <p:nvSpPr>
          <p:cNvPr id="13" name="Rectangle 12"/>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8174"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817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4053078"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Build</a:t>
            </a:r>
          </a:p>
        </p:txBody>
      </p:sp>
      <p:sp>
        <p:nvSpPr>
          <p:cNvPr id="20" name="TextBox 19"/>
          <p:cNvSpPr txBox="1"/>
          <p:nvPr/>
        </p:nvSpPr>
        <p:spPr>
          <a:xfrm>
            <a:off x="3678174"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Create teamspaces and lock pages</a:t>
            </a:r>
          </a:p>
        </p:txBody>
      </p:sp>
      <p:sp>
        <p:nvSpPr>
          <p:cNvPr id="21" name="Rectangle 20"/>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1092"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0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6825996"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28" name="TextBox 27"/>
          <p:cNvSpPr txBox="1"/>
          <p:nvPr/>
        </p:nvSpPr>
        <p:spPr>
          <a:xfrm>
            <a:off x="6451092"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Publish the Help Centre</a:t>
            </a:r>
          </a:p>
        </p:txBody>
      </p:sp>
      <p:sp>
        <p:nvSpPr>
          <p:cNvPr id="29" name="Rectangle 28"/>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24010"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401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9598914"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36" name="TextBox 35"/>
          <p:cNvSpPr txBox="1"/>
          <p:nvPr/>
        </p:nvSpPr>
        <p:spPr>
          <a:xfrm>
            <a:off x="9224010"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Read and chart analytics</a:t>
            </a:r>
          </a:p>
        </p:txBody>
      </p:sp>
      <p:sp>
        <p:nvSpPr>
          <p:cNvPr id="37" name="Rectangle 36"/>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 the full click-by-click procedure is in the Learner Guide (Lab 10) and the lab's instruction PDF.</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Share, Set Permissions, Publish the Help Centre and Read Page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058400" cy="457200"/>
          </a:xfrm>
          <a:prstGeom prst="rect">
            <a:avLst/>
          </a:prstGeom>
          <a:noFill/>
        </p:spPr>
        <p:txBody>
          <a:bodyPr wrap="square" anchor="t">
            <a:spAutoFit/>
          </a:bodyPr>
          <a:lstStyle/>
          <a:p>
            <a:pPr algn="l">
              <a:spcAft>
                <a:spcPts val="400"/>
              </a:spcAft>
            </a:pPr>
            <a:r>
              <a:rPr sz="1800" b="1">
                <a:solidFill>
                  <a:srgbClr val="127A3E"/>
                </a:solidFill>
                <a:latin typeface="Arial"/>
              </a:rPr>
              <a:t>✅  Acceptance check</a:t>
            </a:r>
          </a:p>
        </p:txBody>
      </p:sp>
      <p:sp>
        <p:nvSpPr>
          <p:cNvPr id="10" name="TextBox 9"/>
          <p:cNvSpPr txBox="1"/>
          <p:nvPr/>
        </p:nvSpPr>
        <p:spPr>
          <a:xfrm>
            <a:off x="1097280" y="2743200"/>
            <a:ext cx="10149840" cy="1737360"/>
          </a:xfrm>
          <a:prstGeom prst="rect">
            <a:avLst/>
          </a:prstGeom>
          <a:noFill/>
        </p:spPr>
        <p:txBody>
          <a:bodyPr wrap="square" anchor="t">
            <a:spAutoFit/>
          </a:bodyPr>
          <a:lstStyle/>
          <a:p>
            <a:pPr algn="l">
              <a:spcAft>
                <a:spcPts val="400"/>
              </a:spcAft>
            </a:pPr>
            <a:r>
              <a:rPr sz="1500" b="0">
                <a:solidFill>
                  <a:srgbClr val="161B26"/>
                </a:solidFill>
                <a:latin typeface="Arial"/>
              </a:rPr>
              <a:t>Sharing matches access-matrix.csv (member, guest, Editors group, closed Client Work teamspace), the policy page is locked, the Help Centre opens at a public notion.site URL with indexing on and duplication off, page analytics show views and unique visitors, and Content Metrics has two chart views and an Engagement formula.</a:t>
            </a:r>
          </a:p>
        </p:txBody>
      </p:sp>
      <p:sp>
        <p:nvSpPr>
          <p:cNvPr id="11" name="Rectangle 10"/>
          <p:cNvSpPr/>
          <p:nvPr/>
        </p:nvSpPr>
        <p:spPr>
          <a:xfrm>
            <a:off x="777240" y="4754880"/>
            <a:ext cx="1069848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5488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6" name="TextBox 15"/>
          <p:cNvSpPr txBox="1"/>
          <p:nvPr/>
        </p:nvSpPr>
        <p:spPr>
          <a:xfrm>
            <a:off x="146304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Re-read the step: most misses are the page menu (top right) versus the block handle (left of a block).</a:t>
            </a:r>
          </a:p>
        </p:txBody>
      </p:sp>
      <p:sp>
        <p:nvSpPr>
          <p:cNvPr id="17" name="Oval 16"/>
          <p:cNvSpPr/>
          <p:nvPr/>
        </p:nvSpPr>
        <p:spPr>
          <a:xfrm>
            <a:off x="461772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9" name="TextBox 18"/>
          <p:cNvSpPr txBox="1"/>
          <p:nvPr/>
        </p:nvSpPr>
        <p:spPr>
          <a:xfrm>
            <a:off x="498348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Check you are in the right page or teamspace — the sidebar shows the path.</a:t>
            </a:r>
          </a:p>
        </p:txBody>
      </p:sp>
      <p:sp>
        <p:nvSpPr>
          <p:cNvPr id="20" name="Oval 19"/>
          <p:cNvSpPr/>
          <p:nvPr/>
        </p:nvSpPr>
        <p:spPr>
          <a:xfrm>
            <a:off x="813816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22" name="TextBox 21"/>
          <p:cNvSpPr txBox="1"/>
          <p:nvPr/>
        </p:nvSpPr>
        <p:spPr>
          <a:xfrm>
            <a:off x="850392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Full click-by-click steps: Learner Guide and the lab's instruction PDF.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 · LU4 · A6 · K9</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Data Management and Integrations</a:t>
            </a:r>
          </a:p>
        </p:txBody>
      </p:sp>
      <p:sp>
        <p:nvSpPr>
          <p:cNvPr id="7" name="TextBox 6"/>
          <p:cNvSpPr txBox="1"/>
          <p:nvPr/>
        </p:nvSpPr>
        <p:spPr>
          <a:xfrm>
            <a:off x="1161288" y="4343400"/>
            <a:ext cx="9692640" cy="1188720"/>
          </a:xfrm>
          <a:prstGeom prst="rect">
            <a:avLst/>
          </a:prstGeom>
          <a:noFill/>
        </p:spPr>
        <p:txBody>
          <a:bodyPr wrap="square" anchor="t">
            <a:spAutoFit/>
          </a:bodyPr>
          <a:lstStyle/>
          <a:p>
            <a:pPr algn="l">
              <a:spcAft>
                <a:spcPts val="400"/>
              </a:spcAft>
            </a:pPr>
            <a:r>
              <a:rPr sz="1400" b="0">
                <a:solidFill>
                  <a:srgbClr val="5B6372"/>
                </a:solidFill>
                <a:latin typeface="Arial"/>
              </a:rPr>
              <a:t>Importing data into Notion · embedding and connecting apps · the Notion API · exporting content and data integrity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advClick="1">
    <p:push dir="l"/>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Key Concepts — Data Management and Integrations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Import from anywhere</a:t>
            </a:r>
          </a:p>
          <a:p>
            <a:pPr algn="l">
              <a:spcAft>
                <a:spcPts val="200"/>
              </a:spcAft>
            </a:pPr>
            <a:r>
              <a:rPr sz="1000" b="0">
                <a:solidFill>
                  <a:srgbClr val="5B6372"/>
                </a:solidFill>
                <a:latin typeface="Arial"/>
              </a:rPr>
              <a:t>Import Confluence, Evernote, Trello, Asana, Google Docs, Word, Excel, CSV, Markdown and HTML; CSV becomes a database with typed properties.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Embeds</a:t>
            </a:r>
          </a:p>
          <a:p>
            <a:pPr algn="l">
              <a:spcAft>
                <a:spcPts val="200"/>
              </a:spcAft>
            </a:pPr>
            <a:r>
              <a:rPr sz="1000" b="0">
                <a:solidFill>
                  <a:srgbClr val="5B6372"/>
                </a:solidFill>
                <a:latin typeface="Arial"/>
              </a:rPr>
              <a:t>Paste a link to embed Google Drive, Maps, Figma, Loom, YouTube, PDFs, Typeform, GitHub gists and 1,900+ other sources inside a page.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Connections and link previews</a:t>
            </a:r>
          </a:p>
          <a:p>
            <a:pPr algn="l">
              <a:spcAft>
                <a:spcPts val="200"/>
              </a:spcAft>
            </a:pPr>
            <a:r>
              <a:rPr sz="1000" b="0">
                <a:solidFill>
                  <a:srgbClr val="5B6372"/>
                </a:solidFill>
                <a:latin typeface="Arial"/>
              </a:rPr>
              <a:t>Connect Slack, GitHub, Jira, Google Drive, Zoom and more; pasted links unfurl into live previews and synced databases mirror external issues.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The Notion API</a:t>
            </a:r>
          </a:p>
          <a:p>
            <a:pPr algn="l">
              <a:spcAft>
                <a:spcPts val="200"/>
              </a:spcAft>
            </a:pPr>
            <a:r>
              <a:rPr sz="1000" b="0">
                <a:solidFill>
                  <a:srgbClr val="5B6372"/>
                </a:solidFill>
                <a:latin typeface="Arial"/>
              </a:rPr>
              <a:t>An integration with a token calls api.notion.com to create pages, query data sources, update properties and search — the basis for Zapier, Make and custom plug-ins.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Data model in the API</a:t>
            </a:r>
          </a:p>
          <a:p>
            <a:pPr algn="l">
              <a:spcAft>
                <a:spcPts val="200"/>
              </a:spcAft>
            </a:pPr>
            <a:r>
              <a:rPr sz="1000" b="0">
                <a:solidFill>
                  <a:srgbClr val="5B6372"/>
                </a:solidFill>
                <a:latin typeface="Arial"/>
              </a:rPr>
              <a:t>A database object holds one or more data sources; each data source has a schema of properties and rows that are pages (API version 2025-09-03).</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Export and integrity</a:t>
            </a:r>
          </a:p>
          <a:p>
            <a:pPr algn="l">
              <a:spcAft>
                <a:spcPts val="200"/>
              </a:spcAft>
            </a:pPr>
            <a:r>
              <a:rPr sz="1000" b="0">
                <a:solidFill>
                  <a:srgbClr val="5B6372"/>
                </a:solidFill>
                <a:latin typeface="Arial"/>
              </a:rPr>
              <a:t>Export a page or the whole workspace as PDF, HTML or Markdown + CSV; keep backups, page history and the trash policy in the content plan.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BRING IT 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Import Data into Notion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port.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Sources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Confluence, Evernote, Trello, Asana, Google Docs, Word, Excel, CSV, Markdown, HTML, Quip, Dropbox Paper.</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CSV → database</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Each column becomes a property; fix the types afterwards (Select, Date, Person).</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Documents → pages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Word and Markdown become pages with headings and images preserved.</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Migration plan</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Import into a staging teamspace, clean up, then move into the final structure.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PLUG-INS AND EMBEDS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Embed and Connect Other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238375"/>
            <a:ext cx="6073140" cy="3432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mbeds.jpg"/>
          <p:cNvPicPr>
            <a:picLocks noChangeAspect="1"/>
          </p:cNvPicPr>
          <p:nvPr/>
        </p:nvPicPr>
        <p:blipFill>
          <a:blip r:embed="rId2"/>
          <a:stretch>
            <a:fillRect/>
          </a:stretch>
        </p:blipFill>
        <p:spPr>
          <a:xfrm>
            <a:off x="777240" y="2257425"/>
            <a:ext cx="6035040" cy="339471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1,900+ embeds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Paste a link → Embed for Google Drive, Maps, Figma, Loom, YouTube, PDFs, Typeform, Miro, GitHub gists.</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Connections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Slack, GitHub, Jira, Asana, Google Drive, Zoom, Zendesk — authorised per user or per workspace.</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Link previews and synced databases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Pasted links unfurl; Jira, GitHub and Asana boards can sync as live databases.</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Marketplace</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Zapier, Make, Super, Notion Calendar, Web Clipper and thousands of community tools extend Notion.</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BUILD YOUR OWN PLUG-IN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Notion API and Integrations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nternal-integration.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Create an integration</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notion.so/profile/integrations → New; internal (your workspace) or public (OAuth).</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Capabilities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Read, update, insert content; read comments; read user information — least privilege.</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Connect to pages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A page or database must be connected to the integration before the API can see it.</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Base URL and version</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https://api.notion.com/v1 with a Notion-Version header (2025-09-03 introduces data sources).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OBJECTS YOU WILL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API Data Model (Version 2025-09-03)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Object</a:t>
            </a:r>
          </a:p>
        </p:txBody>
      </p:sp>
      <p:sp>
        <p:nvSpPr>
          <p:cNvPr id="9" name="Rectangle 8"/>
          <p:cNvSpPr/>
          <p:nvPr/>
        </p:nvSpPr>
        <p:spPr>
          <a:xfrm>
            <a:off x="3329513"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What it is</a:t>
            </a:r>
          </a:p>
        </p:txBody>
      </p:sp>
      <p:sp>
        <p:nvSpPr>
          <p:cNvPr id="11" name="Rectangle 10"/>
          <p:cNvSpPr/>
          <p:nvPr/>
        </p:nvSpPr>
        <p:spPr>
          <a:xfrm>
            <a:off x="6023579"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33307"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Key fields</a:t>
            </a:r>
          </a:p>
        </p:txBody>
      </p:sp>
      <p:sp>
        <p:nvSpPr>
          <p:cNvPr id="13" name="Rectangle 12"/>
          <p:cNvSpPr/>
          <p:nvPr/>
        </p:nvSpPr>
        <p:spPr>
          <a:xfrm>
            <a:off x="8717645"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7373"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Endpoint examples</a:t>
            </a:r>
          </a:p>
        </p:txBody>
      </p:sp>
      <p:sp>
        <p:nvSpPr>
          <p:cNvPr id="15" name="Rectangle 14"/>
          <p:cNvSpPr/>
          <p:nvPr/>
        </p:nvSpPr>
        <p:spPr>
          <a:xfrm>
            <a:off x="777240" y="233172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317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Database</a:t>
            </a:r>
          </a:p>
        </p:txBody>
      </p:sp>
      <p:sp>
        <p:nvSpPr>
          <p:cNvPr id="17" name="Rectangle 16"/>
          <p:cNvSpPr/>
          <p:nvPr/>
        </p:nvSpPr>
        <p:spPr>
          <a:xfrm>
            <a:off x="3329513" y="233172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9241" y="23317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Container of one or more data sources; inline or full page</a:t>
            </a:r>
          </a:p>
        </p:txBody>
      </p:sp>
      <p:sp>
        <p:nvSpPr>
          <p:cNvPr id="19" name="Rectangle 18"/>
          <p:cNvSpPr/>
          <p:nvPr/>
        </p:nvSpPr>
        <p:spPr>
          <a:xfrm>
            <a:off x="6023579" y="233172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3307" y="23317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id, title, data_sources[], is_inline, public_url, in_trash</a:t>
            </a:r>
          </a:p>
        </p:txBody>
      </p:sp>
      <p:sp>
        <p:nvSpPr>
          <p:cNvPr id="21" name="Rectangle 20"/>
          <p:cNvSpPr/>
          <p:nvPr/>
        </p:nvSpPr>
        <p:spPr>
          <a:xfrm>
            <a:off x="8717645" y="233172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7373" y="23317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GET /databases/{id}</a:t>
            </a:r>
          </a:p>
        </p:txBody>
      </p:sp>
      <p:sp>
        <p:nvSpPr>
          <p:cNvPr id="23" name="Rectangle 22"/>
          <p:cNvSpPr/>
          <p:nvPr/>
        </p:nvSpPr>
        <p:spPr>
          <a:xfrm>
            <a:off x="777240" y="288798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8798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Data source</a:t>
            </a:r>
          </a:p>
        </p:txBody>
      </p:sp>
      <p:sp>
        <p:nvSpPr>
          <p:cNvPr id="25" name="Rectangle 24"/>
          <p:cNvSpPr/>
          <p:nvPr/>
        </p:nvSpPr>
        <p:spPr>
          <a:xfrm>
            <a:off x="3329513" y="288798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39241" y="288798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The schema (properties) and its rows</a:t>
            </a:r>
          </a:p>
        </p:txBody>
      </p:sp>
      <p:sp>
        <p:nvSpPr>
          <p:cNvPr id="27" name="Rectangle 26"/>
          <p:cNvSpPr/>
          <p:nvPr/>
        </p:nvSpPr>
        <p:spPr>
          <a:xfrm>
            <a:off x="6023579" y="288798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33307" y="288798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id, properties, parent database</a:t>
            </a:r>
          </a:p>
        </p:txBody>
      </p:sp>
      <p:sp>
        <p:nvSpPr>
          <p:cNvPr id="29" name="Rectangle 28"/>
          <p:cNvSpPr/>
          <p:nvPr/>
        </p:nvSpPr>
        <p:spPr>
          <a:xfrm>
            <a:off x="8717645" y="288798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27373" y="288798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GET /data_sources/{id}, POST /data_sources/{id}/query</a:t>
            </a:r>
          </a:p>
        </p:txBody>
      </p:sp>
      <p:sp>
        <p:nvSpPr>
          <p:cNvPr id="31" name="Rectangle 30"/>
          <p:cNvSpPr/>
          <p:nvPr/>
        </p:nvSpPr>
        <p:spPr>
          <a:xfrm>
            <a:off x="777240" y="344424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44424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Page</a:t>
            </a:r>
          </a:p>
        </p:txBody>
      </p:sp>
      <p:sp>
        <p:nvSpPr>
          <p:cNvPr id="33" name="Rectangle 32"/>
          <p:cNvSpPr/>
          <p:nvPr/>
        </p:nvSpPr>
        <p:spPr>
          <a:xfrm>
            <a:off x="3329513" y="344424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344424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A row of a data source, or a standalone page</a:t>
            </a:r>
          </a:p>
        </p:txBody>
      </p:sp>
      <p:sp>
        <p:nvSpPr>
          <p:cNvPr id="35" name="Rectangle 34"/>
          <p:cNvSpPr/>
          <p:nvPr/>
        </p:nvSpPr>
        <p:spPr>
          <a:xfrm>
            <a:off x="6023579" y="344424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3307" y="344424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id, properties, parent, url</a:t>
            </a:r>
          </a:p>
        </p:txBody>
      </p:sp>
      <p:sp>
        <p:nvSpPr>
          <p:cNvPr id="37" name="Rectangle 36"/>
          <p:cNvSpPr/>
          <p:nvPr/>
        </p:nvSpPr>
        <p:spPr>
          <a:xfrm>
            <a:off x="8717645" y="344424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27373" y="344424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POST /pages, PATCH /pages/{id}</a:t>
            </a:r>
          </a:p>
        </p:txBody>
      </p:sp>
      <p:sp>
        <p:nvSpPr>
          <p:cNvPr id="39" name="Rectangle 38"/>
          <p:cNvSpPr/>
          <p:nvPr/>
        </p:nvSpPr>
        <p:spPr>
          <a:xfrm>
            <a:off x="777240" y="400050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00050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Block</a:t>
            </a:r>
          </a:p>
        </p:txBody>
      </p:sp>
      <p:sp>
        <p:nvSpPr>
          <p:cNvPr id="41" name="Rectangle 40"/>
          <p:cNvSpPr/>
          <p:nvPr/>
        </p:nvSpPr>
        <p:spPr>
          <a:xfrm>
            <a:off x="3329513" y="400050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39241" y="400050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Content inside a page</a:t>
            </a:r>
          </a:p>
        </p:txBody>
      </p:sp>
      <p:sp>
        <p:nvSpPr>
          <p:cNvPr id="43" name="Rectangle 42"/>
          <p:cNvSpPr/>
          <p:nvPr/>
        </p:nvSpPr>
        <p:spPr>
          <a:xfrm>
            <a:off x="6023579" y="400050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33307" y="400050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type, has_children</a:t>
            </a:r>
          </a:p>
        </p:txBody>
      </p:sp>
      <p:sp>
        <p:nvSpPr>
          <p:cNvPr id="45" name="Rectangle 44"/>
          <p:cNvSpPr/>
          <p:nvPr/>
        </p:nvSpPr>
        <p:spPr>
          <a:xfrm>
            <a:off x="8717645" y="400050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27373" y="400050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GET /blocks/{id}/children</a:t>
            </a:r>
          </a:p>
        </p:txBody>
      </p:sp>
      <p:sp>
        <p:nvSpPr>
          <p:cNvPr id="47" name="Rectangle 46"/>
          <p:cNvSpPr/>
          <p:nvPr/>
        </p:nvSpPr>
        <p:spPr>
          <a:xfrm>
            <a:off x="777240" y="455676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55676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User</a:t>
            </a:r>
          </a:p>
        </p:txBody>
      </p:sp>
      <p:sp>
        <p:nvSpPr>
          <p:cNvPr id="49" name="Rectangle 48"/>
          <p:cNvSpPr/>
          <p:nvPr/>
        </p:nvSpPr>
        <p:spPr>
          <a:xfrm>
            <a:off x="3329513" y="455676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9241" y="455676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Person or bot</a:t>
            </a:r>
          </a:p>
        </p:txBody>
      </p:sp>
      <p:sp>
        <p:nvSpPr>
          <p:cNvPr id="51" name="Rectangle 50"/>
          <p:cNvSpPr/>
          <p:nvPr/>
        </p:nvSpPr>
        <p:spPr>
          <a:xfrm>
            <a:off x="6023579" y="455676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33307" y="455676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id, type, name</a:t>
            </a:r>
          </a:p>
        </p:txBody>
      </p:sp>
      <p:sp>
        <p:nvSpPr>
          <p:cNvPr id="53" name="Rectangle 52"/>
          <p:cNvSpPr/>
          <p:nvPr/>
        </p:nvSpPr>
        <p:spPr>
          <a:xfrm>
            <a:off x="8717645" y="455676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27373" y="455676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GET /users</a:t>
            </a:r>
          </a:p>
        </p:txBody>
      </p:sp>
      <p:sp>
        <p:nvSpPr>
          <p:cNvPr id="55" name="Rectangle 54"/>
          <p:cNvSpPr/>
          <p:nvPr/>
        </p:nvSpPr>
        <p:spPr>
          <a:xfrm>
            <a:off x="777240" y="511302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51130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Search</a:t>
            </a:r>
          </a:p>
        </p:txBody>
      </p:sp>
      <p:sp>
        <p:nvSpPr>
          <p:cNvPr id="57" name="Rectangle 56"/>
          <p:cNvSpPr/>
          <p:nvPr/>
        </p:nvSpPr>
        <p:spPr>
          <a:xfrm>
            <a:off x="3329513" y="511302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39241" y="51130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Find pages and data sources shared with the integration</a:t>
            </a:r>
          </a:p>
        </p:txBody>
      </p:sp>
      <p:sp>
        <p:nvSpPr>
          <p:cNvPr id="59" name="Rectangle 58"/>
          <p:cNvSpPr/>
          <p:nvPr/>
        </p:nvSpPr>
        <p:spPr>
          <a:xfrm>
            <a:off x="6023579" y="511302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33307" y="51130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query, filter</a:t>
            </a:r>
          </a:p>
        </p:txBody>
      </p:sp>
      <p:sp>
        <p:nvSpPr>
          <p:cNvPr id="61" name="Rectangle 60"/>
          <p:cNvSpPr/>
          <p:nvPr/>
        </p:nvSpPr>
        <p:spPr>
          <a:xfrm>
            <a:off x="8717645" y="511302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27373" y="51130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POST /search</a:t>
            </a:r>
          </a:p>
        </p:txBody>
      </p:sp>
      <p:sp>
        <p:nvSpPr>
          <p:cNvPr id="63" name="Rectangle 62"/>
          <p:cNvSpPr/>
          <p:nvPr/>
        </p:nvSpPr>
        <p:spPr>
          <a:xfrm>
            <a:off x="777240" y="5852160"/>
            <a:ext cx="10634472"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05840" y="5852160"/>
            <a:ext cx="10268712" cy="566928"/>
          </a:xfrm>
          <a:prstGeom prst="rect">
            <a:avLst/>
          </a:prstGeom>
          <a:noFill/>
        </p:spPr>
        <p:txBody>
          <a:bodyPr wrap="square" anchor="ctr">
            <a:spAutoFit/>
          </a:bodyPr>
          <a:lstStyle/>
          <a:p>
            <a:pPr algn="l">
              <a:spcAft>
                <a:spcPts val="400"/>
              </a:spcAft>
            </a:pPr>
            <a:r>
              <a:rPr sz="1100" b="1">
                <a:solidFill>
                  <a:srgbClr val="1F6FEB"/>
                </a:solidFill>
                <a:latin typeface="Arial"/>
              </a:rPr>
              <a:t>RULE   </a:t>
            </a:r>
            <a:r>
              <a:rPr sz="1250" b="0">
                <a:solidFill>
                  <a:srgbClr val="161B26"/>
                </a:solidFill>
                <a:latin typeface="Arial"/>
              </a:rPr>
              <a:t>Before 2025 a database had exactly one data source, so the two concepts were merged in the API — upgrade the version header to see the new shape.</a:t>
            </a:r>
          </a:p>
        </p:txBody>
      </p:sp>
      <p:sp>
        <p:nvSpPr>
          <p:cNvPr id="65" name="TextBox 6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66" name="TextBox 6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7" name="TextBox 6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QUERY, THEN CREATE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Calling the API from a Script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Token</a:t>
            </a:r>
          </a:p>
        </p:txBody>
      </p:sp>
      <p:sp>
        <p:nvSpPr>
          <p:cNvPr id="12" name="TextBox 11"/>
          <p:cNvSpPr txBox="1"/>
          <p:nvPr/>
        </p:nvSpPr>
        <p:spPr>
          <a:xfrm>
            <a:off x="905256"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Internal Integration Secret in .env — never in a page</a:t>
            </a:r>
          </a:p>
        </p:txBody>
      </p:sp>
      <p:sp>
        <p:nvSpPr>
          <p:cNvPr id="13" name="Rectangle 12"/>
          <p:cNvSpPr/>
          <p:nvPr/>
        </p:nvSpPr>
        <p:spPr>
          <a:xfrm>
            <a:off x="262067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73771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995574"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95574"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23590"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359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3498494"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Connect</a:t>
            </a:r>
          </a:p>
        </p:txBody>
      </p:sp>
      <p:sp>
        <p:nvSpPr>
          <p:cNvPr id="20" name="TextBox 19"/>
          <p:cNvSpPr txBox="1"/>
          <p:nvPr/>
        </p:nvSpPr>
        <p:spPr>
          <a:xfrm>
            <a:off x="3123590"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Database ⋯ → Connections → your integration</a:t>
            </a:r>
          </a:p>
        </p:txBody>
      </p:sp>
      <p:sp>
        <p:nvSpPr>
          <p:cNvPr id="21" name="Rectangle 20"/>
          <p:cNvSpPr/>
          <p:nvPr/>
        </p:nvSpPr>
        <p:spPr>
          <a:xfrm>
            <a:off x="483900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95604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13908"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13908"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341924"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192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5716828"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Query</a:t>
            </a:r>
          </a:p>
        </p:txBody>
      </p:sp>
      <p:sp>
        <p:nvSpPr>
          <p:cNvPr id="28" name="TextBox 27"/>
          <p:cNvSpPr txBox="1"/>
          <p:nvPr/>
        </p:nvSpPr>
        <p:spPr>
          <a:xfrm>
            <a:off x="5341924"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POST /v1/data_sources/{id}/query with a filter body</a:t>
            </a:r>
          </a:p>
        </p:txBody>
      </p:sp>
      <p:sp>
        <p:nvSpPr>
          <p:cNvPr id="29" name="Rectangle 28"/>
          <p:cNvSpPr/>
          <p:nvPr/>
        </p:nvSpPr>
        <p:spPr>
          <a:xfrm>
            <a:off x="7057338"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7174382"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432242"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32242"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60258"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60258"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7935162"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Create</a:t>
            </a:r>
          </a:p>
        </p:txBody>
      </p:sp>
      <p:sp>
        <p:nvSpPr>
          <p:cNvPr id="36" name="TextBox 35"/>
          <p:cNvSpPr txBox="1"/>
          <p:nvPr/>
        </p:nvSpPr>
        <p:spPr>
          <a:xfrm>
            <a:off x="7560258" y="3200400"/>
            <a:ext cx="1505102" cy="1005840"/>
          </a:xfrm>
          <a:prstGeom prst="rect">
            <a:avLst/>
          </a:prstGeom>
          <a:noFill/>
        </p:spPr>
        <p:txBody>
          <a:bodyPr wrap="square" anchor="t">
            <a:spAutoFit/>
          </a:bodyPr>
          <a:lstStyle/>
          <a:p>
            <a:pPr algn="l">
              <a:spcAft>
                <a:spcPts val="400"/>
              </a:spcAft>
            </a:pPr>
            <a:r>
              <a:rPr sz="1100" b="0">
                <a:solidFill>
                  <a:srgbClr val="5B6372"/>
                </a:solidFill>
                <a:latin typeface="Arial"/>
              </a:rPr>
              <a:t>POST /v1/pages with parent + properties</a:t>
            </a:r>
          </a:p>
        </p:txBody>
      </p:sp>
      <p:sp>
        <p:nvSpPr>
          <p:cNvPr id="37" name="Rectangle 36"/>
          <p:cNvSpPr/>
          <p:nvPr/>
        </p:nvSpPr>
        <p:spPr>
          <a:xfrm>
            <a:off x="92756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93927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50576"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0576"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778592"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785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43" name="TextBox 42"/>
          <p:cNvSpPr txBox="1"/>
          <p:nvPr/>
        </p:nvSpPr>
        <p:spPr>
          <a:xfrm>
            <a:off x="10153496"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44" name="TextBox 43"/>
          <p:cNvSpPr txBox="1"/>
          <p:nvPr/>
        </p:nvSpPr>
        <p:spPr>
          <a:xfrm>
            <a:off x="9778592"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Refresh the database — the new row appears</a:t>
            </a:r>
          </a:p>
        </p:txBody>
      </p:sp>
      <p:sp>
        <p:nvSpPr>
          <p:cNvPr id="45" name="Rectangle 44"/>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Automation platforms (Zapier, Make, n8n) call the same endpoints — knowing them lets you evaluate any plug-in's claims.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INTEGRITY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Export Your Content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xport-workspace.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Per page</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 → Export as PDF, HTML or Markdown &amp; CSV, with or without sub-pages.</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Whole workspace</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Settings → Export all workspace content (owners) — a ZIP with every database as CSV.</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Backups and history</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Notion keeps backups; page history and Trash (30 days) cover everyday mistakes.</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Policy</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Schedule a quarterly export, store it outside Notion, and record the date in the export checklist.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A6 · RECOMMEND WITH EVIDENCE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Recommending Plug-ins — Evaluation Criteria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Job to be done</a:t>
            </a:r>
          </a:p>
          <a:p>
            <a:pPr algn="l">
              <a:spcAft>
                <a:spcPts val="200"/>
              </a:spcAft>
            </a:pPr>
            <a:r>
              <a:rPr sz="1100" b="0">
                <a:solidFill>
                  <a:srgbClr val="5B6372"/>
                </a:solidFill>
                <a:latin typeface="Arial"/>
              </a:rPr>
              <a:t>Which content task does it remove or speed up? Name the workflow and the owner.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Data and permissions</a:t>
            </a:r>
          </a:p>
          <a:p>
            <a:pPr algn="l">
              <a:spcAft>
                <a:spcPts val="200"/>
              </a:spcAft>
            </a:pPr>
            <a:r>
              <a:rPr sz="1100" b="0">
                <a:solidFill>
                  <a:srgbClr val="5B6372"/>
                </a:solidFill>
                <a:latin typeface="Arial"/>
              </a:rPr>
              <a:t>What can it read or write? Prefer least-privilege capabilities and page-level connections.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Cost and plan</a:t>
            </a:r>
          </a:p>
          <a:p>
            <a:pPr algn="l">
              <a:spcAft>
                <a:spcPts val="200"/>
              </a:spcAft>
            </a:pPr>
            <a:r>
              <a:rPr sz="1100" b="0">
                <a:solidFill>
                  <a:srgbClr val="5B6372"/>
                </a:solidFill>
                <a:latin typeface="Arial"/>
              </a:rPr>
              <a:t>Free, per-user or per-task pricing, and whether it needs a Notion plan upgrade.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Maintenance</a:t>
            </a:r>
          </a:p>
          <a:p>
            <a:pPr algn="l">
              <a:spcAft>
                <a:spcPts val="200"/>
              </a:spcAft>
            </a:pPr>
            <a:r>
              <a:rPr sz="1100" b="0">
                <a:solidFill>
                  <a:srgbClr val="5B6372"/>
                </a:solidFill>
                <a:latin typeface="Arial"/>
              </a:rPr>
              <a:t>Who owns the connection, how are tokens rotated, what breaks when someone leaves?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Security and compliance</a:t>
            </a:r>
          </a:p>
          <a:p>
            <a:pPr algn="l">
              <a:spcAft>
                <a:spcPts val="200"/>
              </a:spcAft>
            </a:pPr>
            <a:r>
              <a:rPr sz="1100" b="0">
                <a:solidFill>
                  <a:srgbClr val="5B6372"/>
                </a:solidFill>
                <a:latin typeface="Arial"/>
              </a:rPr>
              <a:t>Vendor security page, data residency, SOC 2 — required for client data.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Exit path</a:t>
            </a:r>
          </a:p>
          <a:p>
            <a:pPr algn="l">
              <a:spcAft>
                <a:spcPts val="200"/>
              </a:spcAft>
            </a:pPr>
            <a:r>
              <a:rPr sz="1100" b="0">
                <a:solidFill>
                  <a:srgbClr val="5B6372"/>
                </a:solidFill>
                <a:latin typeface="Arial"/>
              </a:rPr>
              <a:t>Can you export and switch off without losing content? Avoid lock-in on core assets.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 LAB · ADVANCED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Import, Embed, Connect Apps, Call the Notion API and Export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11</a:t>
            </a:r>
          </a:p>
        </p:txBody>
      </p:sp>
      <p:sp>
        <p:nvSpPr>
          <p:cNvPr id="9" name="Rectangle 8"/>
          <p:cNvSpPr/>
          <p:nvPr/>
        </p:nvSpPr>
        <p:spPr>
          <a:xfrm>
            <a:off x="2286000" y="1691640"/>
            <a:ext cx="155448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554480" cy="365760"/>
          </a:xfrm>
          <a:prstGeom prst="rect">
            <a:avLst/>
          </a:prstGeom>
          <a:noFill/>
        </p:spPr>
        <p:txBody>
          <a:bodyPr wrap="square" anchor="t">
            <a:spAutoFit/>
          </a:bodyPr>
          <a:lstStyle/>
          <a:p>
            <a:pPr algn="ctr">
              <a:spcAft>
                <a:spcPts val="400"/>
              </a:spcAft>
            </a:pPr>
            <a:r>
              <a:rPr sz="1300" b="1">
                <a:solidFill>
                  <a:srgbClr val="5B6372"/>
                </a:solidFill>
                <a:latin typeface="Arial"/>
              </a:rPr>
              <a:t>K9 · A6</a:t>
            </a:r>
          </a:p>
        </p:txBody>
      </p:sp>
      <p:sp>
        <p:nvSpPr>
          <p:cNvPr id="11" name="Rectangle 10"/>
          <p:cNvSpPr/>
          <p:nvPr/>
        </p:nvSpPr>
        <p:spPr>
          <a:xfrm>
            <a:off x="3977639"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25 min</a:t>
            </a:r>
          </a:p>
        </p:txBody>
      </p:sp>
      <p:sp>
        <p:nvSpPr>
          <p:cNvPr id="13" name="TextBox 12"/>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import a Trello-style board export, embed Google Drive, Figma and Loom links, connect Slack and GitHub, create an internal integration and use its token to query the Content Calendar and create a page through the Notion API, evaluate the supplied integration catalogue to recommend plug-ins for Brightwave, and export the workspace as Markdown + CSV.</a:t>
            </a:r>
          </a:p>
        </p:txBody>
      </p:sp>
      <p:sp>
        <p:nvSpPr>
          <p:cNvPr id="14" name="Rectangle 13"/>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7" name="TextBox 16"/>
          <p:cNvSpPr txBox="1"/>
          <p:nvPr/>
        </p:nvSpPr>
        <p:spPr>
          <a:xfrm>
            <a:off x="1005840" y="4526280"/>
            <a:ext cx="10149840" cy="731520"/>
          </a:xfrm>
          <a:prstGeom prst="rect">
            <a:avLst/>
          </a:prstGeom>
          <a:noFill/>
        </p:spPr>
        <p:txBody>
          <a:bodyPr wrap="square" anchor="t">
            <a:spAutoFit/>
          </a:bodyPr>
          <a:lstStyle/>
          <a:p>
            <a:pPr algn="l">
              <a:spcAft>
                <a:spcPts val="400"/>
              </a:spcAft>
            </a:pPr>
            <a:r>
              <a:rPr sz="1600" b="1">
                <a:solidFill>
                  <a:srgbClr val="161B26"/>
                </a:solidFill>
                <a:latin typeface="Arial"/>
              </a:rPr>
              <a:t>An imported board, embedded assets, connected apps, a working API integration that reads and writes a database, a plug-in recommendation table and a workspace export</a:t>
            </a:r>
          </a:p>
        </p:txBody>
      </p:sp>
      <p:sp>
        <p:nvSpPr>
          <p:cNvPr id="18" name="TextBox 17"/>
          <p:cNvSpPr txBox="1"/>
          <p:nvPr/>
        </p:nvSpPr>
        <p:spPr>
          <a:xfrm>
            <a:off x="1005840" y="52852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Notion Import, embeds, Connections, Notion API (integration token), Export</a:t>
            </a:r>
          </a:p>
        </p:txBody>
      </p:sp>
      <p:sp>
        <p:nvSpPr>
          <p:cNvPr id="19" name="Rectangle 18"/>
          <p:cNvSpPr/>
          <p:nvPr/>
        </p:nvSpPr>
        <p:spPr>
          <a:xfrm>
            <a:off x="777240"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89788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89788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K9 · A6</a:t>
            </a:r>
          </a:p>
        </p:txBody>
      </p:sp>
      <p:sp>
        <p:nvSpPr>
          <p:cNvPr id="22" name="Rectangle 21"/>
          <p:cNvSpPr/>
          <p:nvPr/>
        </p:nvSpPr>
        <p:spPr>
          <a:xfrm>
            <a:off x="4407408"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589788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89788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Advanced</a:t>
            </a:r>
          </a:p>
        </p:txBody>
      </p:sp>
      <p:sp>
        <p:nvSpPr>
          <p:cNvPr id="25" name="Rectangle 24"/>
          <p:cNvSpPr/>
          <p:nvPr/>
        </p:nvSpPr>
        <p:spPr>
          <a:xfrm>
            <a:off x="8037576"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7576" y="589788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589788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Screenshots · lab README checklist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Prepare</a:t>
            </a:r>
          </a:p>
        </p:txBody>
      </p:sp>
      <p:sp>
        <p:nvSpPr>
          <p:cNvPr id="12" name="TextBox 11"/>
          <p:cNvSpPr txBox="1"/>
          <p:nvPr/>
        </p:nvSpPr>
        <p:spPr>
          <a:xfrm>
            <a:off x="905256"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Import and embed</a:t>
            </a:r>
          </a:p>
        </p:txBody>
      </p:sp>
      <p:sp>
        <p:nvSpPr>
          <p:cNvPr id="13" name="Rectangle 12"/>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8174"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817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4053078"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Build</a:t>
            </a:r>
          </a:p>
        </p:txBody>
      </p:sp>
      <p:sp>
        <p:nvSpPr>
          <p:cNvPr id="20" name="TextBox 19"/>
          <p:cNvSpPr txBox="1"/>
          <p:nvPr/>
        </p:nvSpPr>
        <p:spPr>
          <a:xfrm>
            <a:off x="3678174"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Connect apps</a:t>
            </a:r>
          </a:p>
        </p:txBody>
      </p:sp>
      <p:sp>
        <p:nvSpPr>
          <p:cNvPr id="21" name="Rectangle 20"/>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1092"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0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6825996"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28" name="TextBox 27"/>
          <p:cNvSpPr txBox="1"/>
          <p:nvPr/>
        </p:nvSpPr>
        <p:spPr>
          <a:xfrm>
            <a:off x="6451092"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Create and call an API integration</a:t>
            </a:r>
          </a:p>
        </p:txBody>
      </p:sp>
      <p:sp>
        <p:nvSpPr>
          <p:cNvPr id="29" name="Rectangle 28"/>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24010"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401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9598914"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36" name="TextBox 35"/>
          <p:cNvSpPr txBox="1"/>
          <p:nvPr/>
        </p:nvSpPr>
        <p:spPr>
          <a:xfrm>
            <a:off x="9224010"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Recommend plug-ins and export</a:t>
            </a:r>
          </a:p>
        </p:txBody>
      </p:sp>
      <p:sp>
        <p:nvSpPr>
          <p:cNvPr id="37" name="Rectangle 36"/>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 the full click-by-click procedure is in the Learner Guide (Lab 11) and the lab's instruction PDF.</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000" b="1">
                <a:solidFill>
                  <a:srgbClr val="161B26"/>
                </a:solidFill>
                <a:latin typeface="Arial"/>
              </a:rPr>
              <a:t>Import, Embed, Connect Apps, Call the Notion API and Export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058400" cy="457200"/>
          </a:xfrm>
          <a:prstGeom prst="rect">
            <a:avLst/>
          </a:prstGeom>
          <a:noFill/>
        </p:spPr>
        <p:txBody>
          <a:bodyPr wrap="square" anchor="t">
            <a:spAutoFit/>
          </a:bodyPr>
          <a:lstStyle/>
          <a:p>
            <a:pPr algn="l">
              <a:spcAft>
                <a:spcPts val="400"/>
              </a:spcAft>
            </a:pPr>
            <a:r>
              <a:rPr sz="1800" b="1">
                <a:solidFill>
                  <a:srgbClr val="127A3E"/>
                </a:solidFill>
                <a:latin typeface="Arial"/>
              </a:rPr>
              <a:t>✅  Acceptance check</a:t>
            </a:r>
          </a:p>
        </p:txBody>
      </p:sp>
      <p:sp>
        <p:nvSpPr>
          <p:cNvPr id="10" name="TextBox 9"/>
          <p:cNvSpPr txBox="1"/>
          <p:nvPr/>
        </p:nvSpPr>
        <p:spPr>
          <a:xfrm>
            <a:off x="1097280" y="2743200"/>
            <a:ext cx="10149840" cy="1737360"/>
          </a:xfrm>
          <a:prstGeom prst="rect">
            <a:avLst/>
          </a:prstGeom>
          <a:noFill/>
        </p:spPr>
        <p:txBody>
          <a:bodyPr wrap="square" anchor="t">
            <a:spAutoFit/>
          </a:bodyPr>
          <a:lstStyle/>
          <a:p>
            <a:pPr algn="l">
              <a:spcAft>
                <a:spcPts val="400"/>
              </a:spcAft>
            </a:pPr>
            <a:r>
              <a:rPr sz="1500" b="0">
                <a:solidFill>
                  <a:srgbClr val="161B26"/>
                </a:solidFill>
                <a:latin typeface="Arial"/>
              </a:rPr>
              <a:t>The Trello import shows as a board, the project page embeds three external assets, Slack and GitHub are connected, the API query prints the calendar rows and the API create call adds a Draft row, Recommended Integrations names three tools with justification, and a Markdown &amp; CSV workspace export has been downloaded.</a:t>
            </a:r>
          </a:p>
        </p:txBody>
      </p:sp>
      <p:sp>
        <p:nvSpPr>
          <p:cNvPr id="11" name="Rectangle 10"/>
          <p:cNvSpPr/>
          <p:nvPr/>
        </p:nvSpPr>
        <p:spPr>
          <a:xfrm>
            <a:off x="777240" y="4754880"/>
            <a:ext cx="1069848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5488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6" name="TextBox 15"/>
          <p:cNvSpPr txBox="1"/>
          <p:nvPr/>
        </p:nvSpPr>
        <p:spPr>
          <a:xfrm>
            <a:off x="146304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Re-read the step: most misses are the page menu (top right) versus the block handle (left of a block).</a:t>
            </a:r>
          </a:p>
        </p:txBody>
      </p:sp>
      <p:sp>
        <p:nvSpPr>
          <p:cNvPr id="17" name="Oval 16"/>
          <p:cNvSpPr/>
          <p:nvPr/>
        </p:nvSpPr>
        <p:spPr>
          <a:xfrm>
            <a:off x="461772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9" name="TextBox 18"/>
          <p:cNvSpPr txBox="1"/>
          <p:nvPr/>
        </p:nvSpPr>
        <p:spPr>
          <a:xfrm>
            <a:off x="498348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Check you are in the right page or teamspace — the sidebar shows the path.</a:t>
            </a:r>
          </a:p>
        </p:txBody>
      </p:sp>
      <p:sp>
        <p:nvSpPr>
          <p:cNvPr id="20" name="Oval 19"/>
          <p:cNvSpPr/>
          <p:nvPr/>
        </p:nvSpPr>
        <p:spPr>
          <a:xfrm>
            <a:off x="813816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22" name="TextBox 21"/>
          <p:cNvSpPr txBox="1"/>
          <p:nvPr/>
        </p:nvSpPr>
        <p:spPr>
          <a:xfrm>
            <a:off x="850392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Full click-by-click steps: Learner Guide and the lab's instruction PDF.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09 · LU4 · A7 · K8</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Notion AI</a:t>
            </a:r>
          </a:p>
        </p:txBody>
      </p:sp>
      <p:sp>
        <p:nvSpPr>
          <p:cNvPr id="7" name="TextBox 6"/>
          <p:cNvSpPr txBox="1"/>
          <p:nvPr/>
        </p:nvSpPr>
        <p:spPr>
          <a:xfrm>
            <a:off x="1161288" y="4343400"/>
            <a:ext cx="9692640" cy="1188720"/>
          </a:xfrm>
          <a:prstGeom prst="rect">
            <a:avLst/>
          </a:prstGeom>
          <a:noFill/>
        </p:spPr>
        <p:txBody>
          <a:bodyPr wrap="square" anchor="t">
            <a:spAutoFit/>
          </a:bodyPr>
          <a:lstStyle/>
          <a:p>
            <a:pPr algn="l">
              <a:spcAft>
                <a:spcPts val="400"/>
              </a:spcAft>
            </a:pPr>
            <a:r>
              <a:rPr sz="1400" b="0">
                <a:solidFill>
                  <a:srgbClr val="5B6372"/>
                </a:solidFill>
                <a:latin typeface="Arial"/>
              </a:rPr>
              <a:t>What is Notion AI · Writer and Autofill · Q&amp;A, Enterprise Search and the Notion Agent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09</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advClick="1">
    <p:push dir="l"/>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Notion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Your AI teammate inside Notion</a:t>
            </a:r>
          </a:p>
          <a:p>
            <a:pPr algn="l">
              <a:spcAft>
                <a:spcPts val="200"/>
              </a:spcAft>
            </a:pPr>
            <a:r>
              <a:rPr sz="1000" b="0">
                <a:solidFill>
                  <a:srgbClr val="5B6372"/>
                </a:solidFill>
                <a:latin typeface="Arial"/>
              </a:rPr>
              <a:t>Notion AI works in the pages, databases and connected apps you already use: it drafts, edits, summarises, translates, searches and builds.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Writer — draft and edit inline</a:t>
            </a:r>
          </a:p>
          <a:p>
            <a:pPr algn="l">
              <a:spcAft>
                <a:spcPts val="200"/>
              </a:spcAft>
            </a:pPr>
            <a:r>
              <a:rPr sz="1000" b="0">
                <a:solidFill>
                  <a:srgbClr val="5B6372"/>
                </a:solidFill>
                <a:latin typeface="Arial"/>
              </a:rPr>
              <a:t>Press Space on an empty line or highlight text: draft, continue writing, fix grammar, shorten, change tone, summarise, translate, brainstorm.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AI blocks</a:t>
            </a:r>
          </a:p>
          <a:p>
            <a:pPr algn="l">
              <a:spcAft>
                <a:spcPts val="200"/>
              </a:spcAft>
            </a:pPr>
            <a:r>
              <a:rPr sz="1000" b="0">
                <a:solidFill>
                  <a:srgbClr val="5B6372"/>
                </a:solidFill>
                <a:latin typeface="Arial"/>
              </a:rPr>
              <a:t>/AI block creates a block whose content is regenerated on demand — a living summary, key points or a custom output with specified context.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Autofill databases</a:t>
            </a:r>
          </a:p>
          <a:p>
            <a:pPr algn="l">
              <a:spcAft>
                <a:spcPts val="200"/>
              </a:spcAft>
            </a:pPr>
            <a:r>
              <a:rPr sz="1000" b="0">
                <a:solidFill>
                  <a:srgbClr val="5B6372"/>
                </a:solidFill>
                <a:latin typeface="Arial"/>
              </a:rPr>
              <a:t>An AI Autofill property fills summaries, keywords, translations or classifications for every row and can update as pages 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Q&amp;A, Enterprise Search and Research Mode</a:t>
            </a:r>
          </a:p>
          <a:p>
            <a:pPr algn="l">
              <a:spcAft>
                <a:spcPts val="200"/>
              </a:spcAft>
            </a:pPr>
            <a:r>
              <a:rPr sz="1000" b="0">
                <a:solidFill>
                  <a:srgbClr val="5B6372"/>
                </a:solidFill>
                <a:latin typeface="Arial"/>
              </a:rPr>
              <a:t>Ask questions across the workspace, Slack and Google Drive with citations; Research Mode produces reports on open-ended questions.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400" b="1">
                <a:solidFill>
                  <a:srgbClr val="161B26"/>
                </a:solidFill>
                <a:latin typeface="Arial"/>
              </a:rPr>
              <a:t>The Notion Agent and plans</a:t>
            </a:r>
          </a:p>
          <a:p>
            <a:pPr algn="l">
              <a:spcAft>
                <a:spcPts val="200"/>
              </a:spcAft>
            </a:pPr>
            <a:r>
              <a:rPr sz="1000" b="0">
                <a:solidFill>
                  <a:srgbClr val="5B6372"/>
                </a:solidFill>
                <a:latin typeface="Arial"/>
              </a:rPr>
              <a:t>The Agent takes on whole tasks (build a database, edit pages). Notion AI is included in Business and Enterprise; Free and Plus get trial responses.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AI TEAMMATE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Is Notion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generate.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Built into the workspace</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Works inside pages, databases and connected apps — no copy-paste to another tool.</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What it does</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Drafts and edits, summarises and translates, answers questions with citations, autofills databases, builds databases, transcribes meetings.</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Models and data</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Uses leading models (GPT and Claude families); customer data is not used to train them; encrypted in transit.</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Availability</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Included in Business and Enterprise; Free and Plus get complimentary trial responses.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NOTION AI · WRITER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Writer — Draft and Edit Inline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Draft from a prompt</a:t>
            </a:r>
          </a:p>
          <a:p>
            <a:pPr algn="l">
              <a:spcAft>
                <a:spcPts val="200"/>
              </a:spcAft>
            </a:pPr>
            <a:r>
              <a:rPr sz="1100" b="0">
                <a:solidFill>
                  <a:srgbClr val="5B6372"/>
                </a:solidFill>
                <a:latin typeface="Arial"/>
              </a:rPr>
              <a:t>Space on an empty line or /ai: outline, blog post, email, meeting agenda, job description.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Edit a selection</a:t>
            </a:r>
          </a:p>
          <a:p>
            <a:pPr algn="l">
              <a:spcAft>
                <a:spcPts val="200"/>
              </a:spcAft>
            </a:pPr>
            <a:r>
              <a:rPr sz="1100" b="0">
                <a:solidFill>
                  <a:srgbClr val="5B6372"/>
                </a:solidFill>
                <a:latin typeface="Arial"/>
              </a:rPr>
              <a:t>Improve writing, fix grammar, make shorter or longer, simplify, change tone, translate.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Continue and expand</a:t>
            </a:r>
          </a:p>
          <a:p>
            <a:pPr algn="l">
              <a:spcAft>
                <a:spcPts val="200"/>
              </a:spcAft>
            </a:pPr>
            <a:r>
              <a:rPr sz="1100" b="0">
                <a:solidFill>
                  <a:srgbClr val="5B6372"/>
                </a:solidFill>
                <a:latin typeface="Arial"/>
              </a:rPr>
              <a:t>Continue writing, explain this, find action items, summarise the page.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Review before accepting</a:t>
            </a:r>
          </a:p>
          <a:p>
            <a:pPr algn="l">
              <a:spcAft>
                <a:spcPts val="200"/>
              </a:spcAft>
            </a:pPr>
            <a:r>
              <a:rPr sz="1100" b="0">
                <a:solidFill>
                  <a:srgbClr val="5B6372"/>
                </a:solidFill>
                <a:latin typeface="Arial"/>
              </a:rPr>
              <a:t>Accept, discard or try again — the writer is responsible for the published text.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@-mention context</a:t>
            </a:r>
          </a:p>
          <a:p>
            <a:pPr algn="l">
              <a:spcAft>
                <a:spcPts val="200"/>
              </a:spcAft>
            </a:pPr>
            <a:r>
              <a:rPr sz="1100" b="0">
                <a:solidFill>
                  <a:srgbClr val="5B6372"/>
                </a:solidFill>
                <a:latin typeface="Arial"/>
              </a:rPr>
              <a:t>Mention pages or people in the prompt so the draft uses your workspace, not only world knowledge.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Translate whole pages</a:t>
            </a:r>
          </a:p>
          <a:p>
            <a:pPr algn="l">
              <a:spcAft>
                <a:spcPts val="200"/>
              </a:spcAft>
            </a:pPr>
            <a:r>
              <a:rPr sz="1100" b="0">
                <a:solidFill>
                  <a:srgbClr val="5B6372"/>
                </a:solidFill>
                <a:latin typeface="Arial"/>
              </a:rPr>
              <a:t>⋯ → Translate keeps the structure and produces a copy in the target language.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NOTION AI · AUTOFILL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Autofill Databases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190" y="2049780"/>
            <a:ext cx="6073140" cy="381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autofill.jpg"/>
          <p:cNvPicPr>
            <a:picLocks noChangeAspect="1"/>
          </p:cNvPicPr>
          <p:nvPr/>
        </p:nvPicPr>
        <p:blipFill>
          <a:blip r:embed="rId2"/>
          <a:stretch>
            <a:fillRect/>
          </a:stretch>
        </p:blipFill>
        <p:spPr>
          <a:xfrm>
            <a:off x="777240" y="2068830"/>
            <a:ext cx="6035040" cy="3771900"/>
          </a:xfrm>
          <a:prstGeom prst="rect">
            <a:avLst/>
          </a:prstGeom>
        </p:spPr>
      </p:pic>
      <p:sp>
        <p:nvSpPr>
          <p:cNvPr id="9" name="Rectangle 8"/>
          <p:cNvSpPr/>
          <p:nvPr/>
        </p:nvSpPr>
        <p:spPr>
          <a:xfrm>
            <a:off x="7132320" y="178308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33488" y="1911096"/>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33488" y="191109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3" name="TextBox 12"/>
          <p:cNvSpPr txBox="1"/>
          <p:nvPr/>
        </p:nvSpPr>
        <p:spPr>
          <a:xfrm>
            <a:off x="7772400" y="1837944"/>
            <a:ext cx="3456432" cy="457200"/>
          </a:xfrm>
          <a:prstGeom prst="rect">
            <a:avLst/>
          </a:prstGeom>
          <a:noFill/>
        </p:spPr>
        <p:txBody>
          <a:bodyPr wrap="square" anchor="ctr">
            <a:spAutoFit/>
          </a:bodyPr>
          <a:lstStyle/>
          <a:p>
            <a:pPr algn="l">
              <a:spcAft>
                <a:spcPts val="400"/>
              </a:spcAft>
            </a:pPr>
            <a:r>
              <a:rPr sz="1350" b="1">
                <a:solidFill>
                  <a:srgbClr val="1F6FEB"/>
                </a:solidFill>
                <a:latin typeface="Arial"/>
              </a:rPr>
              <a:t>AI properties</a:t>
            </a:r>
          </a:p>
        </p:txBody>
      </p:sp>
      <p:sp>
        <p:nvSpPr>
          <p:cNvPr id="14" name="TextBox 13"/>
          <p:cNvSpPr txBox="1"/>
          <p:nvPr/>
        </p:nvSpPr>
        <p:spPr>
          <a:xfrm>
            <a:off x="7388352" y="229514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AI Summary, AI Key info, AI Translation, AI Custom autofill and AI-generated select values.</a:t>
            </a:r>
          </a:p>
        </p:txBody>
      </p:sp>
      <p:sp>
        <p:nvSpPr>
          <p:cNvPr id="15" name="Rectangle 14"/>
          <p:cNvSpPr/>
          <p:nvPr/>
        </p:nvSpPr>
        <p:spPr>
          <a:xfrm>
            <a:off x="7132320" y="291465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33488" y="3042666"/>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304266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19" name="TextBox 18"/>
          <p:cNvSpPr txBox="1"/>
          <p:nvPr/>
        </p:nvSpPr>
        <p:spPr>
          <a:xfrm>
            <a:off x="7772400" y="2969514"/>
            <a:ext cx="3456432" cy="457200"/>
          </a:xfrm>
          <a:prstGeom prst="rect">
            <a:avLst/>
          </a:prstGeom>
          <a:noFill/>
        </p:spPr>
        <p:txBody>
          <a:bodyPr wrap="square" anchor="ctr">
            <a:spAutoFit/>
          </a:bodyPr>
          <a:lstStyle/>
          <a:p>
            <a:pPr algn="l">
              <a:spcAft>
                <a:spcPts val="400"/>
              </a:spcAft>
            </a:pPr>
            <a:r>
              <a:rPr sz="1350" b="1">
                <a:solidFill>
                  <a:srgbClr val="10B981"/>
                </a:solidFill>
                <a:latin typeface="Arial"/>
              </a:rPr>
              <a:t>Fill every row</a:t>
            </a:r>
          </a:p>
        </p:txBody>
      </p:sp>
      <p:sp>
        <p:nvSpPr>
          <p:cNvPr id="20" name="TextBox 19"/>
          <p:cNvSpPr txBox="1"/>
          <p:nvPr/>
        </p:nvSpPr>
        <p:spPr>
          <a:xfrm>
            <a:off x="7388352" y="342671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Update all fills existing rows; auto-update refreshes when the page changes.</a:t>
            </a:r>
          </a:p>
        </p:txBody>
      </p:sp>
      <p:sp>
        <p:nvSpPr>
          <p:cNvPr id="21" name="Rectangle 20"/>
          <p:cNvSpPr/>
          <p:nvPr/>
        </p:nvSpPr>
        <p:spPr>
          <a:xfrm>
            <a:off x="7132320" y="404622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33488" y="4174236"/>
            <a:ext cx="329184" cy="32918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33488" y="417423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7772400" y="4101084"/>
            <a:ext cx="3456432" cy="457200"/>
          </a:xfrm>
          <a:prstGeom prst="rect">
            <a:avLst/>
          </a:prstGeom>
          <a:noFill/>
        </p:spPr>
        <p:txBody>
          <a:bodyPr wrap="square" anchor="ctr">
            <a:spAutoFit/>
          </a:bodyPr>
          <a:lstStyle/>
          <a:p>
            <a:pPr algn="l">
              <a:spcAft>
                <a:spcPts val="400"/>
              </a:spcAft>
            </a:pPr>
            <a:r>
              <a:rPr sz="1350" b="1">
                <a:solidFill>
                  <a:srgbClr val="7C3AED"/>
                </a:solidFill>
                <a:latin typeface="Arial"/>
              </a:rPr>
              <a:t>Use cases</a:t>
            </a:r>
          </a:p>
        </p:txBody>
      </p:sp>
      <p:sp>
        <p:nvSpPr>
          <p:cNvPr id="26" name="TextBox 25"/>
          <p:cNvSpPr txBox="1"/>
          <p:nvPr/>
        </p:nvSpPr>
        <p:spPr>
          <a:xfrm>
            <a:off x="7388352" y="455828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Sentiment of feedback, keywords of articles, one-line summaries of client briefs, status classification.</a:t>
            </a:r>
          </a:p>
        </p:txBody>
      </p:sp>
      <p:sp>
        <p:nvSpPr>
          <p:cNvPr id="27" name="Rectangle 26"/>
          <p:cNvSpPr/>
          <p:nvPr/>
        </p:nvSpPr>
        <p:spPr>
          <a:xfrm>
            <a:off x="7132320" y="5177790"/>
            <a:ext cx="427939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33488" y="5305806"/>
            <a:ext cx="329184" cy="3291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5305806"/>
            <a:ext cx="329184" cy="329184"/>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31" name="TextBox 30"/>
          <p:cNvSpPr txBox="1"/>
          <p:nvPr/>
        </p:nvSpPr>
        <p:spPr>
          <a:xfrm>
            <a:off x="7772400" y="5232654"/>
            <a:ext cx="3456432" cy="457200"/>
          </a:xfrm>
          <a:prstGeom prst="rect">
            <a:avLst/>
          </a:prstGeom>
          <a:noFill/>
        </p:spPr>
        <p:txBody>
          <a:bodyPr wrap="square" anchor="ctr">
            <a:spAutoFit/>
          </a:bodyPr>
          <a:lstStyle/>
          <a:p>
            <a:pPr algn="l">
              <a:spcAft>
                <a:spcPts val="400"/>
              </a:spcAft>
            </a:pPr>
            <a:r>
              <a:rPr sz="1350" b="1">
                <a:solidFill>
                  <a:srgbClr val="F59E0B"/>
                </a:solidFill>
                <a:latin typeface="Arial"/>
              </a:rPr>
              <a:t>Formulas too</a:t>
            </a:r>
          </a:p>
        </p:txBody>
      </p:sp>
      <p:sp>
        <p:nvSpPr>
          <p:cNvPr id="32" name="TextBox 31"/>
          <p:cNvSpPr txBox="1"/>
          <p:nvPr/>
        </p:nvSpPr>
        <p:spPr>
          <a:xfrm>
            <a:off x="7388352" y="5689854"/>
            <a:ext cx="3822192" cy="381762"/>
          </a:xfrm>
          <a:prstGeom prst="rect">
            <a:avLst/>
          </a:prstGeom>
          <a:noFill/>
        </p:spPr>
        <p:txBody>
          <a:bodyPr wrap="square" anchor="t">
            <a:spAutoFit/>
          </a:bodyPr>
          <a:lstStyle/>
          <a:p>
            <a:pPr algn="l">
              <a:spcAft>
                <a:spcPts val="200"/>
              </a:spcAft>
            </a:pPr>
            <a:r>
              <a:rPr sz="1150" b="0">
                <a:solidFill>
                  <a:srgbClr val="161B26"/>
                </a:solidFill>
                <a:latin typeface="Arial"/>
              </a:rPr>
              <a:t>Ask AI to write or explain a formula in the formula editor.</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NOTION AI · ANSWERS AND ACTIONS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Q&amp;A, Enterprise Search, Research Mode and the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Capability</a:t>
            </a:r>
          </a:p>
        </p:txBody>
      </p:sp>
      <p:sp>
        <p:nvSpPr>
          <p:cNvPr id="9" name="Rectangle 8"/>
          <p:cNvSpPr/>
          <p:nvPr/>
        </p:nvSpPr>
        <p:spPr>
          <a:xfrm>
            <a:off x="3329513"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What you ask</a:t>
            </a:r>
          </a:p>
        </p:txBody>
      </p:sp>
      <p:sp>
        <p:nvSpPr>
          <p:cNvPr id="11" name="Rectangle 10"/>
          <p:cNvSpPr/>
          <p:nvPr/>
        </p:nvSpPr>
        <p:spPr>
          <a:xfrm>
            <a:off x="6023579"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33307"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Where it looks</a:t>
            </a:r>
          </a:p>
        </p:txBody>
      </p:sp>
      <p:sp>
        <p:nvSpPr>
          <p:cNvPr id="13" name="Rectangle 12"/>
          <p:cNvSpPr/>
          <p:nvPr/>
        </p:nvSpPr>
        <p:spPr>
          <a:xfrm>
            <a:off x="8717645" y="1828800"/>
            <a:ext cx="2694066"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7373" y="1828800"/>
            <a:ext cx="2474610" cy="502920"/>
          </a:xfrm>
          <a:prstGeom prst="rect">
            <a:avLst/>
          </a:prstGeom>
          <a:noFill/>
        </p:spPr>
        <p:txBody>
          <a:bodyPr wrap="square" anchor="ctr">
            <a:spAutoFit/>
          </a:bodyPr>
          <a:lstStyle/>
          <a:p>
            <a:pPr algn="ctr">
              <a:spcAft>
                <a:spcPts val="400"/>
              </a:spcAft>
            </a:pPr>
            <a:r>
              <a:rPr sz="1250" b="1">
                <a:solidFill>
                  <a:srgbClr val="FFFFFF"/>
                </a:solidFill>
                <a:latin typeface="Arial"/>
              </a:rPr>
              <a:t>Output</a:t>
            </a:r>
          </a:p>
        </p:txBody>
      </p:sp>
      <p:sp>
        <p:nvSpPr>
          <p:cNvPr id="15" name="Rectangle 14"/>
          <p:cNvSpPr/>
          <p:nvPr/>
        </p:nvSpPr>
        <p:spPr>
          <a:xfrm>
            <a:off x="777240" y="233172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3317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Q&amp;A / chat</a:t>
            </a:r>
          </a:p>
        </p:txBody>
      </p:sp>
      <p:sp>
        <p:nvSpPr>
          <p:cNvPr id="17" name="Rectangle 16"/>
          <p:cNvSpPr/>
          <p:nvPr/>
        </p:nvSpPr>
        <p:spPr>
          <a:xfrm>
            <a:off x="3329513" y="233172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9241" y="23317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'What does the policy say about expiry?'</a:t>
            </a:r>
          </a:p>
        </p:txBody>
      </p:sp>
      <p:sp>
        <p:nvSpPr>
          <p:cNvPr id="19" name="Rectangle 18"/>
          <p:cNvSpPr/>
          <p:nvPr/>
        </p:nvSpPr>
        <p:spPr>
          <a:xfrm>
            <a:off x="6023579" y="233172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3307" y="23317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Workspace pages you can access</a:t>
            </a:r>
          </a:p>
        </p:txBody>
      </p:sp>
      <p:sp>
        <p:nvSpPr>
          <p:cNvPr id="21" name="Rectangle 20"/>
          <p:cNvSpPr/>
          <p:nvPr/>
        </p:nvSpPr>
        <p:spPr>
          <a:xfrm>
            <a:off x="8717645" y="233172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7373" y="23317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Answer with citations</a:t>
            </a:r>
          </a:p>
        </p:txBody>
      </p:sp>
      <p:sp>
        <p:nvSpPr>
          <p:cNvPr id="23" name="Rectangle 22"/>
          <p:cNvSpPr/>
          <p:nvPr/>
        </p:nvSpPr>
        <p:spPr>
          <a:xfrm>
            <a:off x="777240" y="288798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8798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Enterprise Search</a:t>
            </a:r>
          </a:p>
        </p:txBody>
      </p:sp>
      <p:sp>
        <p:nvSpPr>
          <p:cNvPr id="25" name="Rectangle 24"/>
          <p:cNvSpPr/>
          <p:nvPr/>
        </p:nvSpPr>
        <p:spPr>
          <a:xfrm>
            <a:off x="3329513" y="288798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39241" y="288798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'What was decided on the launch date?'</a:t>
            </a:r>
          </a:p>
        </p:txBody>
      </p:sp>
      <p:sp>
        <p:nvSpPr>
          <p:cNvPr id="27" name="Rectangle 26"/>
          <p:cNvSpPr/>
          <p:nvPr/>
        </p:nvSpPr>
        <p:spPr>
          <a:xfrm>
            <a:off x="6023579" y="288798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33307" y="288798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Notion + Slack, Google Drive, GitHub connectors</a:t>
            </a:r>
          </a:p>
        </p:txBody>
      </p:sp>
      <p:sp>
        <p:nvSpPr>
          <p:cNvPr id="29" name="Rectangle 28"/>
          <p:cNvSpPr/>
          <p:nvPr/>
        </p:nvSpPr>
        <p:spPr>
          <a:xfrm>
            <a:off x="8717645" y="288798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27373" y="288798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Answer across apps</a:t>
            </a:r>
          </a:p>
        </p:txBody>
      </p:sp>
      <p:sp>
        <p:nvSpPr>
          <p:cNvPr id="31" name="Rectangle 30"/>
          <p:cNvSpPr/>
          <p:nvPr/>
        </p:nvSpPr>
        <p:spPr>
          <a:xfrm>
            <a:off x="777240" y="344424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44424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Research Mode</a:t>
            </a:r>
          </a:p>
        </p:txBody>
      </p:sp>
      <p:sp>
        <p:nvSpPr>
          <p:cNvPr id="33" name="Rectangle 32"/>
          <p:cNvSpPr/>
          <p:nvPr/>
        </p:nvSpPr>
        <p:spPr>
          <a:xfrm>
            <a:off x="3329513" y="344424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344424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'Report on our Q3 content performance'</a:t>
            </a:r>
          </a:p>
        </p:txBody>
      </p:sp>
      <p:sp>
        <p:nvSpPr>
          <p:cNvPr id="35" name="Rectangle 34"/>
          <p:cNvSpPr/>
          <p:nvPr/>
        </p:nvSpPr>
        <p:spPr>
          <a:xfrm>
            <a:off x="6023579" y="344424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3307" y="344424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Workspace + web</a:t>
            </a:r>
          </a:p>
        </p:txBody>
      </p:sp>
      <p:sp>
        <p:nvSpPr>
          <p:cNvPr id="37" name="Rectangle 36"/>
          <p:cNvSpPr/>
          <p:nvPr/>
        </p:nvSpPr>
        <p:spPr>
          <a:xfrm>
            <a:off x="8717645" y="344424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27373" y="344424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Structured report</a:t>
            </a:r>
          </a:p>
        </p:txBody>
      </p:sp>
      <p:sp>
        <p:nvSpPr>
          <p:cNvPr id="39" name="Rectangle 38"/>
          <p:cNvSpPr/>
          <p:nvPr/>
        </p:nvSpPr>
        <p:spPr>
          <a:xfrm>
            <a:off x="777240" y="400050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00050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Notion Agent</a:t>
            </a:r>
          </a:p>
        </p:txBody>
      </p:sp>
      <p:sp>
        <p:nvSpPr>
          <p:cNvPr id="41" name="Rectangle 40"/>
          <p:cNvSpPr/>
          <p:nvPr/>
        </p:nvSpPr>
        <p:spPr>
          <a:xfrm>
            <a:off x="3329513" y="400050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39241" y="400050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'Build a task database for the campaign'</a:t>
            </a:r>
          </a:p>
        </p:txBody>
      </p:sp>
      <p:sp>
        <p:nvSpPr>
          <p:cNvPr id="43" name="Rectangle 42"/>
          <p:cNvSpPr/>
          <p:nvPr/>
        </p:nvSpPr>
        <p:spPr>
          <a:xfrm>
            <a:off x="6023579" y="400050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33307" y="400050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Workspace + connected apps</a:t>
            </a:r>
          </a:p>
        </p:txBody>
      </p:sp>
      <p:sp>
        <p:nvSpPr>
          <p:cNvPr id="45" name="Rectangle 44"/>
          <p:cNvSpPr/>
          <p:nvPr/>
        </p:nvSpPr>
        <p:spPr>
          <a:xfrm>
            <a:off x="8717645" y="400050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27373" y="400050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Creates and edits pages and databases</a:t>
            </a:r>
          </a:p>
        </p:txBody>
      </p:sp>
      <p:sp>
        <p:nvSpPr>
          <p:cNvPr id="47" name="Rectangle 46"/>
          <p:cNvSpPr/>
          <p:nvPr/>
        </p:nvSpPr>
        <p:spPr>
          <a:xfrm>
            <a:off x="777240" y="455676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55676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Custom Agents</a:t>
            </a:r>
          </a:p>
        </p:txBody>
      </p:sp>
      <p:sp>
        <p:nvSpPr>
          <p:cNvPr id="49" name="Rectangle 48"/>
          <p:cNvSpPr/>
          <p:nvPr/>
        </p:nvSpPr>
        <p:spPr>
          <a:xfrm>
            <a:off x="3329513" y="455676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9241" y="455676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Scheduled or triggered work, e.g. weekly updates</a:t>
            </a:r>
          </a:p>
        </p:txBody>
      </p:sp>
      <p:sp>
        <p:nvSpPr>
          <p:cNvPr id="51" name="Rectangle 50"/>
          <p:cNvSpPr/>
          <p:nvPr/>
        </p:nvSpPr>
        <p:spPr>
          <a:xfrm>
            <a:off x="6023579" y="455676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33307" y="455676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Workspace + apps</a:t>
            </a:r>
          </a:p>
        </p:txBody>
      </p:sp>
      <p:sp>
        <p:nvSpPr>
          <p:cNvPr id="53" name="Rectangle 52"/>
          <p:cNvSpPr/>
          <p:nvPr/>
        </p:nvSpPr>
        <p:spPr>
          <a:xfrm>
            <a:off x="8717645" y="4556760"/>
            <a:ext cx="2694066"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27373" y="455676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Runs autonomously (credits)</a:t>
            </a:r>
          </a:p>
        </p:txBody>
      </p:sp>
      <p:sp>
        <p:nvSpPr>
          <p:cNvPr id="55" name="Rectangle 54"/>
          <p:cNvSpPr/>
          <p:nvPr/>
        </p:nvSpPr>
        <p:spPr>
          <a:xfrm>
            <a:off x="777240" y="511302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51130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AI Meeting Notes</a:t>
            </a:r>
          </a:p>
        </p:txBody>
      </p:sp>
      <p:sp>
        <p:nvSpPr>
          <p:cNvPr id="57" name="Rectangle 56"/>
          <p:cNvSpPr/>
          <p:nvPr/>
        </p:nvSpPr>
        <p:spPr>
          <a:xfrm>
            <a:off x="3329513" y="511302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39241" y="51130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Transcribe this meeting</a:t>
            </a:r>
          </a:p>
        </p:txBody>
      </p:sp>
      <p:sp>
        <p:nvSpPr>
          <p:cNvPr id="59" name="Rectangle 58"/>
          <p:cNvSpPr/>
          <p:nvPr/>
        </p:nvSpPr>
        <p:spPr>
          <a:xfrm>
            <a:off x="6023579" y="511302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33307" y="51130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Audio</a:t>
            </a:r>
          </a:p>
        </p:txBody>
      </p:sp>
      <p:sp>
        <p:nvSpPr>
          <p:cNvPr id="61" name="Rectangle 60"/>
          <p:cNvSpPr/>
          <p:nvPr/>
        </p:nvSpPr>
        <p:spPr>
          <a:xfrm>
            <a:off x="8717645" y="5113020"/>
            <a:ext cx="2694066"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827373" y="5113020"/>
            <a:ext cx="2474610" cy="556260"/>
          </a:xfrm>
          <a:prstGeom prst="rect">
            <a:avLst/>
          </a:prstGeom>
          <a:noFill/>
        </p:spPr>
        <p:txBody>
          <a:bodyPr wrap="square" anchor="ctr">
            <a:spAutoFit/>
          </a:bodyPr>
          <a:lstStyle/>
          <a:p>
            <a:pPr algn="ctr">
              <a:spcAft>
                <a:spcPts val="400"/>
              </a:spcAft>
            </a:pPr>
            <a:r>
              <a:rPr sz="1100" b="0">
                <a:solidFill>
                  <a:srgbClr val="5B6372"/>
                </a:solidFill>
                <a:latin typeface="Arial"/>
              </a:rPr>
              <a:t>Transcript, summary, action items</a:t>
            </a:r>
          </a:p>
        </p:txBody>
      </p:sp>
      <p:sp>
        <p:nvSpPr>
          <p:cNvPr id="63" name="Rectangle 62"/>
          <p:cNvSpPr/>
          <p:nvPr/>
        </p:nvSpPr>
        <p:spPr>
          <a:xfrm>
            <a:off x="777240" y="5852160"/>
            <a:ext cx="10634472"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05840" y="5852160"/>
            <a:ext cx="10268712" cy="566928"/>
          </a:xfrm>
          <a:prstGeom prst="rect">
            <a:avLst/>
          </a:prstGeom>
          <a:noFill/>
        </p:spPr>
        <p:txBody>
          <a:bodyPr wrap="square" anchor="ctr">
            <a:spAutoFit/>
          </a:bodyPr>
          <a:lstStyle/>
          <a:p>
            <a:pPr algn="l">
              <a:spcAft>
                <a:spcPts val="400"/>
              </a:spcAft>
            </a:pPr>
            <a:r>
              <a:rPr sz="1100" b="1">
                <a:solidFill>
                  <a:srgbClr val="1F6FEB"/>
                </a:solidFill>
                <a:latin typeface="Arial"/>
              </a:rPr>
              <a:t>RULE   </a:t>
            </a:r>
            <a:r>
              <a:rPr sz="1250" b="0">
                <a:solidFill>
                  <a:srgbClr val="161B26"/>
                </a:solidFill>
                <a:latin typeface="Arial"/>
              </a:rPr>
              <a:t>Notion AI only shows information the asking user already has permission to see.</a:t>
            </a:r>
          </a:p>
        </p:txBody>
      </p:sp>
      <p:sp>
        <p:nvSpPr>
          <p:cNvPr id="65" name="TextBox 6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66" name="TextBox 6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7" name="TextBox 6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SENTENCE TO SYSTEM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a Database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Describe</a:t>
            </a:r>
          </a:p>
        </p:txBody>
      </p:sp>
      <p:sp>
        <p:nvSpPr>
          <p:cNvPr id="12" name="TextBox 11"/>
          <p:cNvSpPr txBox="1"/>
          <p:nvPr/>
        </p:nvSpPr>
        <p:spPr>
          <a:xfrm>
            <a:off x="905256" y="3200400"/>
            <a:ext cx="1505102" cy="1005840"/>
          </a:xfrm>
          <a:prstGeom prst="rect">
            <a:avLst/>
          </a:prstGeom>
          <a:noFill/>
        </p:spPr>
        <p:txBody>
          <a:bodyPr wrap="square" anchor="t">
            <a:spAutoFit/>
          </a:bodyPr>
          <a:lstStyle/>
          <a:p>
            <a:pPr algn="l">
              <a:spcAft>
                <a:spcPts val="400"/>
              </a:spcAft>
            </a:pPr>
            <a:r>
              <a:rPr sz="900" b="0">
                <a:solidFill>
                  <a:srgbClr val="5B6372"/>
                </a:solidFill>
                <a:latin typeface="Arial"/>
              </a:rPr>
              <a:t>New page → Database → Build with AI; state purpose, properties, views</a:t>
            </a:r>
          </a:p>
        </p:txBody>
      </p:sp>
      <p:sp>
        <p:nvSpPr>
          <p:cNvPr id="13" name="Rectangle 12"/>
          <p:cNvSpPr/>
          <p:nvPr/>
        </p:nvSpPr>
        <p:spPr>
          <a:xfrm>
            <a:off x="262067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73771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995574"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95574"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23590"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359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3498494"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Review</a:t>
            </a:r>
          </a:p>
        </p:txBody>
      </p:sp>
      <p:sp>
        <p:nvSpPr>
          <p:cNvPr id="20" name="TextBox 19"/>
          <p:cNvSpPr txBox="1"/>
          <p:nvPr/>
        </p:nvSpPr>
        <p:spPr>
          <a:xfrm>
            <a:off x="3123590"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AI proposes properties and views; add, remove, rename</a:t>
            </a:r>
          </a:p>
        </p:txBody>
      </p:sp>
      <p:sp>
        <p:nvSpPr>
          <p:cNvPr id="21" name="Rectangle 20"/>
          <p:cNvSpPr/>
          <p:nvPr/>
        </p:nvSpPr>
        <p:spPr>
          <a:xfrm>
            <a:off x="483900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95604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13908"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13908"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341924"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192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5716828"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Accept</a:t>
            </a:r>
          </a:p>
        </p:txBody>
      </p:sp>
      <p:sp>
        <p:nvSpPr>
          <p:cNvPr id="28" name="TextBox 27"/>
          <p:cNvSpPr txBox="1"/>
          <p:nvPr/>
        </p:nvSpPr>
        <p:spPr>
          <a:xfrm>
            <a:off x="5341924"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Click Done — an empty, structured database</a:t>
            </a:r>
          </a:p>
        </p:txBody>
      </p:sp>
      <p:sp>
        <p:nvSpPr>
          <p:cNvPr id="29" name="Rectangle 28"/>
          <p:cNvSpPr/>
          <p:nvPr/>
        </p:nvSpPr>
        <p:spPr>
          <a:xfrm>
            <a:off x="7057338"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7174382"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432242"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32242"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60258"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60258"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7935162"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Populate</a:t>
            </a:r>
          </a:p>
        </p:txBody>
      </p:sp>
      <p:sp>
        <p:nvSpPr>
          <p:cNvPr id="36" name="TextBox 35"/>
          <p:cNvSpPr txBox="1"/>
          <p:nvPr/>
        </p:nvSpPr>
        <p:spPr>
          <a:xfrm>
            <a:off x="7560258" y="3200400"/>
            <a:ext cx="1505102" cy="1005840"/>
          </a:xfrm>
          <a:prstGeom prst="rect">
            <a:avLst/>
          </a:prstGeom>
          <a:noFill/>
        </p:spPr>
        <p:txBody>
          <a:bodyPr wrap="square" anchor="t">
            <a:spAutoFit/>
          </a:bodyPr>
          <a:lstStyle/>
          <a:p>
            <a:pPr algn="l">
              <a:spcAft>
                <a:spcPts val="400"/>
              </a:spcAft>
            </a:pPr>
            <a:r>
              <a:rPr sz="1000" b="0">
                <a:solidFill>
                  <a:srgbClr val="5B6372"/>
                </a:solidFill>
                <a:latin typeface="Arial"/>
              </a:rPr>
              <a:t>Add rows, import a CSV, or autofill properties</a:t>
            </a:r>
          </a:p>
        </p:txBody>
      </p:sp>
      <p:sp>
        <p:nvSpPr>
          <p:cNvPr id="37" name="Rectangle 36"/>
          <p:cNvSpPr/>
          <p:nvPr/>
        </p:nvSpPr>
        <p:spPr>
          <a:xfrm>
            <a:off x="92756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93927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50576"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0576"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778592" y="2651760"/>
            <a:ext cx="329184" cy="32918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785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43" name="TextBox 42"/>
          <p:cNvSpPr txBox="1"/>
          <p:nvPr/>
        </p:nvSpPr>
        <p:spPr>
          <a:xfrm>
            <a:off x="10153496" y="2615184"/>
            <a:ext cx="1121054"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44" name="TextBox 43"/>
          <p:cNvSpPr txBox="1"/>
          <p:nvPr/>
        </p:nvSpPr>
        <p:spPr>
          <a:xfrm>
            <a:off x="9778592" y="3200400"/>
            <a:ext cx="1505102" cy="1005840"/>
          </a:xfrm>
          <a:prstGeom prst="rect">
            <a:avLst/>
          </a:prstGeom>
          <a:noFill/>
        </p:spPr>
        <p:txBody>
          <a:bodyPr wrap="square" anchor="t">
            <a:spAutoFit/>
          </a:bodyPr>
          <a:lstStyle/>
          <a:p>
            <a:pPr algn="l">
              <a:spcAft>
                <a:spcPts val="400"/>
              </a:spcAft>
            </a:pPr>
            <a:r>
              <a:rPr sz="900" b="0">
                <a:solidFill>
                  <a:srgbClr val="5B6372"/>
                </a:solidFill>
                <a:latin typeface="Arial"/>
              </a:rPr>
              <a:t>Filters, templates, relations and automations as in Topics 5–6</a:t>
            </a:r>
          </a:p>
        </p:txBody>
      </p:sp>
      <p:sp>
        <p:nvSpPr>
          <p:cNvPr id="45" name="Rectangle 44"/>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AI drafts the structure; the content manager still owns the model — check every property type before the team starts entering data.</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A7 · GENERATE IDEAS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Ideas That Improve the Visitor Experience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Listen first</a:t>
            </a:r>
          </a:p>
          <a:p>
            <a:pPr algn="l">
              <a:spcAft>
                <a:spcPts val="200"/>
              </a:spcAft>
            </a:pPr>
            <a:r>
              <a:rPr sz="1100" b="0">
                <a:solidFill>
                  <a:srgbClr val="5B6372"/>
                </a:solidFill>
                <a:latin typeface="Arial"/>
              </a:rPr>
              <a:t>Autofill sentiment and key issue on visitor feedback; group by issue to see what hurts most.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Answer faster</a:t>
            </a:r>
          </a:p>
          <a:p>
            <a:pPr algn="l">
              <a:spcAft>
                <a:spcPts val="200"/>
              </a:spcAft>
            </a:pPr>
            <a:r>
              <a:rPr sz="1100" b="0">
                <a:solidFill>
                  <a:srgbClr val="5B6372"/>
                </a:solidFill>
                <a:latin typeface="Arial"/>
              </a:rPr>
              <a:t>An AI-built FAQ database published in the Help Centre deflects repeat questions.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Guide the visitor</a:t>
            </a:r>
          </a:p>
          <a:p>
            <a:pPr algn="l">
              <a:spcAft>
                <a:spcPts val="200"/>
              </a:spcAft>
            </a:pPr>
            <a:r>
              <a:rPr sz="1100" b="0">
                <a:solidFill>
                  <a:srgbClr val="5B6372"/>
                </a:solidFill>
                <a:latin typeface="Arial"/>
              </a:rPr>
              <a:t>A start-here page, breadcrumbs, table of contents and two-click navigation.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Keep it current</a:t>
            </a:r>
          </a:p>
          <a:p>
            <a:pPr algn="l">
              <a:spcAft>
                <a:spcPts val="200"/>
              </a:spcAft>
            </a:pPr>
            <a:r>
              <a:rPr sz="1100" b="0">
                <a:solidFill>
                  <a:srgbClr val="5B6372"/>
                </a:solidFill>
                <a:latin typeface="Arial"/>
              </a:rPr>
              <a:t>Verification expiry plus a Content Metrics chart of stale, low-view pages.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Speak their language</a:t>
            </a:r>
          </a:p>
          <a:p>
            <a:pPr algn="l">
              <a:spcAft>
                <a:spcPts val="200"/>
              </a:spcAft>
            </a:pPr>
            <a:r>
              <a:rPr sz="1100" b="0">
                <a:solidFill>
                  <a:srgbClr val="5B6372"/>
                </a:solidFill>
                <a:latin typeface="Arial"/>
              </a:rPr>
              <a:t>Translate key pages; keep terminology consistent with a glossary.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Prioritise transparently</a:t>
            </a:r>
          </a:p>
          <a:p>
            <a:pPr algn="l">
              <a:spcAft>
                <a:spcPts val="200"/>
              </a:spcAft>
            </a:pPr>
            <a:r>
              <a:rPr sz="1100" b="0">
                <a:solidFill>
                  <a:srgbClr val="5B6372"/>
                </a:solidFill>
                <a:latin typeface="Arial"/>
              </a:rPr>
              <a:t>Impact minus effort ranks ideas; publish the plan and the roadmap.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Notion AI Settings, Privacy and Plans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Setting or fact</a:t>
            </a:r>
          </a:p>
        </p:txBody>
      </p:sp>
      <p:sp>
        <p:nvSpPr>
          <p:cNvPr id="9" name="Rectangle 8"/>
          <p:cNvSpPr/>
          <p:nvPr/>
        </p:nvSpPr>
        <p:spPr>
          <a:xfrm>
            <a:off x="3329513"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Detail</a:t>
            </a:r>
          </a:p>
        </p:txBody>
      </p:sp>
      <p:sp>
        <p:nvSpPr>
          <p:cNvPr id="11" name="Rectangle 10"/>
          <p:cNvSpPr/>
          <p:nvPr/>
        </p:nvSpPr>
        <p:spPr>
          <a:xfrm>
            <a:off x="7370612"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0340"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Who controls it</a:t>
            </a:r>
          </a:p>
        </p:txBody>
      </p:sp>
      <p:sp>
        <p:nvSpPr>
          <p:cNvPr id="13" name="Rectangle 12"/>
          <p:cNvSpPr/>
          <p:nvPr/>
        </p:nvSpPr>
        <p:spPr>
          <a:xfrm>
            <a:off x="777240" y="2331720"/>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31720"/>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AI Web Search</a:t>
            </a:r>
          </a:p>
        </p:txBody>
      </p:sp>
      <p:sp>
        <p:nvSpPr>
          <p:cNvPr id="15" name="Rectangle 14"/>
          <p:cNvSpPr/>
          <p:nvPr/>
        </p:nvSpPr>
        <p:spPr>
          <a:xfrm>
            <a:off x="3329513" y="2331720"/>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331720"/>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Enable web search; require confirmation for web requests</a:t>
            </a:r>
          </a:p>
        </p:txBody>
      </p:sp>
      <p:sp>
        <p:nvSpPr>
          <p:cNvPr id="17" name="Rectangle 16"/>
          <p:cNvSpPr/>
          <p:nvPr/>
        </p:nvSpPr>
        <p:spPr>
          <a:xfrm>
            <a:off x="7370612" y="2331720"/>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0340" y="2331720"/>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Workspace owner</a:t>
            </a:r>
          </a:p>
        </p:txBody>
      </p:sp>
      <p:sp>
        <p:nvSpPr>
          <p:cNvPr id="19" name="Rectangle 18"/>
          <p:cNvSpPr/>
          <p:nvPr/>
        </p:nvSpPr>
        <p:spPr>
          <a:xfrm>
            <a:off x="777240" y="2898648"/>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98648"/>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Share data to improve Notion AI</a:t>
            </a:r>
          </a:p>
        </p:txBody>
      </p:sp>
      <p:sp>
        <p:nvSpPr>
          <p:cNvPr id="21" name="Rectangle 20"/>
          <p:cNvSpPr/>
          <p:nvPr/>
        </p:nvSpPr>
        <p:spPr>
          <a:xfrm>
            <a:off x="3329513" y="2898648"/>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2898648"/>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Off by default — customer data is not used for training</a:t>
            </a:r>
          </a:p>
        </p:txBody>
      </p:sp>
      <p:sp>
        <p:nvSpPr>
          <p:cNvPr id="23" name="Rectangle 22"/>
          <p:cNvSpPr/>
          <p:nvPr/>
        </p:nvSpPr>
        <p:spPr>
          <a:xfrm>
            <a:off x="7370612" y="2898648"/>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0340" y="2898648"/>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Workspace owner</a:t>
            </a:r>
          </a:p>
        </p:txBody>
      </p:sp>
      <p:sp>
        <p:nvSpPr>
          <p:cNvPr id="25" name="Rectangle 24"/>
          <p:cNvSpPr/>
          <p:nvPr/>
        </p:nvSpPr>
        <p:spPr>
          <a:xfrm>
            <a:off x="777240" y="3465576"/>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465576"/>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Model controls and usage</a:t>
            </a:r>
          </a:p>
        </p:txBody>
      </p:sp>
      <p:sp>
        <p:nvSpPr>
          <p:cNvPr id="27" name="Rectangle 26"/>
          <p:cNvSpPr/>
          <p:nvPr/>
        </p:nvSpPr>
        <p:spPr>
          <a:xfrm>
            <a:off x="3329513" y="3465576"/>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465576"/>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Choose allowed models; premium models spend Notion credits; per-member limits</a:t>
            </a:r>
          </a:p>
        </p:txBody>
      </p:sp>
      <p:sp>
        <p:nvSpPr>
          <p:cNvPr id="29" name="Rectangle 28"/>
          <p:cNvSpPr/>
          <p:nvPr/>
        </p:nvSpPr>
        <p:spPr>
          <a:xfrm>
            <a:off x="7370612" y="3465576"/>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0340" y="3465576"/>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Workspace owner / admin</a:t>
            </a:r>
          </a:p>
        </p:txBody>
      </p:sp>
      <p:sp>
        <p:nvSpPr>
          <p:cNvPr id="31" name="Rectangle 30"/>
          <p:cNvSpPr/>
          <p:nvPr/>
        </p:nvSpPr>
        <p:spPr>
          <a:xfrm>
            <a:off x="777240" y="4032504"/>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032504"/>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AI Connectors</a:t>
            </a:r>
          </a:p>
        </p:txBody>
      </p:sp>
      <p:sp>
        <p:nvSpPr>
          <p:cNvPr id="33" name="Rectangle 32"/>
          <p:cNvSpPr/>
          <p:nvPr/>
        </p:nvSpPr>
        <p:spPr>
          <a:xfrm>
            <a:off x="3329513" y="4032504"/>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4032504"/>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Slack, Google Drive, GitHub and others, subject to each user's permissions</a:t>
            </a:r>
          </a:p>
        </p:txBody>
      </p:sp>
      <p:sp>
        <p:nvSpPr>
          <p:cNvPr id="35" name="Rectangle 34"/>
          <p:cNvSpPr/>
          <p:nvPr/>
        </p:nvSpPr>
        <p:spPr>
          <a:xfrm>
            <a:off x="7370612" y="4032504"/>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0340" y="4032504"/>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Workspace owner</a:t>
            </a:r>
          </a:p>
        </p:txBody>
      </p:sp>
      <p:sp>
        <p:nvSpPr>
          <p:cNvPr id="37" name="Rectangle 36"/>
          <p:cNvSpPr/>
          <p:nvPr/>
        </p:nvSpPr>
        <p:spPr>
          <a:xfrm>
            <a:off x="777240" y="4599432"/>
            <a:ext cx="2552273"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599432"/>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Security</a:t>
            </a:r>
          </a:p>
        </p:txBody>
      </p:sp>
      <p:sp>
        <p:nvSpPr>
          <p:cNvPr id="39" name="Rectangle 38"/>
          <p:cNvSpPr/>
          <p:nvPr/>
        </p:nvSpPr>
        <p:spPr>
          <a:xfrm>
            <a:off x="3329513" y="4599432"/>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39241" y="4599432"/>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TLS in transit; zero data retention for Enterprise, 30 days otherwise; SOC 2, ISO 27001, GDPR, HIPAA (Enterprise)</a:t>
            </a:r>
          </a:p>
        </p:txBody>
      </p:sp>
      <p:sp>
        <p:nvSpPr>
          <p:cNvPr id="41" name="Rectangle 40"/>
          <p:cNvSpPr/>
          <p:nvPr/>
        </p:nvSpPr>
        <p:spPr>
          <a:xfrm>
            <a:off x="7370612" y="4599432"/>
            <a:ext cx="4041099" cy="5669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0340" y="4599432"/>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Notion</a:t>
            </a:r>
          </a:p>
        </p:txBody>
      </p:sp>
      <p:sp>
        <p:nvSpPr>
          <p:cNvPr id="43" name="Rectangle 42"/>
          <p:cNvSpPr/>
          <p:nvPr/>
        </p:nvSpPr>
        <p:spPr>
          <a:xfrm>
            <a:off x="777240" y="5166360"/>
            <a:ext cx="2552273"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166360"/>
            <a:ext cx="2277953" cy="566928"/>
          </a:xfrm>
          <a:prstGeom prst="rect">
            <a:avLst/>
          </a:prstGeom>
          <a:noFill/>
        </p:spPr>
        <p:txBody>
          <a:bodyPr wrap="square" anchor="ctr">
            <a:spAutoFit/>
          </a:bodyPr>
          <a:lstStyle/>
          <a:p>
            <a:pPr algn="l">
              <a:spcAft>
                <a:spcPts val="400"/>
              </a:spcAft>
            </a:pPr>
            <a:r>
              <a:rPr sz="1150" b="1">
                <a:solidFill>
                  <a:srgbClr val="161B26"/>
                </a:solidFill>
                <a:latin typeface="Arial"/>
              </a:rPr>
              <a:t>Pricing</a:t>
            </a:r>
          </a:p>
        </p:txBody>
      </p:sp>
      <p:sp>
        <p:nvSpPr>
          <p:cNvPr id="45" name="Rectangle 44"/>
          <p:cNvSpPr/>
          <p:nvPr/>
        </p:nvSpPr>
        <p:spPr>
          <a:xfrm>
            <a:off x="3329513" y="5166360"/>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39241" y="5166360"/>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Included in Business and Enterprise; trial responses on Free and Plus; Custom Agents use credits from May 2026</a:t>
            </a:r>
          </a:p>
        </p:txBody>
      </p:sp>
      <p:sp>
        <p:nvSpPr>
          <p:cNvPr id="47" name="Rectangle 46"/>
          <p:cNvSpPr/>
          <p:nvPr/>
        </p:nvSpPr>
        <p:spPr>
          <a:xfrm>
            <a:off x="7370612" y="5166360"/>
            <a:ext cx="4041099"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80340" y="5166360"/>
            <a:ext cx="3821643" cy="566928"/>
          </a:xfrm>
          <a:prstGeom prst="rect">
            <a:avLst/>
          </a:prstGeom>
          <a:noFill/>
        </p:spPr>
        <p:txBody>
          <a:bodyPr wrap="square" anchor="ctr">
            <a:spAutoFit/>
          </a:bodyPr>
          <a:lstStyle/>
          <a:p>
            <a:pPr algn="ctr">
              <a:spcAft>
                <a:spcPts val="400"/>
              </a:spcAft>
            </a:pPr>
            <a:r>
              <a:rPr sz="1100" b="0">
                <a:solidFill>
                  <a:srgbClr val="5B6372"/>
                </a:solidFill>
                <a:latin typeface="Arial"/>
              </a:rPr>
              <a:t>Plan</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Visitor Feedback Sentiment (Lab 12 Sample)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WHAT THE DATA SHOWS</a:t>
            </a:r>
          </a:p>
        </p:txBody>
      </p:sp>
      <p:sp>
        <p:nvSpPr>
          <p:cNvPr id="11" name="TextBox 10"/>
          <p:cNvSpPr txBox="1"/>
          <p:nvPr/>
        </p:nvSpPr>
        <p:spPr>
          <a:xfrm>
            <a:off x="8778240" y="2560320"/>
            <a:ext cx="2377440" cy="2103120"/>
          </a:xfrm>
          <a:prstGeom prst="rect">
            <a:avLst/>
          </a:prstGeom>
          <a:noFill/>
        </p:spPr>
        <p:txBody>
          <a:bodyPr wrap="square" anchor="t">
            <a:spAutoFit/>
          </a:bodyPr>
          <a:lstStyle/>
          <a:p>
            <a:pPr algn="l">
              <a:spcAft>
                <a:spcPts val="400"/>
              </a:spcAft>
            </a:pPr>
            <a:r>
              <a:rPr sz="1250" b="0">
                <a:solidFill>
                  <a:srgbClr val="161B26"/>
                </a:solidFill>
                <a:latin typeface="Arial"/>
              </a:rPr>
              <a:t>Navigation and missing topics generate most negative feedback; content clarity is already positive. The improvement plan should start with the start-here page and the FAQ database, not with rewriting articles.</a:t>
            </a:r>
          </a:p>
        </p:txBody>
      </p:sp>
      <p:sp>
        <p:nvSpPr>
          <p:cNvPr id="12" name="Rectangle 11"/>
          <p:cNvSpPr/>
          <p:nvPr/>
        </p:nvSpPr>
        <p:spPr>
          <a:xfrm>
            <a:off x="8732520" y="475488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91947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919472"/>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846320"/>
            <a:ext cx="2103120" cy="1005840"/>
          </a:xfrm>
          <a:prstGeom prst="rect">
            <a:avLst/>
          </a:prstGeom>
          <a:noFill/>
        </p:spPr>
        <p:txBody>
          <a:bodyPr wrap="square" anchor="t">
            <a:spAutoFit/>
          </a:bodyPr>
          <a:lstStyle/>
          <a:p>
            <a:pPr algn="l">
              <a:spcAft>
                <a:spcPts val="100"/>
              </a:spcAft>
            </a:pPr>
            <a:r>
              <a:rPr sz="950" b="0">
                <a:solidFill>
                  <a:srgbClr val="5B6372"/>
                </a:solidFill>
                <a:latin typeface="Arial"/>
              </a:rPr>
              <a:t>Native PowerPoint chart · editable data · indicative teaching figures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 LAB · ADVANCED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Use Notion AI to Write, Autofill, Answer Questions and Improve the Visitor Experience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12</a:t>
            </a:r>
          </a:p>
        </p:txBody>
      </p:sp>
      <p:sp>
        <p:nvSpPr>
          <p:cNvPr id="9" name="Rectangle 8"/>
          <p:cNvSpPr/>
          <p:nvPr/>
        </p:nvSpPr>
        <p:spPr>
          <a:xfrm>
            <a:off x="2286000" y="1691640"/>
            <a:ext cx="155448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554480" cy="365760"/>
          </a:xfrm>
          <a:prstGeom prst="rect">
            <a:avLst/>
          </a:prstGeom>
          <a:noFill/>
        </p:spPr>
        <p:txBody>
          <a:bodyPr wrap="square" anchor="t">
            <a:spAutoFit/>
          </a:bodyPr>
          <a:lstStyle/>
          <a:p>
            <a:pPr algn="ctr">
              <a:spcAft>
                <a:spcPts val="400"/>
              </a:spcAft>
            </a:pPr>
            <a:r>
              <a:rPr sz="1300" b="1">
                <a:solidFill>
                  <a:srgbClr val="5B6372"/>
                </a:solidFill>
                <a:latin typeface="Arial"/>
              </a:rPr>
              <a:t>K8 · A7</a:t>
            </a:r>
          </a:p>
        </p:txBody>
      </p:sp>
      <p:sp>
        <p:nvSpPr>
          <p:cNvPr id="11" name="Rectangle 10"/>
          <p:cNvSpPr/>
          <p:nvPr/>
        </p:nvSpPr>
        <p:spPr>
          <a:xfrm>
            <a:off x="3977639"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25 min</a:t>
            </a:r>
          </a:p>
        </p:txBody>
      </p:sp>
      <p:sp>
        <p:nvSpPr>
          <p:cNvPr id="13" name="TextBox 12"/>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use Notion AI to draft and edit Help Centre articles, add an AI block summary, autofill keywords and sentiment on the supplied visitor feedback database, ask Q&amp;A questions across the workspace, build a FAQ database with AI, and turn the answers into a prioritised list of visitor-experience improvements for the public Help Centre.</a:t>
            </a:r>
          </a:p>
        </p:txBody>
      </p:sp>
      <p:sp>
        <p:nvSpPr>
          <p:cNvPr id="14" name="Rectangle 13"/>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7" name="TextBox 16"/>
          <p:cNvSpPr txBox="1"/>
          <p:nvPr/>
        </p:nvSpPr>
        <p:spPr>
          <a:xfrm>
            <a:off x="1005840" y="4526280"/>
            <a:ext cx="10149840" cy="731520"/>
          </a:xfrm>
          <a:prstGeom prst="rect">
            <a:avLst/>
          </a:prstGeom>
          <a:noFill/>
        </p:spPr>
        <p:txBody>
          <a:bodyPr wrap="square" anchor="t">
            <a:spAutoFit/>
          </a:bodyPr>
          <a:lstStyle/>
          <a:p>
            <a:pPr algn="l">
              <a:spcAft>
                <a:spcPts val="400"/>
              </a:spcAft>
            </a:pPr>
            <a:r>
              <a:rPr sz="1600" b="1">
                <a:solidFill>
                  <a:srgbClr val="161B26"/>
                </a:solidFill>
                <a:latin typeface="Arial"/>
              </a:rPr>
              <a:t>AI-drafted and edited Help Centre content, an autofilled feedback database, Q&amp;A answers with citations, an AI-built FAQ database and a ranked visitor-experience improvement plan</a:t>
            </a:r>
          </a:p>
        </p:txBody>
      </p:sp>
      <p:sp>
        <p:nvSpPr>
          <p:cNvPr id="18" name="TextBox 17"/>
          <p:cNvSpPr txBox="1"/>
          <p:nvPr/>
        </p:nvSpPr>
        <p:spPr>
          <a:xfrm>
            <a:off x="1005840" y="5285232"/>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Notion AI (Writer, AI blocks, Autofill, Q&amp;A / Enterprise Search, Build with AI)</a:t>
            </a:r>
          </a:p>
        </p:txBody>
      </p:sp>
      <p:sp>
        <p:nvSpPr>
          <p:cNvPr id="19" name="Rectangle 18"/>
          <p:cNvSpPr/>
          <p:nvPr/>
        </p:nvSpPr>
        <p:spPr>
          <a:xfrm>
            <a:off x="777240"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89788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89788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K8 · A7</a:t>
            </a:r>
          </a:p>
        </p:txBody>
      </p:sp>
      <p:sp>
        <p:nvSpPr>
          <p:cNvPr id="22" name="Rectangle 21"/>
          <p:cNvSpPr/>
          <p:nvPr/>
        </p:nvSpPr>
        <p:spPr>
          <a:xfrm>
            <a:off x="4407408"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589788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89788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Advanced</a:t>
            </a:r>
          </a:p>
        </p:txBody>
      </p:sp>
      <p:sp>
        <p:nvSpPr>
          <p:cNvPr id="25" name="Rectangle 24"/>
          <p:cNvSpPr/>
          <p:nvPr/>
        </p:nvSpPr>
        <p:spPr>
          <a:xfrm>
            <a:off x="8037576" y="589788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7576" y="589788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02168" y="589788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Screenshots · lab README checklist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TextBox 10"/>
          <p:cNvSpPr txBox="1"/>
          <p:nvPr/>
        </p:nvSpPr>
        <p:spPr>
          <a:xfrm>
            <a:off x="1280160"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Prepare</a:t>
            </a:r>
          </a:p>
        </p:txBody>
      </p:sp>
      <p:sp>
        <p:nvSpPr>
          <p:cNvPr id="12" name="TextBox 11"/>
          <p:cNvSpPr txBox="1"/>
          <p:nvPr/>
        </p:nvSpPr>
        <p:spPr>
          <a:xfrm>
            <a:off x="905256"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Draft and edit with Writer</a:t>
            </a:r>
          </a:p>
        </p:txBody>
      </p:sp>
      <p:sp>
        <p:nvSpPr>
          <p:cNvPr id="13" name="Rectangle 12"/>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78174"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8174"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9" name="TextBox 18"/>
          <p:cNvSpPr txBox="1"/>
          <p:nvPr/>
        </p:nvSpPr>
        <p:spPr>
          <a:xfrm>
            <a:off x="4053078"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Build</a:t>
            </a:r>
          </a:p>
        </p:txBody>
      </p:sp>
      <p:sp>
        <p:nvSpPr>
          <p:cNvPr id="20" name="TextBox 19"/>
          <p:cNvSpPr txBox="1"/>
          <p:nvPr/>
        </p:nvSpPr>
        <p:spPr>
          <a:xfrm>
            <a:off x="3678174"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Autofill the feedback database</a:t>
            </a:r>
          </a:p>
        </p:txBody>
      </p:sp>
      <p:sp>
        <p:nvSpPr>
          <p:cNvPr id="21" name="Rectangle 20"/>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51092"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092"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7" name="TextBox 26"/>
          <p:cNvSpPr txBox="1"/>
          <p:nvPr/>
        </p:nvSpPr>
        <p:spPr>
          <a:xfrm>
            <a:off x="6825996"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Refine</a:t>
            </a:r>
          </a:p>
        </p:txBody>
      </p:sp>
      <p:sp>
        <p:nvSpPr>
          <p:cNvPr id="28" name="TextBox 27"/>
          <p:cNvSpPr txBox="1"/>
          <p:nvPr/>
        </p:nvSpPr>
        <p:spPr>
          <a:xfrm>
            <a:off x="6451092"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Ask Q&amp;A and search</a:t>
            </a:r>
          </a:p>
        </p:txBody>
      </p:sp>
      <p:sp>
        <p:nvSpPr>
          <p:cNvPr id="29" name="Rectangle 28"/>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24010" y="2651760"/>
            <a:ext cx="329184" cy="3291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4010" y="2651760"/>
            <a:ext cx="329184" cy="329184"/>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35" name="TextBox 34"/>
          <p:cNvSpPr txBox="1"/>
          <p:nvPr/>
        </p:nvSpPr>
        <p:spPr>
          <a:xfrm>
            <a:off x="9598914" y="2615184"/>
            <a:ext cx="1675638" cy="457200"/>
          </a:xfrm>
          <a:prstGeom prst="rect">
            <a:avLst/>
          </a:prstGeom>
          <a:noFill/>
        </p:spPr>
        <p:txBody>
          <a:bodyPr wrap="square" anchor="ctr">
            <a:spAutoFit/>
          </a:bodyPr>
          <a:lstStyle/>
          <a:p>
            <a:pPr algn="l">
              <a:spcAft>
                <a:spcPts val="400"/>
              </a:spcAft>
            </a:pPr>
            <a:r>
              <a:rPr sz="1500" b="1">
                <a:solidFill>
                  <a:srgbClr val="161B26"/>
                </a:solidFill>
                <a:latin typeface="Arial"/>
              </a:rPr>
              <a:t>Verify</a:t>
            </a:r>
          </a:p>
        </p:txBody>
      </p:sp>
      <p:sp>
        <p:nvSpPr>
          <p:cNvPr id="36" name="TextBox 35"/>
          <p:cNvSpPr txBox="1"/>
          <p:nvPr/>
        </p:nvSpPr>
        <p:spPr>
          <a:xfrm>
            <a:off x="9224010" y="3200400"/>
            <a:ext cx="2059686" cy="1005840"/>
          </a:xfrm>
          <a:prstGeom prst="rect">
            <a:avLst/>
          </a:prstGeom>
          <a:noFill/>
        </p:spPr>
        <p:txBody>
          <a:bodyPr wrap="square" anchor="t">
            <a:spAutoFit/>
          </a:bodyPr>
          <a:lstStyle/>
          <a:p>
            <a:pPr algn="l">
              <a:spcAft>
                <a:spcPts val="400"/>
              </a:spcAft>
            </a:pPr>
            <a:r>
              <a:rPr sz="1100" b="0">
                <a:solidFill>
                  <a:srgbClr val="5B6372"/>
                </a:solidFill>
                <a:latin typeface="Arial"/>
              </a:rPr>
              <a:t>Rank improvement ideas</a:t>
            </a:r>
          </a:p>
        </p:txBody>
      </p:sp>
      <p:sp>
        <p:nvSpPr>
          <p:cNvPr id="37" name="Rectangle 36"/>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 the full click-by-click procedure is in the Learner Guide (Lab 12) and the lab's instruction PDF.</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ACCEPTANCE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Use Notion AI to Write, Autofill, Answer Questions and Improve the Visitor Experience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10698480" cy="26517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94560"/>
            <a:ext cx="10058400" cy="457200"/>
          </a:xfrm>
          <a:prstGeom prst="rect">
            <a:avLst/>
          </a:prstGeom>
          <a:noFill/>
        </p:spPr>
        <p:txBody>
          <a:bodyPr wrap="square" anchor="t">
            <a:spAutoFit/>
          </a:bodyPr>
          <a:lstStyle/>
          <a:p>
            <a:pPr algn="l">
              <a:spcAft>
                <a:spcPts val="400"/>
              </a:spcAft>
            </a:pPr>
            <a:r>
              <a:rPr sz="1800" b="1">
                <a:solidFill>
                  <a:srgbClr val="127A3E"/>
                </a:solidFill>
                <a:latin typeface="Arial"/>
              </a:rPr>
              <a:t>✅  Acceptance check</a:t>
            </a:r>
          </a:p>
        </p:txBody>
      </p:sp>
      <p:sp>
        <p:nvSpPr>
          <p:cNvPr id="10" name="TextBox 9"/>
          <p:cNvSpPr txBox="1"/>
          <p:nvPr/>
        </p:nvSpPr>
        <p:spPr>
          <a:xfrm>
            <a:off x="1097280" y="2743200"/>
            <a:ext cx="10149840" cy="1737360"/>
          </a:xfrm>
          <a:prstGeom prst="rect">
            <a:avLst/>
          </a:prstGeom>
          <a:noFill/>
        </p:spPr>
        <p:txBody>
          <a:bodyPr wrap="square" anchor="t">
            <a:spAutoFit/>
          </a:bodyPr>
          <a:lstStyle/>
          <a:p>
            <a:pPr algn="l">
              <a:spcAft>
                <a:spcPts val="400"/>
              </a:spcAft>
            </a:pPr>
            <a:r>
              <a:rPr sz="1500" b="0">
                <a:solidFill>
                  <a:srgbClr val="161B26"/>
                </a:solidFill>
                <a:latin typeface="Arial"/>
              </a:rPr>
              <a:t>How to Request a Content Change was drafted with Writer and translated, the article carries two AI blocks, Visitor Feedback shows autofilled Sentiment and Key issue for every row, Q&amp;A returns cited answers, the FAQ database was built with AI, and Visitor Experience Plan ranks ten improvements by the Priority formula with a management recommendation.</a:t>
            </a:r>
          </a:p>
        </p:txBody>
      </p:sp>
      <p:sp>
        <p:nvSpPr>
          <p:cNvPr id="11" name="Rectangle 10"/>
          <p:cNvSpPr/>
          <p:nvPr/>
        </p:nvSpPr>
        <p:spPr>
          <a:xfrm>
            <a:off x="777240" y="4754880"/>
            <a:ext cx="1069848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75488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892040"/>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1</a:t>
            </a:r>
          </a:p>
        </p:txBody>
      </p:sp>
      <p:sp>
        <p:nvSpPr>
          <p:cNvPr id="16" name="TextBox 15"/>
          <p:cNvSpPr txBox="1"/>
          <p:nvPr/>
        </p:nvSpPr>
        <p:spPr>
          <a:xfrm>
            <a:off x="146304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Re-read the step: most misses are the page menu (top right) versus the block handle (left of a block).</a:t>
            </a:r>
          </a:p>
        </p:txBody>
      </p:sp>
      <p:sp>
        <p:nvSpPr>
          <p:cNvPr id="17" name="Oval 16"/>
          <p:cNvSpPr/>
          <p:nvPr/>
        </p:nvSpPr>
        <p:spPr>
          <a:xfrm>
            <a:off x="461772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2</a:t>
            </a:r>
          </a:p>
        </p:txBody>
      </p:sp>
      <p:sp>
        <p:nvSpPr>
          <p:cNvPr id="19" name="TextBox 18"/>
          <p:cNvSpPr txBox="1"/>
          <p:nvPr/>
        </p:nvSpPr>
        <p:spPr>
          <a:xfrm>
            <a:off x="498348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Check you are in the right page or teamspace — the sidebar shows the path.</a:t>
            </a:r>
          </a:p>
        </p:txBody>
      </p:sp>
      <p:sp>
        <p:nvSpPr>
          <p:cNvPr id="20" name="Oval 19"/>
          <p:cNvSpPr/>
          <p:nvPr/>
        </p:nvSpPr>
        <p:spPr>
          <a:xfrm>
            <a:off x="8138160" y="528523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5285232"/>
            <a:ext cx="274320" cy="274320"/>
          </a:xfrm>
          <a:prstGeom prst="rect">
            <a:avLst/>
          </a:prstGeom>
          <a:noFill/>
        </p:spPr>
        <p:txBody>
          <a:bodyPr wrap="square" anchor="ctr">
            <a:spAutoFit/>
          </a:bodyPr>
          <a:lstStyle/>
          <a:p>
            <a:pPr algn="ctr">
              <a:spcAft>
                <a:spcPts val="400"/>
              </a:spcAft>
            </a:pPr>
            <a:r>
              <a:rPr sz="1000" b="1">
                <a:solidFill>
                  <a:srgbClr val="FFFFFF"/>
                </a:solidFill>
                <a:latin typeface="Arial"/>
              </a:rPr>
              <a:t>3</a:t>
            </a:r>
          </a:p>
        </p:txBody>
      </p:sp>
      <p:sp>
        <p:nvSpPr>
          <p:cNvPr id="22" name="TextBox 21"/>
          <p:cNvSpPr txBox="1"/>
          <p:nvPr/>
        </p:nvSpPr>
        <p:spPr>
          <a:xfrm>
            <a:off x="8503920" y="5230368"/>
            <a:ext cx="3063240" cy="822960"/>
          </a:xfrm>
          <a:prstGeom prst="rect">
            <a:avLst/>
          </a:prstGeom>
          <a:noFill/>
        </p:spPr>
        <p:txBody>
          <a:bodyPr wrap="square" anchor="t">
            <a:spAutoFit/>
          </a:bodyPr>
          <a:lstStyle/>
          <a:p>
            <a:pPr algn="l">
              <a:spcAft>
                <a:spcPts val="400"/>
              </a:spcAft>
            </a:pPr>
            <a:r>
              <a:rPr sz="1050" b="0">
                <a:solidFill>
                  <a:srgbClr val="161B26"/>
                </a:solidFill>
                <a:latin typeface="Arial"/>
              </a:rPr>
              <a:t>Full click-by-click steps: Learner Guide and the lab's instruction PDF.</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advClick="1">
    <p:push dir="l"/>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DELIVERED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9482328" cy="786384"/>
          </a:xfrm>
          <a:prstGeom prst="rect">
            <a:avLst/>
          </a:prstGeom>
          <a:noFill/>
        </p:spPr>
        <p:txBody>
          <a:bodyPr wrap="square" anchor="ctr">
            <a:spAutoFit/>
          </a:bodyPr>
          <a:lstStyle/>
          <a:p>
            <a:pPr algn="l">
              <a:spcAft>
                <a:spcPts val="200"/>
              </a:spcAft>
            </a:pPr>
            <a:r>
              <a:rPr sz="1500" b="1">
                <a:solidFill>
                  <a:srgbClr val="161B26"/>
                </a:solidFill>
                <a:latin typeface="Arial"/>
              </a:rPr>
              <a:t>LO1 · Policies and permissions</a:t>
            </a:r>
          </a:p>
          <a:p>
            <a:pPr algn="l">
              <a:spcAft>
                <a:spcPts val="200"/>
              </a:spcAft>
            </a:pPr>
            <a:r>
              <a:rPr sz="1100" b="0">
                <a:solidFill>
                  <a:srgbClr val="5B6372"/>
                </a:solidFill>
                <a:latin typeface="Arial"/>
              </a:rPr>
              <a:t>A governed workspace: wiki, verified pages, owners, permissions, teamspaces and locks (Labs 1–3, 10).</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026664"/>
            <a:ext cx="9482328" cy="786384"/>
          </a:xfrm>
          <a:prstGeom prst="rect">
            <a:avLst/>
          </a:prstGeom>
          <a:noFill/>
        </p:spPr>
        <p:txBody>
          <a:bodyPr wrap="square" anchor="ctr">
            <a:spAutoFit/>
          </a:bodyPr>
          <a:lstStyle/>
          <a:p>
            <a:pPr algn="l">
              <a:spcAft>
                <a:spcPts val="200"/>
              </a:spcAft>
            </a:pPr>
            <a:r>
              <a:rPr sz="1500" b="1">
                <a:solidFill>
                  <a:srgbClr val="161B26"/>
                </a:solidFill>
                <a:latin typeface="Arial"/>
              </a:rPr>
              <a:t>LO2 · Post and update content</a:t>
            </a:r>
          </a:p>
          <a:p>
            <a:pPr algn="l">
              <a:spcAft>
                <a:spcPts val="200"/>
              </a:spcAft>
            </a:pPr>
            <a:r>
              <a:rPr sz="1100" b="0">
                <a:solidFill>
                  <a:srgbClr val="5B6372"/>
                </a:solidFill>
                <a:latin typeface="Arial"/>
              </a:rPr>
              <a:t>Structured, media-rich, style-compliant articles with navigation and synced components (Labs 4–6).</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78808"/>
            <a:ext cx="9482328" cy="786384"/>
          </a:xfrm>
          <a:prstGeom prst="rect">
            <a:avLst/>
          </a:prstGeom>
          <a:noFill/>
        </p:spPr>
        <p:txBody>
          <a:bodyPr wrap="square" anchor="ctr">
            <a:spAutoFit/>
          </a:bodyPr>
          <a:lstStyle/>
          <a:p>
            <a:pPr algn="l">
              <a:spcAft>
                <a:spcPts val="200"/>
              </a:spcAft>
            </a:pPr>
            <a:r>
              <a:rPr sz="1500" b="1">
                <a:solidFill>
                  <a:srgbClr val="161B26"/>
                </a:solidFill>
                <a:latin typeface="Arial"/>
              </a:rPr>
              <a:t>LO3 · Maintain web properties and assets</a:t>
            </a:r>
          </a:p>
          <a:p>
            <a:pPr algn="l">
              <a:spcAft>
                <a:spcPts val="200"/>
              </a:spcAft>
            </a:pPr>
            <a:r>
              <a:rPr sz="1100" b="0">
                <a:solidFill>
                  <a:srgbClr val="5B6372"/>
                </a:solidFill>
                <a:latin typeface="Arial"/>
              </a:rPr>
              <a:t>Relational databases for calendar, projects, tasks, clients and deliverables, with views, rollups, formulas and automations (Labs 7–9).</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5330952"/>
            <a:ext cx="9482328" cy="786384"/>
          </a:xfrm>
          <a:prstGeom prst="rect">
            <a:avLst/>
          </a:prstGeom>
          <a:noFill/>
        </p:spPr>
        <p:txBody>
          <a:bodyPr wrap="square" anchor="ctr">
            <a:spAutoFit/>
          </a:bodyPr>
          <a:lstStyle/>
          <a:p>
            <a:pPr algn="l">
              <a:spcAft>
                <a:spcPts val="200"/>
              </a:spcAft>
            </a:pPr>
            <a:r>
              <a:rPr sz="1500" b="1">
                <a:solidFill>
                  <a:srgbClr val="161B26"/>
                </a:solidFill>
                <a:latin typeface="Arial"/>
              </a:rPr>
              <a:t>LO4 · Report, recommend, improve</a:t>
            </a:r>
          </a:p>
          <a:p>
            <a:pPr algn="l">
              <a:spcAft>
                <a:spcPts val="200"/>
              </a:spcAft>
            </a:pPr>
            <a:r>
              <a:rPr sz="1100" b="0">
                <a:solidFill>
                  <a:srgbClr val="5B6372"/>
                </a:solidFill>
                <a:latin typeface="Arial"/>
              </a:rPr>
              <a:t>Page analytics and a metrics dashboard, API-backed integrations and plug-in recommendations, and AI-generated visitor-experience ideas (Labs 10–12).</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Taking This Back to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Start with the policy</a:t>
            </a:r>
          </a:p>
          <a:p>
            <a:pPr algn="l">
              <a:spcAft>
                <a:spcPts val="200"/>
              </a:spcAft>
            </a:pPr>
            <a:r>
              <a:rPr sz="1100" b="0">
                <a:solidFill>
                  <a:srgbClr val="5B6372"/>
                </a:solidFill>
                <a:latin typeface="Arial"/>
              </a:rPr>
              <a:t>Write the content management policy first; every structure decision follows from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Four sections, then databases</a:t>
            </a:r>
          </a:p>
          <a:p>
            <a:pPr algn="l">
              <a:spcAft>
                <a:spcPts val="200"/>
              </a:spcAft>
            </a:pPr>
            <a:r>
              <a:rPr sz="1100" b="0">
                <a:solidFill>
                  <a:srgbClr val="5B6372"/>
                </a:solidFill>
                <a:latin typeface="Arial"/>
              </a:rPr>
              <a:t>Wiki, content, projects, public — then turn repeated pages into databases.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Owners and verification</a:t>
            </a:r>
          </a:p>
          <a:p>
            <a:pPr algn="l">
              <a:spcAft>
                <a:spcPts val="200"/>
              </a:spcAft>
            </a:pPr>
            <a:r>
              <a:rPr sz="1100" b="0">
                <a:solidFill>
                  <a:srgbClr val="5B6372"/>
                </a:solidFill>
                <a:latin typeface="Arial"/>
              </a:rPr>
              <a:t>No page without an owner; no policy without an expiry date.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Measure before you redesign</a:t>
            </a:r>
          </a:p>
          <a:p>
            <a:pPr algn="l">
              <a:spcAft>
                <a:spcPts val="200"/>
              </a:spcAft>
            </a:pPr>
            <a:r>
              <a:rPr sz="1100" b="0">
                <a:solidFill>
                  <a:srgbClr val="5B6372"/>
                </a:solidFill>
                <a:latin typeface="Arial"/>
              </a:rPr>
              <a:t>Read page analytics for a month before changing the navigation.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Integrate deliberately</a:t>
            </a:r>
          </a:p>
          <a:p>
            <a:pPr algn="l">
              <a:spcAft>
                <a:spcPts val="200"/>
              </a:spcAft>
            </a:pPr>
            <a:r>
              <a:rPr sz="1100" b="0">
                <a:solidFill>
                  <a:srgbClr val="5B6372"/>
                </a:solidFill>
                <a:latin typeface="Arial"/>
              </a:rPr>
              <a:t>Recommend plug-ins against the six criteria; keep the API token out of pages.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70432"/>
          </a:xfrm>
          <a:prstGeom prst="rect">
            <a:avLst/>
          </a:prstGeom>
          <a:noFill/>
        </p:spPr>
        <p:txBody>
          <a:bodyPr wrap="square" anchor="ctr">
            <a:spAutoFit/>
          </a:bodyPr>
          <a:lstStyle/>
          <a:p>
            <a:pPr algn="l">
              <a:spcAft>
                <a:spcPts val="200"/>
              </a:spcAft>
            </a:pPr>
            <a:r>
              <a:rPr sz="1500" b="1">
                <a:solidFill>
                  <a:srgbClr val="161B26"/>
                </a:solidFill>
                <a:latin typeface="Arial"/>
              </a:rPr>
              <a:t>Let AI draft, keep humans accountable</a:t>
            </a:r>
          </a:p>
          <a:p>
            <a:pPr algn="l">
              <a:spcAft>
                <a:spcPts val="200"/>
              </a:spcAft>
            </a:pPr>
            <a:r>
              <a:rPr sz="1100" b="0">
                <a:solidFill>
                  <a:srgbClr val="5B6372"/>
                </a:solidFill>
                <a:latin typeface="Arial"/>
              </a:rPr>
              <a:t>Writer, Autofill and Q&amp;A speed the work; a named person approves what is published.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THE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Recommended Follow-On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9482328" cy="555955"/>
          </a:xfrm>
          <a:prstGeom prst="rect">
            <a:avLst/>
          </a:prstGeom>
          <a:noFill/>
        </p:spPr>
        <p:txBody>
          <a:bodyPr wrap="square" anchor="ctr">
            <a:spAutoFit/>
          </a:bodyPr>
          <a:lstStyle/>
          <a:p>
            <a:pPr algn="l">
              <a:spcAft>
                <a:spcPts val="200"/>
              </a:spcAft>
            </a:pPr>
            <a:r>
              <a:rPr sz="1400" b="1">
                <a:solidFill>
                  <a:srgbClr val="161B26"/>
                </a:solidFill>
                <a:latin typeface="Arial"/>
              </a:rPr>
              <a:t>Search Engine Optimization (SEO) to Enhance Brand Awareness and Online Business</a:t>
            </a:r>
          </a:p>
          <a:p>
            <a:pPr algn="l">
              <a:spcAft>
                <a:spcPts val="200"/>
              </a:spcAft>
            </a:pPr>
            <a:r>
              <a:rPr sz="1000" b="0">
                <a:solidFill>
                  <a:srgbClr val="5B6372"/>
                </a:solidFill>
                <a:latin typeface="Arial"/>
              </a:rPr>
              <a:t>WSQ funded · Tertiary Infotech Academy</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796235"/>
            <a:ext cx="9482328" cy="555955"/>
          </a:xfrm>
          <a:prstGeom prst="rect">
            <a:avLst/>
          </a:prstGeom>
          <a:noFill/>
        </p:spPr>
        <p:txBody>
          <a:bodyPr wrap="square" anchor="ctr">
            <a:spAutoFit/>
          </a:bodyPr>
          <a:lstStyle/>
          <a:p>
            <a:pPr algn="l">
              <a:spcAft>
                <a:spcPts val="200"/>
              </a:spcAft>
            </a:pPr>
            <a:r>
              <a:rPr sz="1400" b="1">
                <a:solidFill>
                  <a:srgbClr val="161B26"/>
                </a:solidFill>
                <a:latin typeface="Arial"/>
              </a:rPr>
              <a:t>Building Professional Websites with WordPress</a:t>
            </a:r>
          </a:p>
          <a:p>
            <a:pPr algn="l">
              <a:spcAft>
                <a:spcPts val="200"/>
              </a:spcAft>
            </a:pPr>
            <a:r>
              <a:rPr sz="1000" b="0">
                <a:solidFill>
                  <a:srgbClr val="5B6372"/>
                </a:solidFill>
                <a:latin typeface="Arial"/>
              </a:rPr>
              <a:t>WSQ funded · Tertiary Infotech Academy</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17950"/>
            <a:ext cx="9482328" cy="555955"/>
          </a:xfrm>
          <a:prstGeom prst="rect">
            <a:avLst/>
          </a:prstGeom>
          <a:noFill/>
        </p:spPr>
        <p:txBody>
          <a:bodyPr wrap="square" anchor="ctr">
            <a:spAutoFit/>
          </a:bodyPr>
          <a:lstStyle/>
          <a:p>
            <a:pPr algn="l">
              <a:spcAft>
                <a:spcPts val="200"/>
              </a:spcAft>
            </a:pPr>
            <a:r>
              <a:rPr sz="1400" b="1">
                <a:solidFill>
                  <a:srgbClr val="161B26"/>
                </a:solidFill>
                <a:latin typeface="Arial"/>
              </a:rPr>
              <a:t>Building a Successful eCommerce Store with WooCommerce</a:t>
            </a:r>
          </a:p>
          <a:p>
            <a:pPr algn="l">
              <a:spcAft>
                <a:spcPts val="200"/>
              </a:spcAft>
            </a:pPr>
            <a:r>
              <a:rPr sz="1000" b="0">
                <a:solidFill>
                  <a:srgbClr val="5B6372"/>
                </a:solidFill>
                <a:latin typeface="Arial"/>
              </a:rPr>
              <a:t>WSQ funded · Tertiary Infotech Academy</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39665"/>
            <a:ext cx="9482328" cy="555955"/>
          </a:xfrm>
          <a:prstGeom prst="rect">
            <a:avLst/>
          </a:prstGeom>
          <a:noFill/>
        </p:spPr>
        <p:txBody>
          <a:bodyPr wrap="square" anchor="ctr">
            <a:spAutoFit/>
          </a:bodyPr>
          <a:lstStyle/>
          <a:p>
            <a:pPr algn="l">
              <a:spcAft>
                <a:spcPts val="200"/>
              </a:spcAft>
            </a:pPr>
            <a:r>
              <a:rPr sz="1400" b="1">
                <a:solidFill>
                  <a:srgbClr val="161B26"/>
                </a:solidFill>
                <a:latin typeface="Arial"/>
              </a:rPr>
              <a:t>Build Your Online Presence and Website with Wix for Beginners</a:t>
            </a:r>
          </a:p>
          <a:p>
            <a:pPr algn="l">
              <a:spcAft>
                <a:spcPts val="200"/>
              </a:spcAft>
            </a:pPr>
            <a:r>
              <a:rPr sz="1000" b="0">
                <a:solidFill>
                  <a:srgbClr val="5B6372"/>
                </a:solidFill>
                <a:latin typeface="Arial"/>
              </a:rPr>
              <a:t>WSQ funded · Tertiary Infotech Academy</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61380"/>
            <a:ext cx="9482328" cy="555955"/>
          </a:xfrm>
          <a:prstGeom prst="rect">
            <a:avLst/>
          </a:prstGeom>
          <a:noFill/>
        </p:spPr>
        <p:txBody>
          <a:bodyPr wrap="square" anchor="ctr">
            <a:spAutoFit/>
          </a:bodyPr>
          <a:lstStyle/>
          <a:p>
            <a:pPr algn="l">
              <a:spcAft>
                <a:spcPts val="200"/>
              </a:spcAft>
            </a:pPr>
            <a:r>
              <a:rPr sz="1400" b="1">
                <a:solidFill>
                  <a:srgbClr val="161B26"/>
                </a:solidFill>
                <a:latin typeface="Arial"/>
              </a:rPr>
              <a:t>Running a Successful eCommerce Store with Shopify</a:t>
            </a:r>
          </a:p>
          <a:p>
            <a:pPr algn="l">
              <a:spcAft>
                <a:spcPts val="200"/>
              </a:spcAft>
            </a:pPr>
            <a:r>
              <a:rPr sz="1000" b="0">
                <a:solidFill>
                  <a:srgbClr val="5B6372"/>
                </a:solidFill>
                <a:latin typeface="Arial"/>
              </a:rPr>
              <a:t>WSQ funded · Tertiary Infotech Academy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 ARE HERE TO HELP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938528"/>
          </a:xfrm>
          <a:prstGeom prst="rect">
            <a:avLst/>
          </a:prstGeom>
          <a:noFill/>
        </p:spPr>
        <p:txBody>
          <a:bodyPr wrap="square" anchor="ctr">
            <a:spAutoFit/>
          </a:bodyPr>
          <a:lstStyle/>
          <a:p>
            <a:pPr algn="l">
              <a:spcAft>
                <a:spcPts val="200"/>
              </a:spcAft>
            </a:pPr>
            <a:r>
              <a:rPr sz="1500" b="1">
                <a:solidFill>
                  <a:srgbClr val="161B26"/>
                </a:solidFill>
                <a:latin typeface="Arial"/>
              </a:rPr>
              <a:t>Email</a:t>
            </a:r>
          </a:p>
          <a:p>
            <a:pPr algn="l">
              <a:spcAft>
                <a:spcPts val="200"/>
              </a:spcAft>
            </a:pPr>
            <a:r>
              <a:rPr sz="1100" b="0">
                <a:solidFill>
                  <a:srgbClr val="5B6372"/>
                </a:solidFill>
                <a:latin typeface="Arial"/>
              </a:rPr>
              <a:t>enquiry@tertiaryinfotech.com — questions during and after the class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938528"/>
          </a:xfrm>
          <a:prstGeom prst="rect">
            <a:avLst/>
          </a:prstGeom>
          <a:noFill/>
        </p:spPr>
        <p:txBody>
          <a:bodyPr wrap="square" anchor="ctr">
            <a:spAutoFit/>
          </a:bodyPr>
          <a:lstStyle/>
          <a:p>
            <a:pPr algn="l">
              <a:spcAft>
                <a:spcPts val="200"/>
              </a:spcAft>
            </a:pPr>
            <a:r>
              <a:rPr sz="1500" b="1">
                <a:solidFill>
                  <a:srgbClr val="161B26"/>
                </a:solidFill>
                <a:latin typeface="Arial"/>
              </a:rPr>
              <a:t>Telephone</a:t>
            </a:r>
          </a:p>
          <a:p>
            <a:pPr algn="l">
              <a:spcAft>
                <a:spcPts val="200"/>
              </a:spcAft>
            </a:pPr>
            <a:r>
              <a:rPr sz="11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78808"/>
            <a:ext cx="4027932" cy="1938528"/>
          </a:xfrm>
          <a:prstGeom prst="rect">
            <a:avLst/>
          </a:prstGeom>
          <a:noFill/>
        </p:spPr>
        <p:txBody>
          <a:bodyPr wrap="square" anchor="ctr">
            <a:spAutoFit/>
          </a:bodyPr>
          <a:lstStyle/>
          <a:p>
            <a:pPr algn="l">
              <a:spcAft>
                <a:spcPts val="200"/>
              </a:spcAft>
            </a:pPr>
            <a:r>
              <a:rPr sz="1500" b="1">
                <a:solidFill>
                  <a:srgbClr val="161B26"/>
                </a:solidFill>
                <a:latin typeface="Arial"/>
              </a:rPr>
              <a:t>Website</a:t>
            </a:r>
          </a:p>
          <a:p>
            <a:pPr algn="l">
              <a:spcAft>
                <a:spcPts val="200"/>
              </a:spcAft>
            </a:pPr>
            <a:r>
              <a:rPr sz="1100" b="0">
                <a:solidFill>
                  <a:srgbClr val="5B6372"/>
                </a:solidFill>
                <a:latin typeface="Arial"/>
              </a:rPr>
              <a:t>www.tertiarycourses.com.sg/wsq-mastering-notion-for-content-project-and-database-management.html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78808"/>
            <a:ext cx="4027932" cy="1938528"/>
          </a:xfrm>
          <a:prstGeom prst="rect">
            <a:avLst/>
          </a:prstGeom>
          <a:noFill/>
        </p:spPr>
        <p:txBody>
          <a:bodyPr wrap="square" anchor="ctr">
            <a:spAutoFit/>
          </a:bodyPr>
          <a:lstStyle/>
          <a:p>
            <a:pPr algn="l">
              <a:spcAft>
                <a:spcPts val="200"/>
              </a:spcAft>
            </a:pPr>
            <a:r>
              <a:rPr sz="1500" b="1">
                <a:solidFill>
                  <a:srgbClr val="161B26"/>
                </a:solidFill>
                <a:latin typeface="Arial"/>
              </a:rPr>
              <a:t>LMS / TMS</a:t>
            </a:r>
          </a:p>
          <a:p>
            <a:pPr algn="l">
              <a:spcAft>
                <a:spcPts val="200"/>
              </a:spcAft>
            </a:pPr>
            <a:r>
              <a:rPr sz="1100" b="0">
                <a:solidFill>
                  <a:srgbClr val="5B6372"/>
                </a:solidFill>
                <a:latin typeface="Arial"/>
              </a:rPr>
              <a:t>lms-tms.tertiaryinfotech.com — courseware, attendance, assessment and TRAQOM survey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 · 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277953" cy="502920"/>
          </a:xfrm>
          <a:prstGeom prst="rect">
            <a:avLst/>
          </a:prstGeom>
          <a:noFill/>
        </p:spPr>
        <p:txBody>
          <a:bodyPr wrap="square" anchor="ctr">
            <a:spAutoFit/>
          </a:bodyPr>
          <a:lstStyle/>
          <a:p>
            <a:pPr algn="l">
              <a:spcAft>
                <a:spcPts val="400"/>
              </a:spcAft>
            </a:pPr>
            <a:r>
              <a:rPr sz="1250" b="1">
                <a:solidFill>
                  <a:srgbClr val="FFFFFF"/>
                </a:solidFill>
                <a:latin typeface="Arial"/>
              </a:rPr>
              <a:t/>
            </a:r>
          </a:p>
        </p:txBody>
      </p:sp>
      <p:sp>
        <p:nvSpPr>
          <p:cNvPr id="9" name="Rectangle 8"/>
          <p:cNvSpPr/>
          <p:nvPr/>
        </p:nvSpPr>
        <p:spPr>
          <a:xfrm>
            <a:off x="3329513"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Written Assessment (WA)</a:t>
            </a:r>
          </a:p>
        </p:txBody>
      </p:sp>
      <p:sp>
        <p:nvSpPr>
          <p:cNvPr id="11" name="Rectangle 10"/>
          <p:cNvSpPr/>
          <p:nvPr/>
        </p:nvSpPr>
        <p:spPr>
          <a:xfrm>
            <a:off x="7370612" y="182880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0340" y="1828800"/>
            <a:ext cx="3821643" cy="502920"/>
          </a:xfrm>
          <a:prstGeom prst="rect">
            <a:avLst/>
          </a:prstGeom>
          <a:noFill/>
        </p:spPr>
        <p:txBody>
          <a:bodyPr wrap="square" anchor="ctr">
            <a:spAutoFit/>
          </a:bodyPr>
          <a:lstStyle/>
          <a:p>
            <a:pPr algn="ctr">
              <a:spcAft>
                <a:spcPts val="400"/>
              </a:spcAft>
            </a:pPr>
            <a:r>
              <a:rPr sz="1250" b="1">
                <a:solidFill>
                  <a:srgbClr val="FFFFFF"/>
                </a:solidFill>
                <a:latin typeface="Arial"/>
              </a:rPr>
              <a:t>Practical Performance (PP)</a:t>
            </a:r>
          </a:p>
        </p:txBody>
      </p:sp>
      <p:sp>
        <p:nvSpPr>
          <p:cNvPr id="13" name="Rectangle 12"/>
          <p:cNvSpPr/>
          <p:nvPr/>
        </p:nvSpPr>
        <p:spPr>
          <a:xfrm>
            <a:off x="777240" y="233172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317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Format</a:t>
            </a:r>
          </a:p>
        </p:txBody>
      </p:sp>
      <p:sp>
        <p:nvSpPr>
          <p:cNvPr id="15" name="Rectangle 14"/>
          <p:cNvSpPr/>
          <p:nvPr/>
        </p:nvSpPr>
        <p:spPr>
          <a:xfrm>
            <a:off x="3329513" y="233172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33172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Short-answer questions (SAQ)</a:t>
            </a:r>
          </a:p>
        </p:txBody>
      </p:sp>
      <p:sp>
        <p:nvSpPr>
          <p:cNvPr id="17" name="Rectangle 16"/>
          <p:cNvSpPr/>
          <p:nvPr/>
        </p:nvSpPr>
        <p:spPr>
          <a:xfrm>
            <a:off x="7370612" y="233172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0340" y="233172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Scenario-based practical tasks in Notion</a:t>
            </a:r>
          </a:p>
        </p:txBody>
      </p:sp>
      <p:sp>
        <p:nvSpPr>
          <p:cNvPr id="19" name="Rectangle 18"/>
          <p:cNvSpPr/>
          <p:nvPr/>
        </p:nvSpPr>
        <p:spPr>
          <a:xfrm>
            <a:off x="777240" y="288798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8798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What it tests</a:t>
            </a:r>
          </a:p>
        </p:txBody>
      </p:sp>
      <p:sp>
        <p:nvSpPr>
          <p:cNvPr id="21" name="Rectangle 20"/>
          <p:cNvSpPr/>
          <p:nvPr/>
        </p:nvSpPr>
        <p:spPr>
          <a:xfrm>
            <a:off x="3329513" y="288798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288798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Underpinning knowledge K1–K9</a:t>
            </a:r>
          </a:p>
        </p:txBody>
      </p:sp>
      <p:sp>
        <p:nvSpPr>
          <p:cNvPr id="23" name="Rectangle 22"/>
          <p:cNvSpPr/>
          <p:nvPr/>
        </p:nvSpPr>
        <p:spPr>
          <a:xfrm>
            <a:off x="7370612" y="288798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0340" y="288798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Practical abilities A1–A7</a:t>
            </a:r>
          </a:p>
        </p:txBody>
      </p:sp>
      <p:sp>
        <p:nvSpPr>
          <p:cNvPr id="25" name="Rectangle 24"/>
          <p:cNvSpPr/>
          <p:nvPr/>
        </p:nvSpPr>
        <p:spPr>
          <a:xfrm>
            <a:off x="777240" y="344424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44424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Items</a:t>
            </a:r>
          </a:p>
        </p:txBody>
      </p:sp>
      <p:sp>
        <p:nvSpPr>
          <p:cNvPr id="27" name="Rectangle 26"/>
          <p:cNvSpPr/>
          <p:nvPr/>
        </p:nvSpPr>
        <p:spPr>
          <a:xfrm>
            <a:off x="3329513" y="344424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44424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9 questions</a:t>
            </a:r>
          </a:p>
        </p:txBody>
      </p:sp>
      <p:sp>
        <p:nvSpPr>
          <p:cNvPr id="29" name="Rectangle 28"/>
          <p:cNvSpPr/>
          <p:nvPr/>
        </p:nvSpPr>
        <p:spPr>
          <a:xfrm>
            <a:off x="7370612" y="344424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0340" y="344424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5 tasks</a:t>
            </a:r>
          </a:p>
        </p:txBody>
      </p:sp>
      <p:sp>
        <p:nvSpPr>
          <p:cNvPr id="31" name="Rectangle 30"/>
          <p:cNvSpPr/>
          <p:nvPr/>
        </p:nvSpPr>
        <p:spPr>
          <a:xfrm>
            <a:off x="777240" y="400050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00050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Duration</a:t>
            </a:r>
          </a:p>
        </p:txBody>
      </p:sp>
      <p:sp>
        <p:nvSpPr>
          <p:cNvPr id="33" name="Rectangle 32"/>
          <p:cNvSpPr/>
          <p:nvPr/>
        </p:nvSpPr>
        <p:spPr>
          <a:xfrm>
            <a:off x="3329513" y="400050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400050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1 hour</a:t>
            </a:r>
          </a:p>
        </p:txBody>
      </p:sp>
      <p:sp>
        <p:nvSpPr>
          <p:cNvPr id="35" name="Rectangle 34"/>
          <p:cNvSpPr/>
          <p:nvPr/>
        </p:nvSpPr>
        <p:spPr>
          <a:xfrm>
            <a:off x="7370612" y="400050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0340" y="400050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1 hour</a:t>
            </a:r>
          </a:p>
        </p:txBody>
      </p:sp>
      <p:sp>
        <p:nvSpPr>
          <p:cNvPr id="37" name="Rectangle 36"/>
          <p:cNvSpPr/>
          <p:nvPr/>
        </p:nvSpPr>
        <p:spPr>
          <a:xfrm>
            <a:off x="777240" y="4556760"/>
            <a:ext cx="2552273"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55676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Conditions</a:t>
            </a:r>
          </a:p>
        </p:txBody>
      </p:sp>
      <p:sp>
        <p:nvSpPr>
          <p:cNvPr id="39" name="Rectangle 38"/>
          <p:cNvSpPr/>
          <p:nvPr/>
        </p:nvSpPr>
        <p:spPr>
          <a:xfrm>
            <a:off x="3329513" y="455676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39241" y="455676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Open book, individual</a:t>
            </a:r>
          </a:p>
        </p:txBody>
      </p:sp>
      <p:sp>
        <p:nvSpPr>
          <p:cNvPr id="41" name="Rectangle 40"/>
          <p:cNvSpPr/>
          <p:nvPr/>
        </p:nvSpPr>
        <p:spPr>
          <a:xfrm>
            <a:off x="7370612" y="4556760"/>
            <a:ext cx="4041099" cy="5562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80340" y="455676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Open book, individual</a:t>
            </a:r>
          </a:p>
        </p:txBody>
      </p:sp>
      <p:sp>
        <p:nvSpPr>
          <p:cNvPr id="43" name="Rectangle 42"/>
          <p:cNvSpPr/>
          <p:nvPr/>
        </p:nvSpPr>
        <p:spPr>
          <a:xfrm>
            <a:off x="777240" y="5113020"/>
            <a:ext cx="2552273"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113020"/>
            <a:ext cx="2277953" cy="556260"/>
          </a:xfrm>
          <a:prstGeom prst="rect">
            <a:avLst/>
          </a:prstGeom>
          <a:noFill/>
        </p:spPr>
        <p:txBody>
          <a:bodyPr wrap="square" anchor="ctr">
            <a:spAutoFit/>
          </a:bodyPr>
          <a:lstStyle/>
          <a:p>
            <a:pPr algn="l">
              <a:spcAft>
                <a:spcPts val="400"/>
              </a:spcAft>
            </a:pPr>
            <a:r>
              <a:rPr sz="1150" b="1">
                <a:solidFill>
                  <a:srgbClr val="161B26"/>
                </a:solidFill>
                <a:latin typeface="Arial"/>
              </a:rPr>
              <a:t>Submission</a:t>
            </a:r>
          </a:p>
        </p:txBody>
      </p:sp>
      <p:sp>
        <p:nvSpPr>
          <p:cNvPr id="45" name="Rectangle 44"/>
          <p:cNvSpPr/>
          <p:nvPr/>
        </p:nvSpPr>
        <p:spPr>
          <a:xfrm>
            <a:off x="3329513" y="511302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39241" y="511302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On the LMS</a:t>
            </a:r>
          </a:p>
        </p:txBody>
      </p:sp>
      <p:sp>
        <p:nvSpPr>
          <p:cNvPr id="47" name="Rectangle 46"/>
          <p:cNvSpPr/>
          <p:nvPr/>
        </p:nvSpPr>
        <p:spPr>
          <a:xfrm>
            <a:off x="7370612" y="5113020"/>
            <a:ext cx="4041099" cy="5562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80340" y="5113020"/>
            <a:ext cx="3821643" cy="556260"/>
          </a:xfrm>
          <a:prstGeom prst="rect">
            <a:avLst/>
          </a:prstGeom>
          <a:noFill/>
        </p:spPr>
        <p:txBody>
          <a:bodyPr wrap="square" anchor="ctr">
            <a:spAutoFit/>
          </a:bodyPr>
          <a:lstStyle/>
          <a:p>
            <a:pPr algn="ctr">
              <a:spcAft>
                <a:spcPts val="400"/>
              </a:spcAft>
            </a:pPr>
            <a:r>
              <a:rPr sz="1100" b="0">
                <a:solidFill>
                  <a:srgbClr val="5B6372"/>
                </a:solidFill>
                <a:latin typeface="Arial"/>
              </a:rPr>
              <a:t>On the LMS, with screenshots as evidence</a:t>
            </a:r>
          </a:p>
        </p:txBody>
      </p:sp>
      <p:sp>
        <p:nvSpPr>
          <p:cNvPr id="49" name="Rectangle 48"/>
          <p:cNvSpPr/>
          <p:nvPr/>
        </p:nvSpPr>
        <p:spPr>
          <a:xfrm>
            <a:off x="777240" y="5852160"/>
            <a:ext cx="10634472" cy="5669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5840" y="5852160"/>
            <a:ext cx="10268712" cy="566928"/>
          </a:xfrm>
          <a:prstGeom prst="rect">
            <a:avLst/>
          </a:prstGeom>
          <a:noFill/>
        </p:spPr>
        <p:txBody>
          <a:bodyPr wrap="square" anchor="ctr">
            <a:spAutoFit/>
          </a:bodyPr>
          <a:lstStyle/>
          <a:p>
            <a:pPr algn="l">
              <a:spcAft>
                <a:spcPts val="400"/>
              </a:spcAft>
            </a:pPr>
            <a:r>
              <a:rPr sz="1100" b="1">
                <a:solidFill>
                  <a:srgbClr val="1F6FEB"/>
                </a:solidFill>
                <a:latin typeface="Arial"/>
              </a:rPr>
              <a:t>RULE   </a:t>
            </a:r>
            <a:r>
              <a:rPr sz="1250" b="0">
                <a:solidFill>
                  <a:srgbClr val="161B26"/>
                </a:solidFill>
                <a:latin typeface="Arial"/>
              </a:rPr>
              <a:t>Open book: slides, Learner Guide and your own lab work. 75% attendance is required; an appeal process is available.</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23544"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Rectangle 11"/>
          <p:cNvSpPr/>
          <p:nvPr/>
        </p:nvSpPr>
        <p:spPr>
          <a:xfrm>
            <a:off x="2710281" y="3650285"/>
            <a:ext cx="80468"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790749" y="3618098"/>
            <a:ext cx="120700" cy="124724"/>
          </a:xfrm>
          <a:custGeom>
            <a:avLst/>
            <a:gdLst/>
            <a:ahLst/>
            <a:cxnLst/>
            <a:rect l="l" t="t" r="r" b="b"/>
            <a:pathLst>
              <a:path w="120700" h="124724">
                <a:moveTo>
                  <a:pt x="0" y="0"/>
                </a:moveTo>
                <a:lnTo>
                  <a:pt x="120700"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0497"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8" name="TextBox 17"/>
          <p:cNvSpPr txBox="1"/>
          <p:nvPr/>
        </p:nvSpPr>
        <p:spPr>
          <a:xfrm>
            <a:off x="3112617"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9" name="Rectangle 18"/>
          <p:cNvSpPr/>
          <p:nvPr/>
        </p:nvSpPr>
        <p:spPr>
          <a:xfrm>
            <a:off x="4899354" y="3650285"/>
            <a:ext cx="80468"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4979822" y="3618098"/>
            <a:ext cx="120700" cy="124724"/>
          </a:xfrm>
          <a:custGeom>
            <a:avLst/>
            <a:gdLst/>
            <a:ahLst/>
            <a:cxnLst/>
            <a:rect l="l" t="t" r="r" b="b"/>
            <a:pathLst>
              <a:path w="120700" h="124724">
                <a:moveTo>
                  <a:pt x="0" y="0"/>
                </a:moveTo>
                <a:lnTo>
                  <a:pt x="120700"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0"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5" name="TextBox 24"/>
          <p:cNvSpPr txBox="1"/>
          <p:nvPr/>
        </p:nvSpPr>
        <p:spPr>
          <a:xfrm>
            <a:off x="5301690"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Sit WA (SAQ) then PP — open book</a:t>
            </a:r>
          </a:p>
        </p:txBody>
      </p:sp>
      <p:sp>
        <p:nvSpPr>
          <p:cNvPr id="26" name="Rectangle 25"/>
          <p:cNvSpPr/>
          <p:nvPr/>
        </p:nvSpPr>
        <p:spPr>
          <a:xfrm>
            <a:off x="7088427" y="3650285"/>
            <a:ext cx="80468"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7168895" y="3618098"/>
            <a:ext cx="120700" cy="124724"/>
          </a:xfrm>
          <a:custGeom>
            <a:avLst/>
            <a:gdLst/>
            <a:ahLst/>
            <a:cxnLst/>
            <a:rect l="l" t="t" r="r" b="b"/>
            <a:pathLst>
              <a:path w="120700" h="124724">
                <a:moveTo>
                  <a:pt x="0" y="0"/>
                </a:moveTo>
                <a:lnTo>
                  <a:pt x="120700"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8643"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32" name="TextBox 31"/>
          <p:cNvSpPr txBox="1"/>
          <p:nvPr/>
        </p:nvSpPr>
        <p:spPr>
          <a:xfrm>
            <a:off x="7490763"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3" name="Rectangle 32"/>
          <p:cNvSpPr/>
          <p:nvPr/>
        </p:nvSpPr>
        <p:spPr>
          <a:xfrm>
            <a:off x="9277500" y="3650285"/>
            <a:ext cx="80468"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9357968" y="3618098"/>
            <a:ext cx="120700" cy="124724"/>
          </a:xfrm>
          <a:custGeom>
            <a:avLst/>
            <a:gdLst/>
            <a:ahLst/>
            <a:cxnLst/>
            <a:rect l="l" t="t" r="r" b="b"/>
            <a:pathLst>
              <a:path w="120700" h="124724">
                <a:moveTo>
                  <a:pt x="0" y="0"/>
                </a:moveTo>
                <a:lnTo>
                  <a:pt x="120700"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97716"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9" name="TextBox 38"/>
          <p:cNvSpPr txBox="1"/>
          <p:nvPr/>
        </p:nvSpPr>
        <p:spPr>
          <a:xfrm>
            <a:off x="9679836" y="361188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40" name="TextBox 39"/>
          <p:cNvSpPr txBox="1"/>
          <p:nvPr/>
        </p:nvSpPr>
        <p:spPr>
          <a:xfrm>
            <a:off x="777240" y="5394960"/>
            <a:ext cx="10698480" cy="640080"/>
          </a:xfrm>
          <a:prstGeom prst="rect">
            <a:avLst/>
          </a:prstGeom>
          <a:noFill/>
        </p:spPr>
        <p:txBody>
          <a:bodyPr wrap="square" anchor="t">
            <a:spAutoFit/>
          </a:bodyPr>
          <a:lstStyle/>
          <a:p>
            <a:pPr algn="ctr">
              <a:spcAft>
                <a:spcPts val="400"/>
              </a:spcAft>
            </a:pPr>
            <a:r>
              <a:rPr sz="1300" b="0">
                <a:solidFill>
                  <a:srgbClr val="5B6372"/>
                </a:solidFill>
                <a:latin typeface="Arial"/>
              </a:rPr>
              <a:t>Submit both papers on the LMS, then sign the Assessment Summary Record with your assessor.</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23544" y="361188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2" name="Rectangle 11"/>
          <p:cNvSpPr/>
          <p:nvPr/>
        </p:nvSpPr>
        <p:spPr>
          <a:xfrm>
            <a:off x="3257550" y="3650285"/>
            <a:ext cx="80468" cy="603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3338018" y="3618098"/>
            <a:ext cx="120700" cy="124724"/>
          </a:xfrm>
          <a:custGeom>
            <a:avLst/>
            <a:gdLst/>
            <a:ahLst/>
            <a:cxnLst/>
            <a:rect l="l" t="t" r="r" b="b"/>
            <a:pathLst>
              <a:path w="120700" h="124724">
                <a:moveTo>
                  <a:pt x="0" y="0"/>
                </a:moveTo>
                <a:lnTo>
                  <a:pt x="120700" y="62362"/>
                </a:lnTo>
                <a:lnTo>
                  <a:pt x="0" y="124724"/>
                </a:lnTo>
                <a:close/>
              </a:path>
            </a:pathLst>
          </a:cu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13582"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51401"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51401"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8" name="TextBox 17"/>
          <p:cNvSpPr txBox="1"/>
          <p:nvPr/>
        </p:nvSpPr>
        <p:spPr>
          <a:xfrm>
            <a:off x="3659886" y="361188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Scan it with your phone camera (Singpass app)</a:t>
            </a:r>
          </a:p>
        </p:txBody>
      </p:sp>
      <p:sp>
        <p:nvSpPr>
          <p:cNvPr id="19" name="Rectangle 18"/>
          <p:cNvSpPr/>
          <p:nvPr/>
        </p:nvSpPr>
        <p:spPr>
          <a:xfrm>
            <a:off x="5993892" y="3650285"/>
            <a:ext cx="80468" cy="603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6074360" y="3618098"/>
            <a:ext cx="120700" cy="124724"/>
          </a:xfrm>
          <a:custGeom>
            <a:avLst/>
            <a:gdLst/>
            <a:ahLst/>
            <a:cxnLst/>
            <a:rect l="l" t="t" r="r" b="b"/>
            <a:pathLst>
              <a:path w="120700" h="124724">
                <a:moveTo>
                  <a:pt x="0" y="0"/>
                </a:moveTo>
                <a:lnTo>
                  <a:pt x="120700" y="62362"/>
                </a:lnTo>
                <a:lnTo>
                  <a:pt x="0" y="124724"/>
                </a:lnTo>
                <a:close/>
              </a:path>
            </a:pathLst>
          </a:cu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49924"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087743"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87743"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5" name="TextBox 24"/>
          <p:cNvSpPr txBox="1"/>
          <p:nvPr/>
        </p:nvSpPr>
        <p:spPr>
          <a:xfrm>
            <a:off x="6396228" y="361188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Submit your attendance</a:t>
            </a:r>
          </a:p>
        </p:txBody>
      </p:sp>
      <p:sp>
        <p:nvSpPr>
          <p:cNvPr id="26" name="Rectangle 25"/>
          <p:cNvSpPr/>
          <p:nvPr/>
        </p:nvSpPr>
        <p:spPr>
          <a:xfrm>
            <a:off x="8730234" y="3650285"/>
            <a:ext cx="80468" cy="603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8810702" y="3618098"/>
            <a:ext cx="120700" cy="124724"/>
          </a:xfrm>
          <a:custGeom>
            <a:avLst/>
            <a:gdLst/>
            <a:ahLst/>
            <a:cxnLst/>
            <a:rect l="l" t="t" r="r" b="b"/>
            <a:pathLst>
              <a:path w="120700" h="124724">
                <a:moveTo>
                  <a:pt x="0" y="0"/>
                </a:moveTo>
                <a:lnTo>
                  <a:pt x="120700" y="62362"/>
                </a:lnTo>
                <a:lnTo>
                  <a:pt x="0" y="124724"/>
                </a:lnTo>
                <a:close/>
              </a:path>
            </a:pathLst>
          </a:cu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86266"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24085"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4085" y="262432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32" name="TextBox 31"/>
          <p:cNvSpPr txBox="1"/>
          <p:nvPr/>
        </p:nvSpPr>
        <p:spPr>
          <a:xfrm>
            <a:off x="9132570" y="361188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 session</a:t>
            </a:r>
          </a:p>
        </p:txBody>
      </p:sp>
      <p:sp>
        <p:nvSpPr>
          <p:cNvPr id="33" name="TextBox 32"/>
          <p:cNvSpPr txBox="1"/>
          <p:nvPr/>
        </p:nvSpPr>
        <p:spPr>
          <a:xfrm>
            <a:off x="777240" y="5394960"/>
            <a:ext cx="10698480" cy="640080"/>
          </a:xfrm>
          <a:prstGeom prst="rect">
            <a:avLst/>
          </a:prstGeom>
          <a:noFill/>
        </p:spPr>
        <p:txBody>
          <a:bodyPr wrap="square" anchor="t">
            <a:spAutoFit/>
          </a:bodyPr>
          <a:lstStyle/>
          <a:p>
            <a:pPr algn="ctr">
              <a:spcAft>
                <a:spcPts val="400"/>
              </a:spcAft>
            </a:pPr>
            <a:r>
              <a:rPr sz="1300" b="0">
                <a:solidFill>
                  <a:srgbClr val="5B6372"/>
                </a:solidFill>
                <a:latin typeface="Arial"/>
              </a:rPr>
              <a:t>Attendance is taken digitally for every session of a WSQ-funded course; a minimum of 75% attendance is required for assessment and funding.</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IN CLASS</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Thank You!</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You can now build, govern, publish and measure a complete content management system in Notion.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Mastering Notion for Content, Project, and Database Management  ·  TGS-2023041080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